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98" r:id="rId7"/>
    <p:sldId id="325" r:id="rId8"/>
    <p:sldId id="299" r:id="rId9"/>
    <p:sldId id="300" r:id="rId10"/>
    <p:sldId id="320" r:id="rId11"/>
    <p:sldId id="321" r:id="rId12"/>
    <p:sldId id="322" r:id="rId13"/>
    <p:sldId id="314" r:id="rId14"/>
    <p:sldId id="323" r:id="rId15"/>
    <p:sldId id="324" r:id="rId16"/>
    <p:sldId id="313"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FFFFFF"/>
    <a:srgbClr val="042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p:restoredTop sz="93377" autoAdjust="0"/>
  </p:normalViewPr>
  <p:slideViewPr>
    <p:cSldViewPr snapToGrid="0">
      <p:cViewPr varScale="1">
        <p:scale>
          <a:sx n="86" d="100"/>
          <a:sy n="86" d="100"/>
        </p:scale>
        <p:origin x="63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8DEF5A-7C3B-48A0-8AE2-5E9CEF20CD3C}" type="datetimeFigureOut">
              <a:rPr lang="en-GB" smtClean="0"/>
              <a:t>05/11/2025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E70B32-C964-440E-B9F4-A319FF0E799F}" type="slidenum">
              <a:rPr lang="en-GB" smtClean="0"/>
              <a:t>‹#›</a:t>
            </a:fld>
            <a:endParaRPr lang="en-GB"/>
          </a:p>
        </p:txBody>
      </p:sp>
    </p:spTree>
    <p:extLst>
      <p:ext uri="{BB962C8B-B14F-4D97-AF65-F5344CB8AC3E}">
        <p14:creationId xmlns:p14="http://schemas.microsoft.com/office/powerpoint/2010/main" val="948269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5</a:t>
            </a:fld>
            <a:endParaRPr lang="en-GB"/>
          </a:p>
        </p:txBody>
      </p:sp>
    </p:spTree>
    <p:extLst>
      <p:ext uri="{BB962C8B-B14F-4D97-AF65-F5344CB8AC3E}">
        <p14:creationId xmlns:p14="http://schemas.microsoft.com/office/powerpoint/2010/main" val="2024583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6</a:t>
            </a:fld>
            <a:endParaRPr lang="en-GB"/>
          </a:p>
        </p:txBody>
      </p:sp>
    </p:spTree>
    <p:extLst>
      <p:ext uri="{BB962C8B-B14F-4D97-AF65-F5344CB8AC3E}">
        <p14:creationId xmlns:p14="http://schemas.microsoft.com/office/powerpoint/2010/main" val="3701229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7</a:t>
            </a:fld>
            <a:endParaRPr lang="en-GB"/>
          </a:p>
        </p:txBody>
      </p:sp>
    </p:spTree>
    <p:extLst>
      <p:ext uri="{BB962C8B-B14F-4D97-AF65-F5344CB8AC3E}">
        <p14:creationId xmlns:p14="http://schemas.microsoft.com/office/powerpoint/2010/main" val="1575803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8</a:t>
            </a:fld>
            <a:endParaRPr lang="en-GB"/>
          </a:p>
        </p:txBody>
      </p:sp>
    </p:spTree>
    <p:extLst>
      <p:ext uri="{BB962C8B-B14F-4D97-AF65-F5344CB8AC3E}">
        <p14:creationId xmlns:p14="http://schemas.microsoft.com/office/powerpoint/2010/main" val="1700883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9</a:t>
            </a:fld>
            <a:endParaRPr lang="en-GB"/>
          </a:p>
        </p:txBody>
      </p:sp>
    </p:spTree>
    <p:extLst>
      <p:ext uri="{BB962C8B-B14F-4D97-AF65-F5344CB8AC3E}">
        <p14:creationId xmlns:p14="http://schemas.microsoft.com/office/powerpoint/2010/main" val="3850287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10</a:t>
            </a:fld>
            <a:endParaRPr lang="en-GB"/>
          </a:p>
        </p:txBody>
      </p:sp>
    </p:spTree>
    <p:extLst>
      <p:ext uri="{BB962C8B-B14F-4D97-AF65-F5344CB8AC3E}">
        <p14:creationId xmlns:p14="http://schemas.microsoft.com/office/powerpoint/2010/main" val="2077353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11</a:t>
            </a:fld>
            <a:endParaRPr lang="en-GB"/>
          </a:p>
        </p:txBody>
      </p:sp>
    </p:spTree>
    <p:extLst>
      <p:ext uri="{BB962C8B-B14F-4D97-AF65-F5344CB8AC3E}">
        <p14:creationId xmlns:p14="http://schemas.microsoft.com/office/powerpoint/2010/main" val="4266619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5E70B32-C964-440E-B9F4-A319FF0E799F}" type="slidenum">
              <a:rPr lang="en-GB" smtClean="0"/>
              <a:t>12</a:t>
            </a:fld>
            <a:endParaRPr lang="en-GB"/>
          </a:p>
        </p:txBody>
      </p:sp>
    </p:spTree>
    <p:extLst>
      <p:ext uri="{BB962C8B-B14F-4D97-AF65-F5344CB8AC3E}">
        <p14:creationId xmlns:p14="http://schemas.microsoft.com/office/powerpoint/2010/main" val="692076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BDD194-EA6A-86AB-5C0A-AA073E99FE2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B48FA9E-B542-A797-4065-5F8F1CE94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C836F02-43B6-96C1-4583-D5D377176A3B}"/>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88617AD9-451E-E7E9-FF3F-36A50C1BC7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837580-1A55-B823-9F08-98B58C0ADAA6}"/>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216607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20FDA99-029C-BBF2-6075-04A8DCECBFAE}"/>
              </a:ext>
            </a:extLst>
          </p:cNvPr>
          <p:cNvGraphicFramePr>
            <a:graphicFrameLocks noChangeAspect="1"/>
          </p:cNvGraphicFramePr>
          <p:nvPr userDrawn="1">
            <p:custDataLst>
              <p:tags r:id="rId1"/>
            </p:custDataLst>
            <p:extLst>
              <p:ext uri="{D42A27DB-BD31-4B8C-83A1-F6EECF244321}">
                <p14:modId xmlns:p14="http://schemas.microsoft.com/office/powerpoint/2010/main" val="4015511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5B6B9DA-2895-8DAB-7575-FD201E10AE49}"/>
              </a:ext>
            </a:extLst>
          </p:cNvPr>
          <p:cNvSpPr>
            <a:spLocks noGrp="1"/>
          </p:cNvSpPr>
          <p:nvPr>
            <p:ph type="title" hasCustomPrompt="1"/>
          </p:nvPr>
        </p:nvSpPr>
        <p:spPr>
          <a:xfrm>
            <a:off x="528320" y="365125"/>
            <a:ext cx="11155680" cy="530421"/>
          </a:xfrm>
        </p:spPr>
        <p:txBody>
          <a:bodyPr vert="horz"/>
          <a:lstStyle/>
          <a:p>
            <a:r>
              <a:rPr lang="fr-FR"/>
              <a:t>Modifiez le style du titre</a:t>
            </a:r>
          </a:p>
        </p:txBody>
      </p:sp>
      <p:sp>
        <p:nvSpPr>
          <p:cNvPr id="3" name="Espace réservé du contenu 2">
            <a:extLst>
              <a:ext uri="{FF2B5EF4-FFF2-40B4-BE49-F238E27FC236}">
                <a16:creationId xmlns:a16="http://schemas.microsoft.com/office/drawing/2014/main" id="{8089EF85-DD7F-CE82-9DA8-CB77ADDC4DF7}"/>
              </a:ext>
            </a:extLst>
          </p:cNvPr>
          <p:cNvSpPr>
            <a:spLocks noGrp="1"/>
          </p:cNvSpPr>
          <p:nvPr>
            <p:ph idx="1"/>
          </p:nvPr>
        </p:nvSpPr>
        <p:spPr>
          <a:xfrm>
            <a:off x="528320" y="970961"/>
            <a:ext cx="11155680" cy="51210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D01BEC-F772-12BB-42F8-3EBF53E3099E}"/>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BDC5E836-084C-631F-777E-13A83CE10DA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17E9DB9-06B8-2E6A-A707-0022F9488BE8}"/>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408947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B4B67-9D80-58C2-833C-02BF1C66B09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EAC2C5B-CD7C-359F-5E20-90EB271FC9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E2062AD-CE40-ECBE-2461-0994109D4D96}"/>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05D91C24-750B-772B-39EB-AEE3BC9CFA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593CF6-DEA0-54A3-3B0D-16DFD868FABB}"/>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34770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7D5219B-43B9-8D47-B015-05C051ECBA5C}"/>
              </a:ext>
            </a:extLst>
          </p:cNvPr>
          <p:cNvGraphicFramePr>
            <a:graphicFrameLocks noChangeAspect="1"/>
          </p:cNvGraphicFramePr>
          <p:nvPr userDrawn="1">
            <p:custDataLst>
              <p:tags r:id="rId1"/>
            </p:custDataLst>
            <p:extLst>
              <p:ext uri="{D42A27DB-BD31-4B8C-83A1-F6EECF244321}">
                <p14:modId xmlns:p14="http://schemas.microsoft.com/office/powerpoint/2010/main" val="3925328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AE166CE9-D8AC-23AC-AB85-26F071E934E9}"/>
              </a:ext>
            </a:extLst>
          </p:cNvPr>
          <p:cNvSpPr>
            <a:spLocks noGrp="1"/>
          </p:cNvSpPr>
          <p:nvPr>
            <p:ph type="title" hasCustomPrompt="1"/>
          </p:nvPr>
        </p:nvSpPr>
        <p:spPr>
          <a:xfrm>
            <a:off x="538480" y="365125"/>
            <a:ext cx="11145520" cy="530421"/>
          </a:xfrm>
        </p:spPr>
        <p:txBody>
          <a:bodyPr vert="horz"/>
          <a:lstStyle/>
          <a:p>
            <a:r>
              <a:rPr lang="fr-FR"/>
              <a:t>Modifiez le style du titre</a:t>
            </a:r>
          </a:p>
        </p:txBody>
      </p:sp>
      <p:sp>
        <p:nvSpPr>
          <p:cNvPr id="3" name="Espace réservé du contenu 2">
            <a:extLst>
              <a:ext uri="{FF2B5EF4-FFF2-40B4-BE49-F238E27FC236}">
                <a16:creationId xmlns:a16="http://schemas.microsoft.com/office/drawing/2014/main" id="{151A527B-45D4-FDBA-8A43-2ECF0043B0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9291D06-5D41-A286-35F6-7E5962AA6B7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C3FDB4F-5A52-B6D6-AFCB-23B0CCA48F2C}"/>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6" name="Espace réservé du pied de page 5">
            <a:extLst>
              <a:ext uri="{FF2B5EF4-FFF2-40B4-BE49-F238E27FC236}">
                <a16:creationId xmlns:a16="http://schemas.microsoft.com/office/drawing/2014/main" id="{0A9C4B8D-86B0-6D8E-5799-1DF9046FCF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345797-C532-3683-0F22-9C0C21F539C8}"/>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347427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0B10FA-7140-2A3F-F17D-1D8F55CB596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BFBEC60-B3E8-70A1-1920-E8E65B530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6CF08F6-1E9E-7991-A7E4-BBBA4D19CC7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098D948-741B-2551-4395-03AA7CD96B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30237D2-8F80-CFAF-989C-B873AC51114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6AE2C985-C329-B01A-EA6E-7ECDC034809F}"/>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8" name="Espace réservé du pied de page 7">
            <a:extLst>
              <a:ext uri="{FF2B5EF4-FFF2-40B4-BE49-F238E27FC236}">
                <a16:creationId xmlns:a16="http://schemas.microsoft.com/office/drawing/2014/main" id="{ACB8720D-48B9-7113-5012-7F64AF82930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CB2D759-968F-C3C6-332A-421C1DBC0E8E}"/>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3170531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4EC1F2A-358E-5C93-1B02-2A6EFAEC4817}"/>
              </a:ext>
            </a:extLst>
          </p:cNvPr>
          <p:cNvGraphicFramePr>
            <a:graphicFrameLocks noChangeAspect="1"/>
          </p:cNvGraphicFramePr>
          <p:nvPr userDrawn="1">
            <p:custDataLst>
              <p:tags r:id="rId1"/>
            </p:custDataLst>
            <p:extLst>
              <p:ext uri="{D42A27DB-BD31-4B8C-83A1-F6EECF244321}">
                <p14:modId xmlns:p14="http://schemas.microsoft.com/office/powerpoint/2010/main" val="3426337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960909FF-76F0-288B-EC6A-08369077ECD8}"/>
              </a:ext>
            </a:extLst>
          </p:cNvPr>
          <p:cNvSpPr>
            <a:spLocks noGrp="1"/>
          </p:cNvSpPr>
          <p:nvPr>
            <p:ph type="title" hasCustomPrompt="1"/>
          </p:nvPr>
        </p:nvSpPr>
        <p:spPr>
          <a:xfrm>
            <a:off x="548640" y="365125"/>
            <a:ext cx="11165840" cy="530421"/>
          </a:xfrm>
        </p:spPr>
        <p:txBody>
          <a:bodyPr vert="horz"/>
          <a:lstStyle/>
          <a:p>
            <a:r>
              <a:rPr lang="fr-FR"/>
              <a:t>Modifiez le style du titre</a:t>
            </a:r>
          </a:p>
        </p:txBody>
      </p:sp>
      <p:sp>
        <p:nvSpPr>
          <p:cNvPr id="3" name="Espace réservé de la date 2">
            <a:extLst>
              <a:ext uri="{FF2B5EF4-FFF2-40B4-BE49-F238E27FC236}">
                <a16:creationId xmlns:a16="http://schemas.microsoft.com/office/drawing/2014/main" id="{F084260B-9290-664A-39BE-1FF8DAB65CFA}"/>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4" name="Espace réservé du pied de page 3">
            <a:extLst>
              <a:ext uri="{FF2B5EF4-FFF2-40B4-BE49-F238E27FC236}">
                <a16:creationId xmlns:a16="http://schemas.microsoft.com/office/drawing/2014/main" id="{53B8D1B0-0211-0B30-25B2-2ECAEB7B2D3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CE3CF8A-DED0-61B4-9477-6691CB2276E0}"/>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4259128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33505-46DC-10BC-72D3-1D3FB4F876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01B0B73-F197-9E0C-F1BA-E28327D18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B5E27E2-EF15-C4DC-87AA-2C59806BB8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74645E9-9E50-C375-B1CA-FDADC0EB42A4}"/>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6" name="Espace réservé du pied de page 5">
            <a:extLst>
              <a:ext uri="{FF2B5EF4-FFF2-40B4-BE49-F238E27FC236}">
                <a16:creationId xmlns:a16="http://schemas.microsoft.com/office/drawing/2014/main" id="{C59AB4B8-BE69-12A4-352D-EB182E5932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09B8AD6-D1DB-F85F-A953-B1E35D7F0A56}"/>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18046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22E2AB-2449-7EB0-5DB0-51AA51078EC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CDD0DB1-5B79-C179-CD88-24666CF7F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7885001-8D2A-1E55-6125-046C217D70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02DC0E5-E406-FB5E-7305-06FF33CA3295}"/>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6" name="Espace réservé du pied de page 5">
            <a:extLst>
              <a:ext uri="{FF2B5EF4-FFF2-40B4-BE49-F238E27FC236}">
                <a16:creationId xmlns:a16="http://schemas.microsoft.com/office/drawing/2014/main" id="{252FFBD0-B81E-CE89-E074-CA3C198524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79F1D4-45C0-72EF-AA62-F0166092F18E}"/>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16809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5CC69A-4A37-AD34-F416-9C1F0CDA4AA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1A1A407-50D8-29B0-6B7C-3F7A084F6C1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A0DBD08-71D1-D86D-0D7C-C105368C23E5}"/>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3373B908-5B53-7827-C0C4-599125A66A4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FF548-2FA6-E231-8CE0-D4F3B1E0DF4F}"/>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2968505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25DECE3-B4CC-42CC-F62E-0789E3301D9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DCD9F15-8723-AC1D-CBAE-42E77D4205E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97D50E-F3A1-FD48-FA20-24BDD23FFE57}"/>
              </a:ext>
            </a:extLst>
          </p:cNvPr>
          <p:cNvSpPr>
            <a:spLocks noGrp="1"/>
          </p:cNvSpPr>
          <p:nvPr>
            <p:ph type="dt" sz="half" idx="10"/>
          </p:nvPr>
        </p:nvSpPr>
        <p:spPr/>
        <p:txBody>
          <a:body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5A3B96C1-F640-644F-B8D3-63C4BA94E02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2BE97C-C5D6-E732-0A24-D614B06277AA}"/>
              </a:ext>
            </a:extLst>
          </p:cNvPr>
          <p:cNvSpPr>
            <a:spLocks noGrp="1"/>
          </p:cNvSpPr>
          <p:nvPr>
            <p:ph type="sldNum" sz="quarter" idx="12"/>
          </p:nvPr>
        </p:nvSpPr>
        <p:spPr/>
        <p:txBody>
          <a:bodyPr/>
          <a:lstStyle/>
          <a:p>
            <a:fld id="{3A6737FC-290C-B14A-9145-D3F21EAA145A}" type="slidenum">
              <a:rPr lang="fr-FR" smtClean="0"/>
              <a:t>‹#›</a:t>
            </a:fld>
            <a:endParaRPr lang="fr-FR"/>
          </a:p>
        </p:txBody>
      </p:sp>
    </p:spTree>
    <p:extLst>
      <p:ext uri="{BB962C8B-B14F-4D97-AF65-F5344CB8AC3E}">
        <p14:creationId xmlns:p14="http://schemas.microsoft.com/office/powerpoint/2010/main" val="120327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6C1B7CC-F13A-4BAE-49E7-90A4F9732A3D}"/>
              </a:ext>
            </a:extLst>
          </p:cNvPr>
          <p:cNvGraphicFramePr>
            <a:graphicFrameLocks noChangeAspect="1"/>
          </p:cNvGraphicFramePr>
          <p:nvPr userDrawn="1">
            <p:custDataLst>
              <p:tags r:id="rId12"/>
            </p:custDataLst>
            <p:extLst>
              <p:ext uri="{D42A27DB-BD31-4B8C-83A1-F6EECF244321}">
                <p14:modId xmlns:p14="http://schemas.microsoft.com/office/powerpoint/2010/main" val="474951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24" imgH="425" progId="TCLayout.ActiveDocument.1">
                  <p:embed/>
                </p:oleObj>
              </mc:Choice>
              <mc:Fallback>
                <p:oleObj name="think-cell Slide" r:id="rId13" imgW="424" imgH="425" progId="TCLayout.ActiveDocument.1">
                  <p:embed/>
                  <p:pic>
                    <p:nvPicPr>
                      <p:cNvPr id="0" name=""/>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45A563CA-A6A1-A408-DEDB-BD16137FA5E3}"/>
              </a:ext>
            </a:extLst>
          </p:cNvPr>
          <p:cNvSpPr>
            <a:spLocks noGrp="1"/>
          </p:cNvSpPr>
          <p:nvPr>
            <p:ph type="title"/>
          </p:nvPr>
        </p:nvSpPr>
        <p:spPr>
          <a:xfrm>
            <a:off x="838200" y="365125"/>
            <a:ext cx="10515600" cy="530421"/>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9E929816-B7ED-5106-8A3D-B868532C61FB}"/>
              </a:ext>
            </a:extLst>
          </p:cNvPr>
          <p:cNvSpPr>
            <a:spLocks noGrp="1"/>
          </p:cNvSpPr>
          <p:nvPr>
            <p:ph type="body" idx="1"/>
          </p:nvPr>
        </p:nvSpPr>
        <p:spPr>
          <a:xfrm>
            <a:off x="838200" y="970961"/>
            <a:ext cx="10515600" cy="5121041"/>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326D8E43-72A4-8637-96D7-209301290A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374B4E-4789-FB44-B071-FF5485E6ED2C}" type="datetimeFigureOut">
              <a:rPr lang="fr-FR" smtClean="0"/>
              <a:t>05/11/2025</a:t>
            </a:fld>
            <a:endParaRPr lang="fr-FR"/>
          </a:p>
        </p:txBody>
      </p:sp>
      <p:sp>
        <p:nvSpPr>
          <p:cNvPr id="5" name="Espace réservé du pied de page 4">
            <a:extLst>
              <a:ext uri="{FF2B5EF4-FFF2-40B4-BE49-F238E27FC236}">
                <a16:creationId xmlns:a16="http://schemas.microsoft.com/office/drawing/2014/main" id="{AE0261B1-1036-E54A-1F0D-1269DA35AA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9C35F02-B551-9B60-B538-24D184CCF5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6737FC-290C-B14A-9145-D3F21EAA145A}" type="slidenum">
              <a:rPr lang="fr-FR" smtClean="0"/>
              <a:t>‹#›</a:t>
            </a:fld>
            <a:endParaRPr lang="fr-FR"/>
          </a:p>
        </p:txBody>
      </p:sp>
    </p:spTree>
    <p:extLst>
      <p:ext uri="{BB962C8B-B14F-4D97-AF65-F5344CB8AC3E}">
        <p14:creationId xmlns:p14="http://schemas.microsoft.com/office/powerpoint/2010/main" val="2100493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2400" kern="1200">
          <a:solidFill>
            <a:schemeClr val="tx1"/>
          </a:solidFill>
          <a:latin typeface="Calibri (Headings)"/>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3.jpe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8.bin"/><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1.emf"/><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notesSlide" Target="../notesSlides/notesSlide2.xml"/><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emf"/><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oleObject" Target="../embeddings/oleObject10.bin"/><Relationship Id="rId9" Type="http://schemas.openxmlformats.org/officeDocument/2006/relationships/image" Target="../media/image15.sv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notesSlide" Target="../notesSlides/notesSlide3.xml"/><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1.emf"/><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oleObject" Target="../embeddings/oleObject10.bin"/><Relationship Id="rId9" Type="http://schemas.openxmlformats.org/officeDocument/2006/relationships/image" Target="../media/image25.sv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4.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33.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7.svg"/><Relationship Id="rId3" Type="http://schemas.openxmlformats.org/officeDocument/2006/relationships/notesSlide" Target="../notesSlides/notesSlide8.xml"/><Relationship Id="rId7" Type="http://schemas.openxmlformats.org/officeDocument/2006/relationships/image" Target="../media/image36.svg"/><Relationship Id="rId12"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1.emf"/><Relationship Id="rId15" Type="http://schemas.openxmlformats.org/officeDocument/2006/relationships/image" Target="../media/image15.svg"/><Relationship Id="rId10" Type="http://schemas.openxmlformats.org/officeDocument/2006/relationships/image" Target="../media/image39.png"/><Relationship Id="rId4" Type="http://schemas.openxmlformats.org/officeDocument/2006/relationships/oleObject" Target="../embeddings/oleObject11.bin"/><Relationship Id="rId9" Type="http://schemas.openxmlformats.org/officeDocument/2006/relationships/image" Target="../media/image38.sv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C8805F0-744E-EF16-3CBE-96F01DD17BA0}"/>
              </a:ext>
            </a:extLst>
          </p:cNvPr>
          <p:cNvGraphicFramePr>
            <a:graphicFrameLocks noChangeAspect="1"/>
          </p:cNvGraphicFramePr>
          <p:nvPr>
            <p:custDataLst>
              <p:tags r:id="rId1"/>
            </p:custDataLst>
            <p:extLst>
              <p:ext uri="{D42A27DB-BD31-4B8C-83A1-F6EECF244321}">
                <p14:modId xmlns:p14="http://schemas.microsoft.com/office/powerpoint/2010/main" val="503565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60EE6AC7-315F-49D3-AD4C-A25F1AA1146F}"/>
              </a:ext>
            </a:extLst>
          </p:cNvPr>
          <p:cNvSpPr>
            <a:spLocks noGrp="1"/>
          </p:cNvSpPr>
          <p:nvPr>
            <p:ph type="ctrTitle"/>
          </p:nvPr>
        </p:nvSpPr>
        <p:spPr>
          <a:xfrm>
            <a:off x="773408" y="992094"/>
            <a:ext cx="3616913" cy="2795160"/>
          </a:xfrm>
        </p:spPr>
        <p:txBody>
          <a:bodyPr vert="horz">
            <a:normAutofit/>
          </a:bodyPr>
          <a:lstStyle/>
          <a:p>
            <a:pPr algn="l"/>
            <a:r>
              <a:rPr lang="en-BE" sz="4400" dirty="0"/>
              <a:t>BINV3140-D</a:t>
            </a:r>
            <a:br>
              <a:rPr lang="en-BE" sz="4400" dirty="0"/>
            </a:br>
            <a:r>
              <a:rPr lang="en-BE" sz="4400" dirty="0"/>
              <a:t>Microservices</a:t>
            </a:r>
          </a:p>
        </p:txBody>
      </p:sp>
      <p:pic>
        <p:nvPicPr>
          <p:cNvPr id="10" name="Graphique 9">
            <a:extLst>
              <a:ext uri="{FF2B5EF4-FFF2-40B4-BE49-F238E27FC236}">
                <a16:creationId xmlns:a16="http://schemas.microsoft.com/office/drawing/2014/main" id="{F57CF551-3363-4D14-AB20-4E3BC78961E0}"/>
              </a:ext>
            </a:extLst>
          </p:cNvPr>
          <p:cNvPicPr>
            <a:picLocks noChangeAspect="1"/>
          </p:cNvPicPr>
          <p:nvPr/>
        </p:nvPicPr>
        <p:blipFill>
          <a:blip r:embed="rId5"/>
          <a:srcRect/>
          <a:stretch/>
        </p:blipFill>
        <p:spPr>
          <a:xfrm>
            <a:off x="5915935" y="1257301"/>
            <a:ext cx="5668280" cy="4313422"/>
          </a:xfrm>
          <a:prstGeom prst="rect">
            <a:avLst/>
          </a:prstGeom>
        </p:spPr>
      </p:pic>
      <p:sp>
        <p:nvSpPr>
          <p:cNvPr id="29" name="ZoneTexte 28">
            <a:extLst>
              <a:ext uri="{FF2B5EF4-FFF2-40B4-BE49-F238E27FC236}">
                <a16:creationId xmlns:a16="http://schemas.microsoft.com/office/drawing/2014/main" id="{5AF42A25-0493-4E12-B65F-57D107A706D5}"/>
              </a:ext>
            </a:extLst>
          </p:cNvPr>
          <p:cNvSpPr txBox="1"/>
          <p:nvPr/>
        </p:nvSpPr>
        <p:spPr>
          <a:xfrm>
            <a:off x="773408" y="3787253"/>
            <a:ext cx="3836692" cy="461665"/>
          </a:xfrm>
          <a:prstGeom prst="rect">
            <a:avLst/>
          </a:prstGeom>
          <a:noFill/>
        </p:spPr>
        <p:txBody>
          <a:bodyPr wrap="square" rtlCol="0">
            <a:spAutoFit/>
          </a:bodyPr>
          <a:lstStyle/>
          <a:p>
            <a:r>
              <a:rPr lang="en-BE" sz="2400" dirty="0"/>
              <a:t>Lesson </a:t>
            </a:r>
            <a:r>
              <a:rPr lang="en-US" sz="2400" dirty="0"/>
              <a:t>6</a:t>
            </a:r>
            <a:endParaRPr lang="en-BE" sz="2400" dirty="0"/>
          </a:p>
        </p:txBody>
      </p:sp>
      <p:sp>
        <p:nvSpPr>
          <p:cNvPr id="30" name="ZoneTexte 29">
            <a:extLst>
              <a:ext uri="{FF2B5EF4-FFF2-40B4-BE49-F238E27FC236}">
                <a16:creationId xmlns:a16="http://schemas.microsoft.com/office/drawing/2014/main" id="{7B9BDEE1-A208-4642-B50F-3B97DAAAF184}"/>
              </a:ext>
            </a:extLst>
          </p:cNvPr>
          <p:cNvSpPr txBox="1"/>
          <p:nvPr/>
        </p:nvSpPr>
        <p:spPr>
          <a:xfrm>
            <a:off x="773408" y="5325957"/>
            <a:ext cx="2115936" cy="1200329"/>
          </a:xfrm>
          <a:prstGeom prst="rect">
            <a:avLst/>
          </a:prstGeom>
          <a:noFill/>
        </p:spPr>
        <p:txBody>
          <a:bodyPr wrap="square" rtlCol="0">
            <a:spAutoFit/>
          </a:bodyPr>
          <a:lstStyle/>
          <a:p>
            <a:r>
              <a:rPr lang="en-BE" dirty="0"/>
              <a:t>2025-2026</a:t>
            </a:r>
          </a:p>
          <a:p>
            <a:r>
              <a:rPr lang="en-BE" dirty="0"/>
              <a:t>Choquet Olivier</a:t>
            </a:r>
          </a:p>
          <a:p>
            <a:r>
              <a:rPr lang="en-BE" dirty="0"/>
              <a:t>Miri Tarik</a:t>
            </a:r>
          </a:p>
          <a:p>
            <a:r>
              <a:rPr lang="en-BE" dirty="0" err="1"/>
              <a:t>Strebelle</a:t>
            </a:r>
            <a:r>
              <a:rPr lang="en-BE" dirty="0"/>
              <a:t> Sébastien</a:t>
            </a:r>
          </a:p>
        </p:txBody>
      </p:sp>
    </p:spTree>
    <p:extLst>
      <p:ext uri="{BB962C8B-B14F-4D97-AF65-F5344CB8AC3E}">
        <p14:creationId xmlns:p14="http://schemas.microsoft.com/office/powerpoint/2010/main" val="2572945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979E048-DE5C-C3CF-0D1B-70DCEF2C7EA3}"/>
              </a:ext>
            </a:extLst>
          </p:cNvPr>
          <p:cNvGraphicFramePr>
            <a:graphicFrameLocks noChangeAspect="1"/>
          </p:cNvGraphicFramePr>
          <p:nvPr>
            <p:custDataLst>
              <p:tags r:id="rId1"/>
            </p:custDataLst>
            <p:extLst>
              <p:ext uri="{D42A27DB-BD31-4B8C-83A1-F6EECF244321}">
                <p14:modId xmlns:p14="http://schemas.microsoft.com/office/powerpoint/2010/main" val="1155638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4559766C-D87C-602F-CD8B-2374DAE60D89}"/>
              </a:ext>
            </a:extLst>
          </p:cNvPr>
          <p:cNvSpPr>
            <a:spLocks noGrp="1"/>
          </p:cNvSpPr>
          <p:nvPr>
            <p:ph type="title"/>
          </p:nvPr>
        </p:nvSpPr>
        <p:spPr>
          <a:xfrm>
            <a:off x="528320" y="365125"/>
            <a:ext cx="4236720" cy="530421"/>
          </a:xfrm>
        </p:spPr>
        <p:txBody>
          <a:bodyPr vert="horz"/>
          <a:lstStyle/>
          <a:p>
            <a:r>
              <a:rPr lang="en-BE" dirty="0"/>
              <a:t>Table of Content</a:t>
            </a:r>
          </a:p>
        </p:txBody>
      </p:sp>
      <p:sp>
        <p:nvSpPr>
          <p:cNvPr id="3" name="Espace réservé du contenu 2">
            <a:extLst>
              <a:ext uri="{FF2B5EF4-FFF2-40B4-BE49-F238E27FC236}">
                <a16:creationId xmlns:a16="http://schemas.microsoft.com/office/drawing/2014/main" id="{BAA3E2B0-20FA-0FFF-2687-EE7CD3A1806B}"/>
              </a:ext>
            </a:extLst>
          </p:cNvPr>
          <p:cNvSpPr>
            <a:spLocks noGrp="1"/>
          </p:cNvSpPr>
          <p:nvPr>
            <p:ph idx="1"/>
          </p:nvPr>
        </p:nvSpPr>
        <p:spPr>
          <a:xfrm>
            <a:off x="528320" y="1755741"/>
            <a:ext cx="4236720" cy="3346515"/>
          </a:xfrm>
        </p:spPr>
        <p:txBody>
          <a:bodyPr>
            <a:normAutofit/>
          </a:bodyPr>
          <a:lstStyle/>
          <a:p>
            <a:pPr marL="514350" indent="-514350" algn="just">
              <a:buFont typeface="+mj-lt"/>
              <a:buAutoNum type="arabicPeriod"/>
            </a:pPr>
            <a:r>
              <a:rPr lang="en-BE" dirty="0"/>
              <a:t>Lesson’s Objective</a:t>
            </a:r>
          </a:p>
          <a:p>
            <a:pPr marL="514350" indent="-514350" algn="just">
              <a:buFont typeface="+mj-lt"/>
              <a:buAutoNum type="arabicPeriod"/>
            </a:pPr>
            <a:r>
              <a:rPr lang="en-US" dirty="0"/>
              <a:t>Why Delivery Matters</a:t>
            </a:r>
            <a:endParaRPr lang="en-BE" dirty="0"/>
          </a:p>
          <a:p>
            <a:pPr marL="514350" indent="-514350" algn="just">
              <a:buFont typeface="+mj-lt"/>
              <a:buAutoNum type="arabicPeriod"/>
            </a:pPr>
            <a:r>
              <a:rPr lang="en-US" dirty="0"/>
              <a:t>Environments Definition</a:t>
            </a:r>
            <a:endParaRPr lang="en-BE" dirty="0"/>
          </a:p>
          <a:p>
            <a:pPr marL="514350" indent="-514350" algn="just">
              <a:buFont typeface="+mj-lt"/>
              <a:buAutoNum type="arabicPeriod"/>
            </a:pPr>
            <a:r>
              <a:rPr lang="en-US" dirty="0"/>
              <a:t>Continuous Integration</a:t>
            </a:r>
            <a:endParaRPr lang="en-BE" dirty="0"/>
          </a:p>
          <a:p>
            <a:pPr marL="514350" indent="-514350" algn="just">
              <a:buFont typeface="+mj-lt"/>
              <a:buAutoNum type="arabicPeriod"/>
            </a:pPr>
            <a:r>
              <a:rPr lang="en-US" dirty="0"/>
              <a:t>Continuous Deployment</a:t>
            </a:r>
            <a:endParaRPr lang="en-BE" dirty="0"/>
          </a:p>
          <a:p>
            <a:pPr marL="514350" indent="-514350" algn="just">
              <a:buFont typeface="+mj-lt"/>
              <a:buAutoNum type="arabicPeriod"/>
            </a:pPr>
            <a:r>
              <a:rPr lang="en-US" dirty="0"/>
              <a:t>Branching Strategies</a:t>
            </a:r>
            <a:endParaRPr lang="en-BE" dirty="0"/>
          </a:p>
          <a:p>
            <a:pPr marL="514350" indent="-514350" algn="just">
              <a:buFont typeface="+mj-lt"/>
              <a:buAutoNum type="arabicPeriod"/>
            </a:pPr>
            <a:r>
              <a:rPr lang="en-BE" dirty="0"/>
              <a:t>Summary</a:t>
            </a:r>
          </a:p>
          <a:p>
            <a:pPr marL="514350" indent="-514350" algn="just">
              <a:buFont typeface="+mj-lt"/>
              <a:buAutoNum type="arabicPeriod"/>
            </a:pPr>
            <a:endParaRPr lang="en-BE" dirty="0"/>
          </a:p>
        </p:txBody>
      </p:sp>
      <p:pic>
        <p:nvPicPr>
          <p:cNvPr id="2050" name="Picture 2" descr="Agenda Stock Photos, Images and Backgrounds for Free Download">
            <a:extLst>
              <a:ext uri="{FF2B5EF4-FFF2-40B4-BE49-F238E27FC236}">
                <a16:creationId xmlns:a16="http://schemas.microsoft.com/office/drawing/2014/main" id="{846265F7-8F5D-3D92-BC9C-64607AB4E1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4640" y="-1"/>
            <a:ext cx="681736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1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1363808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1. Lesson’s Objectives</a:t>
            </a:r>
          </a:p>
        </p:txBody>
      </p:sp>
      <p:grpSp>
        <p:nvGrpSpPr>
          <p:cNvPr id="29" name="Group 28">
            <a:extLst>
              <a:ext uri="{FF2B5EF4-FFF2-40B4-BE49-F238E27FC236}">
                <a16:creationId xmlns:a16="http://schemas.microsoft.com/office/drawing/2014/main" id="{D3FBAD02-B022-BC77-A27F-1E3C4E2A88AB}"/>
              </a:ext>
            </a:extLst>
          </p:cNvPr>
          <p:cNvGrpSpPr/>
          <p:nvPr/>
        </p:nvGrpSpPr>
        <p:grpSpPr>
          <a:xfrm>
            <a:off x="528320" y="1843822"/>
            <a:ext cx="9473519" cy="450849"/>
            <a:chOff x="528320" y="1843822"/>
            <a:chExt cx="9473519" cy="450849"/>
          </a:xfrm>
        </p:grpSpPr>
        <p:sp>
          <p:nvSpPr>
            <p:cNvPr id="19" name="Oval 18">
              <a:extLst>
                <a:ext uri="{FF2B5EF4-FFF2-40B4-BE49-F238E27FC236}">
                  <a16:creationId xmlns:a16="http://schemas.microsoft.com/office/drawing/2014/main" id="{694A3B37-9313-5211-DB9E-17BDA13DBEAE}"/>
                </a:ext>
              </a:extLst>
            </p:cNvPr>
            <p:cNvSpPr>
              <a:spLocks noChangeAspect="1"/>
            </p:cNvSpPr>
            <p:nvPr/>
          </p:nvSpPr>
          <p:spPr>
            <a:xfrm>
              <a:off x="528320" y="1889246"/>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1</a:t>
              </a:r>
            </a:p>
          </p:txBody>
        </p:sp>
        <p:sp>
          <p:nvSpPr>
            <p:cNvPr id="24" name="Rectangle 23">
              <a:extLst>
                <a:ext uri="{FF2B5EF4-FFF2-40B4-BE49-F238E27FC236}">
                  <a16:creationId xmlns:a16="http://schemas.microsoft.com/office/drawing/2014/main" id="{F15E0CA7-0BBF-0E97-6B29-F38DD21A7D97}"/>
                </a:ext>
              </a:extLst>
            </p:cNvPr>
            <p:cNvSpPr/>
            <p:nvPr/>
          </p:nvSpPr>
          <p:spPr>
            <a:xfrm>
              <a:off x="1230077" y="1843822"/>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Understand the concept of delivery in microservices architecture</a:t>
              </a:r>
              <a:endParaRPr lang="en-BE" sz="1400" b="1" dirty="0">
                <a:solidFill>
                  <a:schemeClr val="tx1"/>
                </a:solidFill>
                <a:latin typeface="Calibri (Body)"/>
              </a:endParaRPr>
            </a:p>
          </p:txBody>
        </p:sp>
      </p:grpSp>
      <p:grpSp>
        <p:nvGrpSpPr>
          <p:cNvPr id="30" name="Group 29">
            <a:extLst>
              <a:ext uri="{FF2B5EF4-FFF2-40B4-BE49-F238E27FC236}">
                <a16:creationId xmlns:a16="http://schemas.microsoft.com/office/drawing/2014/main" id="{7CB5A692-C926-70C4-CF79-ED6D7A598C89}"/>
              </a:ext>
            </a:extLst>
          </p:cNvPr>
          <p:cNvGrpSpPr/>
          <p:nvPr/>
        </p:nvGrpSpPr>
        <p:grpSpPr>
          <a:xfrm>
            <a:off x="528320" y="2730770"/>
            <a:ext cx="9473519" cy="450849"/>
            <a:chOff x="528320" y="2840989"/>
            <a:chExt cx="9473519" cy="450849"/>
          </a:xfrm>
        </p:grpSpPr>
        <p:sp>
          <p:nvSpPr>
            <p:cNvPr id="20" name="Oval 19">
              <a:extLst>
                <a:ext uri="{FF2B5EF4-FFF2-40B4-BE49-F238E27FC236}">
                  <a16:creationId xmlns:a16="http://schemas.microsoft.com/office/drawing/2014/main" id="{7D2B9EE2-45FF-CA35-2D19-967621966198}"/>
                </a:ext>
              </a:extLst>
            </p:cNvPr>
            <p:cNvSpPr>
              <a:spLocks noChangeAspect="1"/>
            </p:cNvSpPr>
            <p:nvPr/>
          </p:nvSpPr>
          <p:spPr>
            <a:xfrm>
              <a:off x="528320" y="2886413"/>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2</a:t>
              </a:r>
            </a:p>
          </p:txBody>
        </p:sp>
        <p:sp>
          <p:nvSpPr>
            <p:cNvPr id="25" name="Rectangle 24">
              <a:extLst>
                <a:ext uri="{FF2B5EF4-FFF2-40B4-BE49-F238E27FC236}">
                  <a16:creationId xmlns:a16="http://schemas.microsoft.com/office/drawing/2014/main" id="{39EE0968-B237-852D-D173-8BE20FD89C71}"/>
                </a:ext>
              </a:extLst>
            </p:cNvPr>
            <p:cNvSpPr/>
            <p:nvPr/>
          </p:nvSpPr>
          <p:spPr>
            <a:xfrm>
              <a:off x="1230077" y="2840989"/>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err="1">
                  <a:solidFill>
                    <a:schemeClr val="tx1"/>
                  </a:solidFill>
                  <a:latin typeface="Calibri (Body)"/>
                </a:rPr>
                <a:t>Recognise</a:t>
              </a:r>
              <a:r>
                <a:rPr lang="en-US" sz="1400" b="1" dirty="0">
                  <a:solidFill>
                    <a:schemeClr val="tx1"/>
                  </a:solidFill>
                  <a:latin typeface="Calibri (Body)"/>
                </a:rPr>
                <a:t> the role of environments</a:t>
              </a:r>
              <a:endParaRPr lang="en-BE" sz="1400" b="1" dirty="0">
                <a:solidFill>
                  <a:schemeClr val="tx1"/>
                </a:solidFill>
                <a:latin typeface="Calibri (Body)"/>
              </a:endParaRPr>
            </a:p>
          </p:txBody>
        </p:sp>
      </p:grpSp>
      <p:grpSp>
        <p:nvGrpSpPr>
          <p:cNvPr id="31" name="Group 30">
            <a:extLst>
              <a:ext uri="{FF2B5EF4-FFF2-40B4-BE49-F238E27FC236}">
                <a16:creationId xmlns:a16="http://schemas.microsoft.com/office/drawing/2014/main" id="{42A0F345-2C03-9AF1-901E-AEE70B8495D3}"/>
              </a:ext>
            </a:extLst>
          </p:cNvPr>
          <p:cNvGrpSpPr/>
          <p:nvPr/>
        </p:nvGrpSpPr>
        <p:grpSpPr>
          <a:xfrm>
            <a:off x="528320" y="3617718"/>
            <a:ext cx="9473519" cy="450849"/>
            <a:chOff x="528320" y="3806506"/>
            <a:chExt cx="9473519" cy="450849"/>
          </a:xfrm>
        </p:grpSpPr>
        <p:sp>
          <p:nvSpPr>
            <p:cNvPr id="21" name="Oval 20">
              <a:extLst>
                <a:ext uri="{FF2B5EF4-FFF2-40B4-BE49-F238E27FC236}">
                  <a16:creationId xmlns:a16="http://schemas.microsoft.com/office/drawing/2014/main" id="{E5DD9DB7-1C59-A9E7-3E15-30AB86B29215}"/>
                </a:ext>
              </a:extLst>
            </p:cNvPr>
            <p:cNvSpPr>
              <a:spLocks noChangeAspect="1"/>
            </p:cNvSpPr>
            <p:nvPr/>
          </p:nvSpPr>
          <p:spPr>
            <a:xfrm>
              <a:off x="528320" y="3851930"/>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3</a:t>
              </a:r>
            </a:p>
          </p:txBody>
        </p:sp>
        <p:sp>
          <p:nvSpPr>
            <p:cNvPr id="26" name="Rectangle 25">
              <a:extLst>
                <a:ext uri="{FF2B5EF4-FFF2-40B4-BE49-F238E27FC236}">
                  <a16:creationId xmlns:a16="http://schemas.microsoft.com/office/drawing/2014/main" id="{F4980C93-C2AF-3FFA-676E-5859A6FA2078}"/>
                </a:ext>
              </a:extLst>
            </p:cNvPr>
            <p:cNvSpPr/>
            <p:nvPr/>
          </p:nvSpPr>
          <p:spPr>
            <a:xfrm>
              <a:off x="1230077" y="3806506"/>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Explain the principles of Continuous Integration (CI) and Continuous Deployment (CD)</a:t>
              </a:r>
              <a:endParaRPr lang="en-BE" sz="1400" b="1" dirty="0">
                <a:solidFill>
                  <a:schemeClr val="tx1"/>
                </a:solidFill>
                <a:latin typeface="Calibri (Body)"/>
              </a:endParaRPr>
            </a:p>
          </p:txBody>
        </p:sp>
      </p:grpSp>
      <p:grpSp>
        <p:nvGrpSpPr>
          <p:cNvPr id="32" name="Group 31">
            <a:extLst>
              <a:ext uri="{FF2B5EF4-FFF2-40B4-BE49-F238E27FC236}">
                <a16:creationId xmlns:a16="http://schemas.microsoft.com/office/drawing/2014/main" id="{A4679D1A-014E-1482-21D9-BA64E8B95DBF}"/>
              </a:ext>
            </a:extLst>
          </p:cNvPr>
          <p:cNvGrpSpPr/>
          <p:nvPr/>
        </p:nvGrpSpPr>
        <p:grpSpPr>
          <a:xfrm>
            <a:off x="528320" y="4504666"/>
            <a:ext cx="9473519" cy="450849"/>
            <a:chOff x="528320" y="4599061"/>
            <a:chExt cx="9473519" cy="450849"/>
          </a:xfrm>
        </p:grpSpPr>
        <p:sp>
          <p:nvSpPr>
            <p:cNvPr id="22" name="Oval 21">
              <a:extLst>
                <a:ext uri="{FF2B5EF4-FFF2-40B4-BE49-F238E27FC236}">
                  <a16:creationId xmlns:a16="http://schemas.microsoft.com/office/drawing/2014/main" id="{5DAF5834-82BB-7E69-B04F-13A9C823D04D}"/>
                </a:ext>
              </a:extLst>
            </p:cNvPr>
            <p:cNvSpPr>
              <a:spLocks noChangeAspect="1"/>
            </p:cNvSpPr>
            <p:nvPr/>
          </p:nvSpPr>
          <p:spPr>
            <a:xfrm>
              <a:off x="528320" y="4644485"/>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4</a:t>
              </a:r>
            </a:p>
          </p:txBody>
        </p:sp>
        <p:sp>
          <p:nvSpPr>
            <p:cNvPr id="27" name="Rectangle 26">
              <a:extLst>
                <a:ext uri="{FF2B5EF4-FFF2-40B4-BE49-F238E27FC236}">
                  <a16:creationId xmlns:a16="http://schemas.microsoft.com/office/drawing/2014/main" id="{A5E1B3C6-78FA-E8AD-AA70-86C155265AE7}"/>
                </a:ext>
              </a:extLst>
            </p:cNvPr>
            <p:cNvSpPr/>
            <p:nvPr/>
          </p:nvSpPr>
          <p:spPr>
            <a:xfrm>
              <a:off x="1230077" y="4599061"/>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Understand what are branching strategies and how they influence deployments</a:t>
              </a:r>
              <a:endParaRPr lang="en-BE" sz="1400" b="1" dirty="0">
                <a:solidFill>
                  <a:schemeClr val="tx1"/>
                </a:solidFill>
                <a:latin typeface="Calibri (Body)"/>
              </a:endParaRPr>
            </a:p>
          </p:txBody>
        </p:sp>
      </p:grpSp>
      <p:grpSp>
        <p:nvGrpSpPr>
          <p:cNvPr id="33" name="Group 32">
            <a:extLst>
              <a:ext uri="{FF2B5EF4-FFF2-40B4-BE49-F238E27FC236}">
                <a16:creationId xmlns:a16="http://schemas.microsoft.com/office/drawing/2014/main" id="{2E4D68F1-6ABC-398A-9350-B46CE85391DE}"/>
              </a:ext>
            </a:extLst>
          </p:cNvPr>
          <p:cNvGrpSpPr/>
          <p:nvPr/>
        </p:nvGrpSpPr>
        <p:grpSpPr>
          <a:xfrm>
            <a:off x="528320" y="5391616"/>
            <a:ext cx="9473519" cy="450849"/>
            <a:chOff x="528320" y="5391616"/>
            <a:chExt cx="9473519" cy="450849"/>
          </a:xfrm>
        </p:grpSpPr>
        <p:sp>
          <p:nvSpPr>
            <p:cNvPr id="23" name="Oval 22">
              <a:extLst>
                <a:ext uri="{FF2B5EF4-FFF2-40B4-BE49-F238E27FC236}">
                  <a16:creationId xmlns:a16="http://schemas.microsoft.com/office/drawing/2014/main" id="{439C1280-B06F-25D4-4003-8FB173FF274E}"/>
                </a:ext>
              </a:extLst>
            </p:cNvPr>
            <p:cNvSpPr>
              <a:spLocks noChangeAspect="1"/>
            </p:cNvSpPr>
            <p:nvPr/>
          </p:nvSpPr>
          <p:spPr>
            <a:xfrm>
              <a:off x="528320" y="5433177"/>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5</a:t>
              </a:r>
            </a:p>
          </p:txBody>
        </p:sp>
        <p:sp>
          <p:nvSpPr>
            <p:cNvPr id="28" name="Rectangle 27">
              <a:extLst>
                <a:ext uri="{FF2B5EF4-FFF2-40B4-BE49-F238E27FC236}">
                  <a16:creationId xmlns:a16="http://schemas.microsoft.com/office/drawing/2014/main" id="{02CF68D7-38C8-BF44-2731-5276371AF816}"/>
                </a:ext>
              </a:extLst>
            </p:cNvPr>
            <p:cNvSpPr/>
            <p:nvPr/>
          </p:nvSpPr>
          <p:spPr>
            <a:xfrm>
              <a:off x="1230077" y="5391616"/>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Understand the importance of automation and quality checks</a:t>
              </a:r>
              <a:endParaRPr lang="en-BE" sz="1400" b="1" dirty="0">
                <a:solidFill>
                  <a:schemeClr val="tx1"/>
                </a:solidFill>
                <a:latin typeface="Calibri (Body)"/>
              </a:endParaRPr>
            </a:p>
          </p:txBody>
        </p:sp>
      </p:grpSp>
    </p:spTree>
    <p:extLst>
      <p:ext uri="{BB962C8B-B14F-4D97-AF65-F5344CB8AC3E}">
        <p14:creationId xmlns:p14="http://schemas.microsoft.com/office/powerpoint/2010/main" val="298680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a:xfrm>
            <a:off x="538480" y="365125"/>
            <a:ext cx="11155680" cy="530421"/>
          </a:xfrm>
        </p:spPr>
        <p:txBody>
          <a:bodyPr vert="horz"/>
          <a:lstStyle/>
          <a:p>
            <a:r>
              <a:rPr lang="en-BE" dirty="0"/>
              <a:t>2. </a:t>
            </a:r>
            <a:r>
              <a:rPr lang="en-US" dirty="0"/>
              <a:t>Why Delivery Matters</a:t>
            </a:r>
            <a:endParaRPr lang="en-BE" dirty="0"/>
          </a:p>
        </p:txBody>
      </p:sp>
      <p:pic>
        <p:nvPicPr>
          <p:cNvPr id="6" name="Picture 5">
            <a:extLst>
              <a:ext uri="{FF2B5EF4-FFF2-40B4-BE49-F238E27FC236}">
                <a16:creationId xmlns:a16="http://schemas.microsoft.com/office/drawing/2014/main" id="{DA1D851C-F670-D222-1384-1EEDA307D4E6}"/>
              </a:ext>
            </a:extLst>
          </p:cNvPr>
          <p:cNvPicPr>
            <a:picLocks noChangeAspect="1"/>
          </p:cNvPicPr>
          <p:nvPr/>
        </p:nvPicPr>
        <p:blipFill>
          <a:blip r:embed="rId5"/>
          <a:stretch>
            <a:fillRect/>
          </a:stretch>
        </p:blipFill>
        <p:spPr>
          <a:xfrm>
            <a:off x="2174650" y="1587782"/>
            <a:ext cx="2109718" cy="1851599"/>
          </a:xfrm>
          <a:prstGeom prst="rect">
            <a:avLst/>
          </a:prstGeom>
        </p:spPr>
      </p:pic>
      <p:pic>
        <p:nvPicPr>
          <p:cNvPr id="8" name="Picture 7">
            <a:extLst>
              <a:ext uri="{FF2B5EF4-FFF2-40B4-BE49-F238E27FC236}">
                <a16:creationId xmlns:a16="http://schemas.microsoft.com/office/drawing/2014/main" id="{5AB1B819-3531-6C54-6EC8-DBCEEDA2842A}"/>
              </a:ext>
            </a:extLst>
          </p:cNvPr>
          <p:cNvPicPr>
            <a:picLocks noChangeAspect="1"/>
          </p:cNvPicPr>
          <p:nvPr/>
        </p:nvPicPr>
        <p:blipFill>
          <a:blip r:embed="rId6"/>
          <a:stretch>
            <a:fillRect/>
          </a:stretch>
        </p:blipFill>
        <p:spPr>
          <a:xfrm>
            <a:off x="7220618" y="1800840"/>
            <a:ext cx="3188730" cy="1727859"/>
          </a:xfrm>
          <a:prstGeom prst="rect">
            <a:avLst/>
          </a:prstGeom>
        </p:spPr>
      </p:pic>
      <p:sp>
        <p:nvSpPr>
          <p:cNvPr id="9" name="Rectangle 8">
            <a:extLst>
              <a:ext uri="{FF2B5EF4-FFF2-40B4-BE49-F238E27FC236}">
                <a16:creationId xmlns:a16="http://schemas.microsoft.com/office/drawing/2014/main" id="{EA08024D-21E9-3203-128E-15E005E56660}"/>
              </a:ext>
            </a:extLst>
          </p:cNvPr>
          <p:cNvSpPr/>
          <p:nvPr/>
        </p:nvSpPr>
        <p:spPr>
          <a:xfrm>
            <a:off x="553335" y="1087121"/>
            <a:ext cx="5352348" cy="4763407"/>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11" name="Rectangle 10">
            <a:extLst>
              <a:ext uri="{FF2B5EF4-FFF2-40B4-BE49-F238E27FC236}">
                <a16:creationId xmlns:a16="http://schemas.microsoft.com/office/drawing/2014/main" id="{F0967B29-2311-8095-E3B0-009F6B9315EE}"/>
              </a:ext>
            </a:extLst>
          </p:cNvPr>
          <p:cNvSpPr/>
          <p:nvPr/>
        </p:nvSpPr>
        <p:spPr>
          <a:xfrm>
            <a:off x="6285053" y="1087121"/>
            <a:ext cx="5409107" cy="4763407"/>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12" name="Rectangle 11">
            <a:extLst>
              <a:ext uri="{FF2B5EF4-FFF2-40B4-BE49-F238E27FC236}">
                <a16:creationId xmlns:a16="http://schemas.microsoft.com/office/drawing/2014/main" id="{8FCD69B2-54BC-5DA2-1F74-FF3E50399D43}"/>
              </a:ext>
            </a:extLst>
          </p:cNvPr>
          <p:cNvSpPr/>
          <p:nvPr/>
        </p:nvSpPr>
        <p:spPr>
          <a:xfrm>
            <a:off x="538480" y="1193800"/>
            <a:ext cx="1909869"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Monolith Architecture</a:t>
            </a:r>
          </a:p>
        </p:txBody>
      </p:sp>
      <p:sp>
        <p:nvSpPr>
          <p:cNvPr id="13" name="Rectangle 12">
            <a:extLst>
              <a:ext uri="{FF2B5EF4-FFF2-40B4-BE49-F238E27FC236}">
                <a16:creationId xmlns:a16="http://schemas.microsoft.com/office/drawing/2014/main" id="{248B1982-75FB-FEC7-9120-1B0E111CCC4C}"/>
              </a:ext>
            </a:extLst>
          </p:cNvPr>
          <p:cNvSpPr/>
          <p:nvPr/>
        </p:nvSpPr>
        <p:spPr>
          <a:xfrm>
            <a:off x="6265683" y="1193800"/>
            <a:ext cx="1909869"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200" b="1" dirty="0">
                <a:latin typeface="Calibri (Body)"/>
              </a:rPr>
              <a:t>Microservices Architecture</a:t>
            </a:r>
          </a:p>
        </p:txBody>
      </p:sp>
      <p:sp>
        <p:nvSpPr>
          <p:cNvPr id="6154" name="Arrow: Down 6153">
            <a:extLst>
              <a:ext uri="{FF2B5EF4-FFF2-40B4-BE49-F238E27FC236}">
                <a16:creationId xmlns:a16="http://schemas.microsoft.com/office/drawing/2014/main" id="{3CF0EEA4-7CE7-4BF6-E0DE-8D29CBFE1E37}"/>
              </a:ext>
            </a:extLst>
          </p:cNvPr>
          <p:cNvSpPr/>
          <p:nvPr/>
        </p:nvSpPr>
        <p:spPr>
          <a:xfrm>
            <a:off x="2924520" y="3445276"/>
            <a:ext cx="429049" cy="340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55" name="Arrow: Down 6154">
            <a:extLst>
              <a:ext uri="{FF2B5EF4-FFF2-40B4-BE49-F238E27FC236}">
                <a16:creationId xmlns:a16="http://schemas.microsoft.com/office/drawing/2014/main" id="{DE1FF6EE-CCA6-8D7F-93C3-185EB58B0EA0}"/>
              </a:ext>
            </a:extLst>
          </p:cNvPr>
          <p:cNvSpPr/>
          <p:nvPr/>
        </p:nvSpPr>
        <p:spPr>
          <a:xfrm>
            <a:off x="8812982" y="3445276"/>
            <a:ext cx="429049" cy="3400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165" name="Group 6164">
            <a:extLst>
              <a:ext uri="{FF2B5EF4-FFF2-40B4-BE49-F238E27FC236}">
                <a16:creationId xmlns:a16="http://schemas.microsoft.com/office/drawing/2014/main" id="{6F71F7A4-A78B-D52F-411B-6C1711FEB1E5}"/>
              </a:ext>
            </a:extLst>
          </p:cNvPr>
          <p:cNvGrpSpPr/>
          <p:nvPr/>
        </p:nvGrpSpPr>
        <p:grpSpPr>
          <a:xfrm>
            <a:off x="1229360" y="4481463"/>
            <a:ext cx="3742022" cy="1205639"/>
            <a:chOff x="633512" y="4521779"/>
            <a:chExt cx="3742022" cy="1205639"/>
          </a:xfrm>
        </p:grpSpPr>
        <p:grpSp>
          <p:nvGrpSpPr>
            <p:cNvPr id="39" name="Group 38">
              <a:extLst>
                <a:ext uri="{FF2B5EF4-FFF2-40B4-BE49-F238E27FC236}">
                  <a16:creationId xmlns:a16="http://schemas.microsoft.com/office/drawing/2014/main" id="{1F453085-54D2-CA23-2EAA-F83BC4447A1D}"/>
                </a:ext>
              </a:extLst>
            </p:cNvPr>
            <p:cNvGrpSpPr/>
            <p:nvPr/>
          </p:nvGrpSpPr>
          <p:grpSpPr>
            <a:xfrm>
              <a:off x="776402" y="4521779"/>
              <a:ext cx="3476304" cy="360000"/>
              <a:chOff x="776402" y="4386560"/>
              <a:chExt cx="3476304" cy="360000"/>
            </a:xfrm>
          </p:grpSpPr>
          <p:grpSp>
            <p:nvGrpSpPr>
              <p:cNvPr id="15" name="Group 14">
                <a:extLst>
                  <a:ext uri="{FF2B5EF4-FFF2-40B4-BE49-F238E27FC236}">
                    <a16:creationId xmlns:a16="http://schemas.microsoft.com/office/drawing/2014/main" id="{1AF1A85E-2A6A-F4F1-6129-A8B413CF0658}"/>
                  </a:ext>
                </a:extLst>
              </p:cNvPr>
              <p:cNvGrpSpPr/>
              <p:nvPr/>
            </p:nvGrpSpPr>
            <p:grpSpPr>
              <a:xfrm>
                <a:off x="776402" y="4386560"/>
                <a:ext cx="360000" cy="360000"/>
                <a:chOff x="508000" y="4796546"/>
                <a:chExt cx="360000" cy="360000"/>
              </a:xfrm>
            </p:grpSpPr>
            <p:sp>
              <p:nvSpPr>
                <p:cNvPr id="16" name="Oval 15">
                  <a:extLst>
                    <a:ext uri="{FF2B5EF4-FFF2-40B4-BE49-F238E27FC236}">
                      <a16:creationId xmlns:a16="http://schemas.microsoft.com/office/drawing/2014/main" id="{1A6E8FDA-B3D2-883A-F0CB-38F107744363}"/>
                    </a:ext>
                  </a:extLst>
                </p:cNvPr>
                <p:cNvSpPr>
                  <a:spLocks noChangeAspect="1"/>
                </p:cNvSpPr>
                <p:nvPr/>
              </p:nvSpPr>
              <p:spPr>
                <a:xfrm>
                  <a:off x="508000" y="4796546"/>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17" name="Graphic 16" descr="Users with solid fill">
                  <a:extLst>
                    <a:ext uri="{FF2B5EF4-FFF2-40B4-BE49-F238E27FC236}">
                      <a16:creationId xmlns:a16="http://schemas.microsoft.com/office/drawing/2014/main" id="{225AD697-8DD5-C483-B8BA-01F6FF9745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124" y="4828358"/>
                  <a:ext cx="296376" cy="296376"/>
                </a:xfrm>
                <a:prstGeom prst="rect">
                  <a:avLst/>
                </a:prstGeom>
              </p:spPr>
            </p:pic>
          </p:grpSp>
          <p:pic>
            <p:nvPicPr>
              <p:cNvPr id="6146" name="Picture 2">
                <a:extLst>
                  <a:ext uri="{FF2B5EF4-FFF2-40B4-BE49-F238E27FC236}">
                    <a16:creationId xmlns:a16="http://schemas.microsoft.com/office/drawing/2014/main" id="{BE988E3E-A23D-3B9C-2ED0-03D9F53E4B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9017" y="4389436"/>
                <a:ext cx="360000" cy="35712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zurepipelines Vector SVG Icon - SVG Repo">
                <a:extLst>
                  <a:ext uri="{FF2B5EF4-FFF2-40B4-BE49-F238E27FC236}">
                    <a16:creationId xmlns:a16="http://schemas.microsoft.com/office/drawing/2014/main" id="{26C99CFC-B04B-D406-AFDF-3084B078FDE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1632" y="4418372"/>
                <a:ext cx="421570" cy="296376"/>
              </a:xfrm>
              <a:prstGeom prst="rect">
                <a:avLst/>
              </a:prstGeom>
              <a:noFill/>
              <a:extLst>
                <a:ext uri="{909E8E84-426E-40DD-AFC4-6F175D3DCCD1}">
                  <a14:hiddenFill xmlns:a14="http://schemas.microsoft.com/office/drawing/2010/main">
                    <a:solidFill>
                      <a:srgbClr val="FFFFFF"/>
                    </a:solidFill>
                  </a14:hiddenFill>
                </a:ext>
              </a:extLst>
            </p:spPr>
          </p:pic>
          <p:pic>
            <p:nvPicPr>
              <p:cNvPr id="22" name="Graphic 21" descr="Internet with solid fill">
                <a:extLst>
                  <a:ext uri="{FF2B5EF4-FFF2-40B4-BE49-F238E27FC236}">
                    <a16:creationId xmlns:a16="http://schemas.microsoft.com/office/drawing/2014/main" id="{58B7F45B-D5F3-55EF-A477-455B180151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85818" y="4418372"/>
                <a:ext cx="466888" cy="328188"/>
              </a:xfrm>
              <a:prstGeom prst="rect">
                <a:avLst/>
              </a:prstGeom>
            </p:spPr>
          </p:pic>
          <p:cxnSp>
            <p:nvCxnSpPr>
              <p:cNvPr id="30" name="Straight Arrow Connector 29">
                <a:extLst>
                  <a:ext uri="{FF2B5EF4-FFF2-40B4-BE49-F238E27FC236}">
                    <a16:creationId xmlns:a16="http://schemas.microsoft.com/office/drawing/2014/main" id="{DDFE9CD7-B44D-60F2-7FE5-B408C5109EE0}"/>
                  </a:ext>
                </a:extLst>
              </p:cNvPr>
              <p:cNvCxnSpPr>
                <a:cxnSpLocks/>
                <a:endCxn id="6146" idx="1"/>
              </p:cNvCxnSpPr>
              <p:nvPr/>
            </p:nvCxnSpPr>
            <p:spPr>
              <a:xfrm>
                <a:off x="1229360" y="4567998"/>
                <a:ext cx="5296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8B41581-C95C-ACA4-BC44-668B1A838F8C}"/>
                  </a:ext>
                </a:extLst>
              </p:cNvPr>
              <p:cNvCxnSpPr/>
              <p:nvPr/>
            </p:nvCxnSpPr>
            <p:spPr>
              <a:xfrm>
                <a:off x="2111589"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ED8A737-F4D9-D22B-4FBD-7FB81D81141A}"/>
                  </a:ext>
                </a:extLst>
              </p:cNvPr>
              <p:cNvCxnSpPr/>
              <p:nvPr/>
            </p:nvCxnSpPr>
            <p:spPr>
              <a:xfrm>
                <a:off x="3178057"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156" name="TextBox 6155">
              <a:extLst>
                <a:ext uri="{FF2B5EF4-FFF2-40B4-BE49-F238E27FC236}">
                  <a16:creationId xmlns:a16="http://schemas.microsoft.com/office/drawing/2014/main" id="{E24781F0-56C4-4A3B-D5F6-6EC405C53447}"/>
                </a:ext>
              </a:extLst>
            </p:cNvPr>
            <p:cNvSpPr txBox="1"/>
            <p:nvPr/>
          </p:nvSpPr>
          <p:spPr>
            <a:xfrm>
              <a:off x="633512" y="5511974"/>
              <a:ext cx="645779" cy="215444"/>
            </a:xfrm>
            <a:prstGeom prst="rect">
              <a:avLst/>
            </a:prstGeom>
            <a:solidFill>
              <a:schemeClr val="bg1"/>
            </a:solidFill>
          </p:spPr>
          <p:txBody>
            <a:bodyPr wrap="square">
              <a:spAutoFit/>
            </a:bodyPr>
            <a:lstStyle/>
            <a:p>
              <a:r>
                <a:rPr lang="en-US" sz="800" i="1" dirty="0">
                  <a:latin typeface="Calibri (Body)"/>
                </a:rPr>
                <a:t>1 Team</a:t>
              </a:r>
              <a:endParaRPr lang="en-BE" sz="800" i="1" dirty="0">
                <a:latin typeface="Calibri (Body)"/>
              </a:endParaRPr>
            </a:p>
          </p:txBody>
        </p:sp>
        <p:sp>
          <p:nvSpPr>
            <p:cNvPr id="6157" name="TextBox 6156">
              <a:extLst>
                <a:ext uri="{FF2B5EF4-FFF2-40B4-BE49-F238E27FC236}">
                  <a16:creationId xmlns:a16="http://schemas.microsoft.com/office/drawing/2014/main" id="{0C5AC940-043B-E980-F23A-8878248D1AE0}"/>
                </a:ext>
              </a:extLst>
            </p:cNvPr>
            <p:cNvSpPr txBox="1"/>
            <p:nvPr/>
          </p:nvSpPr>
          <p:spPr>
            <a:xfrm>
              <a:off x="1616127" y="5511974"/>
              <a:ext cx="712545" cy="215444"/>
            </a:xfrm>
            <a:prstGeom prst="rect">
              <a:avLst/>
            </a:prstGeom>
            <a:solidFill>
              <a:schemeClr val="bg1"/>
            </a:solidFill>
          </p:spPr>
          <p:txBody>
            <a:bodyPr wrap="square">
              <a:spAutoFit/>
            </a:bodyPr>
            <a:lstStyle/>
            <a:p>
              <a:r>
                <a:rPr lang="en-US" sz="800" i="1" dirty="0">
                  <a:latin typeface="Calibri (Body)"/>
                </a:rPr>
                <a:t>1 Code Base</a:t>
              </a:r>
              <a:endParaRPr lang="en-BE" sz="800" i="1" dirty="0">
                <a:latin typeface="Calibri (Body)"/>
              </a:endParaRPr>
            </a:p>
          </p:txBody>
        </p:sp>
        <p:sp>
          <p:nvSpPr>
            <p:cNvPr id="6158" name="TextBox 6157">
              <a:extLst>
                <a:ext uri="{FF2B5EF4-FFF2-40B4-BE49-F238E27FC236}">
                  <a16:creationId xmlns:a16="http://schemas.microsoft.com/office/drawing/2014/main" id="{EB307D5E-A4A1-23E6-FC10-04F643C4DF81}"/>
                </a:ext>
              </a:extLst>
            </p:cNvPr>
            <p:cNvSpPr txBox="1"/>
            <p:nvPr/>
          </p:nvSpPr>
          <p:spPr>
            <a:xfrm>
              <a:off x="2596144" y="5511974"/>
              <a:ext cx="712545" cy="215444"/>
            </a:xfrm>
            <a:prstGeom prst="rect">
              <a:avLst/>
            </a:prstGeom>
            <a:solidFill>
              <a:schemeClr val="bg1"/>
            </a:solidFill>
          </p:spPr>
          <p:txBody>
            <a:bodyPr wrap="square">
              <a:spAutoFit/>
            </a:bodyPr>
            <a:lstStyle/>
            <a:p>
              <a:r>
                <a:rPr lang="en-US" sz="800" i="1" dirty="0">
                  <a:latin typeface="Calibri (Body)"/>
                </a:rPr>
                <a:t>1 Pipeline</a:t>
              </a:r>
              <a:endParaRPr lang="en-BE" sz="800" i="1" dirty="0">
                <a:latin typeface="Calibri (Body)"/>
              </a:endParaRPr>
            </a:p>
          </p:txBody>
        </p:sp>
        <p:sp>
          <p:nvSpPr>
            <p:cNvPr id="6159" name="TextBox 6158">
              <a:extLst>
                <a:ext uri="{FF2B5EF4-FFF2-40B4-BE49-F238E27FC236}">
                  <a16:creationId xmlns:a16="http://schemas.microsoft.com/office/drawing/2014/main" id="{D10D712F-EB61-321B-4E0B-4CFBFBF8F8C4}"/>
                </a:ext>
              </a:extLst>
            </p:cNvPr>
            <p:cNvSpPr txBox="1"/>
            <p:nvPr/>
          </p:nvSpPr>
          <p:spPr>
            <a:xfrm>
              <a:off x="3645525" y="5511974"/>
              <a:ext cx="730009" cy="215444"/>
            </a:xfrm>
            <a:prstGeom prst="rect">
              <a:avLst/>
            </a:prstGeom>
            <a:solidFill>
              <a:schemeClr val="bg1"/>
            </a:solidFill>
          </p:spPr>
          <p:txBody>
            <a:bodyPr wrap="square">
              <a:spAutoFit/>
            </a:bodyPr>
            <a:lstStyle/>
            <a:p>
              <a:r>
                <a:rPr lang="en-US" sz="800" i="1" dirty="0">
                  <a:latin typeface="Calibri (Body)"/>
                </a:rPr>
                <a:t>1 Application</a:t>
              </a:r>
              <a:endParaRPr lang="en-BE" sz="800" i="1" dirty="0">
                <a:latin typeface="Calibri (Body)"/>
              </a:endParaRPr>
            </a:p>
          </p:txBody>
        </p:sp>
      </p:grpSp>
      <p:grpSp>
        <p:nvGrpSpPr>
          <p:cNvPr id="6164" name="Group 6163">
            <a:extLst>
              <a:ext uri="{FF2B5EF4-FFF2-40B4-BE49-F238E27FC236}">
                <a16:creationId xmlns:a16="http://schemas.microsoft.com/office/drawing/2014/main" id="{F8024873-8FD4-E1CC-994B-76BD4671070A}"/>
              </a:ext>
            </a:extLst>
          </p:cNvPr>
          <p:cNvGrpSpPr/>
          <p:nvPr/>
        </p:nvGrpSpPr>
        <p:grpSpPr>
          <a:xfrm>
            <a:off x="7220618" y="3792748"/>
            <a:ext cx="3742022" cy="1939168"/>
            <a:chOff x="4873086" y="3911360"/>
            <a:chExt cx="3742022" cy="1939168"/>
          </a:xfrm>
        </p:grpSpPr>
        <p:grpSp>
          <p:nvGrpSpPr>
            <p:cNvPr id="41" name="Group 40">
              <a:extLst>
                <a:ext uri="{FF2B5EF4-FFF2-40B4-BE49-F238E27FC236}">
                  <a16:creationId xmlns:a16="http://schemas.microsoft.com/office/drawing/2014/main" id="{84F17073-78E3-BC30-D06F-5007E79FD772}"/>
                </a:ext>
              </a:extLst>
            </p:cNvPr>
            <p:cNvGrpSpPr/>
            <p:nvPr/>
          </p:nvGrpSpPr>
          <p:grpSpPr>
            <a:xfrm>
              <a:off x="4918423" y="3911360"/>
              <a:ext cx="3476304" cy="360000"/>
              <a:chOff x="776402" y="4386560"/>
              <a:chExt cx="3476304" cy="360000"/>
            </a:xfrm>
          </p:grpSpPr>
          <p:grpSp>
            <p:nvGrpSpPr>
              <p:cNvPr id="42" name="Group 41">
                <a:extLst>
                  <a:ext uri="{FF2B5EF4-FFF2-40B4-BE49-F238E27FC236}">
                    <a16:creationId xmlns:a16="http://schemas.microsoft.com/office/drawing/2014/main" id="{C955B8E2-0E47-8712-D2D3-9F68065D217C}"/>
                  </a:ext>
                </a:extLst>
              </p:cNvPr>
              <p:cNvGrpSpPr/>
              <p:nvPr/>
            </p:nvGrpSpPr>
            <p:grpSpPr>
              <a:xfrm>
                <a:off x="776402" y="4386560"/>
                <a:ext cx="360000" cy="360000"/>
                <a:chOff x="508000" y="4796546"/>
                <a:chExt cx="360000" cy="360000"/>
              </a:xfrm>
            </p:grpSpPr>
            <p:sp>
              <p:nvSpPr>
                <p:cNvPr id="49" name="Oval 48">
                  <a:extLst>
                    <a:ext uri="{FF2B5EF4-FFF2-40B4-BE49-F238E27FC236}">
                      <a16:creationId xmlns:a16="http://schemas.microsoft.com/office/drawing/2014/main" id="{1E0B27E2-19AA-C859-505F-412969C9765E}"/>
                    </a:ext>
                  </a:extLst>
                </p:cNvPr>
                <p:cNvSpPr>
                  <a:spLocks noChangeAspect="1"/>
                </p:cNvSpPr>
                <p:nvPr/>
              </p:nvSpPr>
              <p:spPr>
                <a:xfrm>
                  <a:off x="508000" y="4796546"/>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50" name="Graphic 49" descr="Users with solid fill">
                  <a:extLst>
                    <a:ext uri="{FF2B5EF4-FFF2-40B4-BE49-F238E27FC236}">
                      <a16:creationId xmlns:a16="http://schemas.microsoft.com/office/drawing/2014/main" id="{28C07888-A9C4-5E94-0DDD-F0CCB26A0B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124" y="4828358"/>
                  <a:ext cx="296376" cy="296376"/>
                </a:xfrm>
                <a:prstGeom prst="rect">
                  <a:avLst/>
                </a:prstGeom>
              </p:spPr>
            </p:pic>
          </p:grpSp>
          <p:pic>
            <p:nvPicPr>
              <p:cNvPr id="43" name="Picture 2">
                <a:extLst>
                  <a:ext uri="{FF2B5EF4-FFF2-40B4-BE49-F238E27FC236}">
                    <a16:creationId xmlns:a16="http://schemas.microsoft.com/office/drawing/2014/main" id="{516CA634-79AE-98E8-45C0-F8EEC2DEBB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9017" y="4389436"/>
                <a:ext cx="360000" cy="35712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Azurepipelines Vector SVG Icon - SVG Repo">
                <a:extLst>
                  <a:ext uri="{FF2B5EF4-FFF2-40B4-BE49-F238E27FC236}">
                    <a16:creationId xmlns:a16="http://schemas.microsoft.com/office/drawing/2014/main" id="{54F6A2F0-DB68-8518-072A-3F3495C43A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1632" y="4418372"/>
                <a:ext cx="421570" cy="296376"/>
              </a:xfrm>
              <a:prstGeom prst="rect">
                <a:avLst/>
              </a:prstGeom>
              <a:noFill/>
              <a:extLst>
                <a:ext uri="{909E8E84-426E-40DD-AFC4-6F175D3DCCD1}">
                  <a14:hiddenFill xmlns:a14="http://schemas.microsoft.com/office/drawing/2010/main">
                    <a:solidFill>
                      <a:srgbClr val="FFFFFF"/>
                    </a:solidFill>
                  </a14:hiddenFill>
                </a:ext>
              </a:extLst>
            </p:spPr>
          </p:pic>
          <p:pic>
            <p:nvPicPr>
              <p:cNvPr id="45" name="Graphic 44" descr="Internet with solid fill">
                <a:extLst>
                  <a:ext uri="{FF2B5EF4-FFF2-40B4-BE49-F238E27FC236}">
                    <a16:creationId xmlns:a16="http://schemas.microsoft.com/office/drawing/2014/main" id="{DB46C77B-B99F-7EDE-1BC6-C0A477EFB1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85818" y="4418372"/>
                <a:ext cx="466888" cy="328188"/>
              </a:xfrm>
              <a:prstGeom prst="rect">
                <a:avLst/>
              </a:prstGeom>
            </p:spPr>
          </p:pic>
          <p:cxnSp>
            <p:nvCxnSpPr>
              <p:cNvPr id="46" name="Straight Arrow Connector 45">
                <a:extLst>
                  <a:ext uri="{FF2B5EF4-FFF2-40B4-BE49-F238E27FC236}">
                    <a16:creationId xmlns:a16="http://schemas.microsoft.com/office/drawing/2014/main" id="{224BCAF9-FC23-4032-44BC-A1EB508D4C9A}"/>
                  </a:ext>
                </a:extLst>
              </p:cNvPr>
              <p:cNvCxnSpPr>
                <a:cxnSpLocks/>
                <a:endCxn id="43" idx="1"/>
              </p:cNvCxnSpPr>
              <p:nvPr/>
            </p:nvCxnSpPr>
            <p:spPr>
              <a:xfrm>
                <a:off x="1229360" y="4567998"/>
                <a:ext cx="5296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999AEB3-11B2-8F4D-D1CD-63D01116B782}"/>
                  </a:ext>
                </a:extLst>
              </p:cNvPr>
              <p:cNvCxnSpPr/>
              <p:nvPr/>
            </p:nvCxnSpPr>
            <p:spPr>
              <a:xfrm>
                <a:off x="2111589"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C9C5DCF4-FA4A-7F04-268A-4F184C04C96C}"/>
                  </a:ext>
                </a:extLst>
              </p:cNvPr>
              <p:cNvCxnSpPr/>
              <p:nvPr/>
            </p:nvCxnSpPr>
            <p:spPr>
              <a:xfrm>
                <a:off x="3178057"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5BED4609-64D9-36BA-C79F-2F19B35AA2F6}"/>
                </a:ext>
              </a:extLst>
            </p:cNvPr>
            <p:cNvGrpSpPr/>
            <p:nvPr/>
          </p:nvGrpSpPr>
          <p:grpSpPr>
            <a:xfrm>
              <a:off x="4918423" y="4467127"/>
              <a:ext cx="3476304" cy="360000"/>
              <a:chOff x="776402" y="4386560"/>
              <a:chExt cx="3476304" cy="360000"/>
            </a:xfrm>
          </p:grpSpPr>
          <p:grpSp>
            <p:nvGrpSpPr>
              <p:cNvPr id="52" name="Group 51">
                <a:extLst>
                  <a:ext uri="{FF2B5EF4-FFF2-40B4-BE49-F238E27FC236}">
                    <a16:creationId xmlns:a16="http://schemas.microsoft.com/office/drawing/2014/main" id="{3185A6E8-16D2-489B-7661-01EBC13AC6F7}"/>
                  </a:ext>
                </a:extLst>
              </p:cNvPr>
              <p:cNvGrpSpPr/>
              <p:nvPr/>
            </p:nvGrpSpPr>
            <p:grpSpPr>
              <a:xfrm>
                <a:off x="776402" y="4386560"/>
                <a:ext cx="360000" cy="360000"/>
                <a:chOff x="508000" y="4796546"/>
                <a:chExt cx="360000" cy="360000"/>
              </a:xfrm>
            </p:grpSpPr>
            <p:sp>
              <p:nvSpPr>
                <p:cNvPr id="59" name="Oval 58">
                  <a:extLst>
                    <a:ext uri="{FF2B5EF4-FFF2-40B4-BE49-F238E27FC236}">
                      <a16:creationId xmlns:a16="http://schemas.microsoft.com/office/drawing/2014/main" id="{79A5189B-A171-284F-69E2-CEBB49BA2B54}"/>
                    </a:ext>
                  </a:extLst>
                </p:cNvPr>
                <p:cNvSpPr>
                  <a:spLocks noChangeAspect="1"/>
                </p:cNvSpPr>
                <p:nvPr/>
              </p:nvSpPr>
              <p:spPr>
                <a:xfrm>
                  <a:off x="508000" y="4796546"/>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0" name="Graphic 59" descr="Users with solid fill">
                  <a:extLst>
                    <a:ext uri="{FF2B5EF4-FFF2-40B4-BE49-F238E27FC236}">
                      <a16:creationId xmlns:a16="http://schemas.microsoft.com/office/drawing/2014/main" id="{1E4FEDE6-7B93-45F6-9E87-6F1A987A026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124" y="4828358"/>
                  <a:ext cx="296376" cy="296376"/>
                </a:xfrm>
                <a:prstGeom prst="rect">
                  <a:avLst/>
                </a:prstGeom>
              </p:spPr>
            </p:pic>
          </p:grpSp>
          <p:pic>
            <p:nvPicPr>
              <p:cNvPr id="53" name="Picture 2">
                <a:extLst>
                  <a:ext uri="{FF2B5EF4-FFF2-40B4-BE49-F238E27FC236}">
                    <a16:creationId xmlns:a16="http://schemas.microsoft.com/office/drawing/2014/main" id="{BD8FCBAB-DE92-778C-CB22-6199557C28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9017" y="4389436"/>
                <a:ext cx="360000" cy="35712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Azurepipelines Vector SVG Icon - SVG Repo">
                <a:extLst>
                  <a:ext uri="{FF2B5EF4-FFF2-40B4-BE49-F238E27FC236}">
                    <a16:creationId xmlns:a16="http://schemas.microsoft.com/office/drawing/2014/main" id="{9BC0B582-0B15-6AF0-BF27-7C6770F0153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1632" y="4418372"/>
                <a:ext cx="421570" cy="296376"/>
              </a:xfrm>
              <a:prstGeom prst="rect">
                <a:avLst/>
              </a:prstGeom>
              <a:noFill/>
              <a:extLst>
                <a:ext uri="{909E8E84-426E-40DD-AFC4-6F175D3DCCD1}">
                  <a14:hiddenFill xmlns:a14="http://schemas.microsoft.com/office/drawing/2010/main">
                    <a:solidFill>
                      <a:srgbClr val="FFFFFF"/>
                    </a:solidFill>
                  </a14:hiddenFill>
                </a:ext>
              </a:extLst>
            </p:spPr>
          </p:pic>
          <p:pic>
            <p:nvPicPr>
              <p:cNvPr id="55" name="Graphic 54" descr="Internet with solid fill">
                <a:extLst>
                  <a:ext uri="{FF2B5EF4-FFF2-40B4-BE49-F238E27FC236}">
                    <a16:creationId xmlns:a16="http://schemas.microsoft.com/office/drawing/2014/main" id="{446F9115-F302-DD88-977F-B97B186C7D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85818" y="4418372"/>
                <a:ext cx="466888" cy="328188"/>
              </a:xfrm>
              <a:prstGeom prst="rect">
                <a:avLst/>
              </a:prstGeom>
            </p:spPr>
          </p:pic>
          <p:cxnSp>
            <p:nvCxnSpPr>
              <p:cNvPr id="56" name="Straight Arrow Connector 55">
                <a:extLst>
                  <a:ext uri="{FF2B5EF4-FFF2-40B4-BE49-F238E27FC236}">
                    <a16:creationId xmlns:a16="http://schemas.microsoft.com/office/drawing/2014/main" id="{84498965-BA7A-42A6-C1C3-8A37B10FF821}"/>
                  </a:ext>
                </a:extLst>
              </p:cNvPr>
              <p:cNvCxnSpPr>
                <a:cxnSpLocks/>
                <a:endCxn id="53" idx="1"/>
              </p:cNvCxnSpPr>
              <p:nvPr/>
            </p:nvCxnSpPr>
            <p:spPr>
              <a:xfrm>
                <a:off x="1229360" y="4567998"/>
                <a:ext cx="5296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2DB7069-230F-C84B-A5E7-4A92CC0AB96A}"/>
                  </a:ext>
                </a:extLst>
              </p:cNvPr>
              <p:cNvCxnSpPr/>
              <p:nvPr/>
            </p:nvCxnSpPr>
            <p:spPr>
              <a:xfrm>
                <a:off x="2111589"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F820676-F8B0-F77D-D27F-B80E649CCB57}"/>
                  </a:ext>
                </a:extLst>
              </p:cNvPr>
              <p:cNvCxnSpPr/>
              <p:nvPr/>
            </p:nvCxnSpPr>
            <p:spPr>
              <a:xfrm>
                <a:off x="3178057"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61" name="Group 60">
              <a:extLst>
                <a:ext uri="{FF2B5EF4-FFF2-40B4-BE49-F238E27FC236}">
                  <a16:creationId xmlns:a16="http://schemas.microsoft.com/office/drawing/2014/main" id="{A6B2C60D-78F6-D25D-97A6-5487BD300C43}"/>
                </a:ext>
              </a:extLst>
            </p:cNvPr>
            <p:cNvGrpSpPr/>
            <p:nvPr/>
          </p:nvGrpSpPr>
          <p:grpSpPr>
            <a:xfrm>
              <a:off x="4918423" y="5022895"/>
              <a:ext cx="3476304" cy="360000"/>
              <a:chOff x="776402" y="4386560"/>
              <a:chExt cx="3476304" cy="360000"/>
            </a:xfrm>
          </p:grpSpPr>
          <p:grpSp>
            <p:nvGrpSpPr>
              <p:cNvPr id="62" name="Group 61">
                <a:extLst>
                  <a:ext uri="{FF2B5EF4-FFF2-40B4-BE49-F238E27FC236}">
                    <a16:creationId xmlns:a16="http://schemas.microsoft.com/office/drawing/2014/main" id="{22B87E30-E5F9-3CEA-DF87-7BD92AA0D784}"/>
                  </a:ext>
                </a:extLst>
              </p:cNvPr>
              <p:cNvGrpSpPr/>
              <p:nvPr/>
            </p:nvGrpSpPr>
            <p:grpSpPr>
              <a:xfrm>
                <a:off x="776402" y="4386560"/>
                <a:ext cx="360000" cy="360000"/>
                <a:chOff x="508000" y="4796546"/>
                <a:chExt cx="360000" cy="360000"/>
              </a:xfrm>
            </p:grpSpPr>
            <p:sp>
              <p:nvSpPr>
                <p:cNvPr id="6151" name="Oval 6150">
                  <a:extLst>
                    <a:ext uri="{FF2B5EF4-FFF2-40B4-BE49-F238E27FC236}">
                      <a16:creationId xmlns:a16="http://schemas.microsoft.com/office/drawing/2014/main" id="{9B9DD5D4-7A4A-5E95-2B37-53355284B524}"/>
                    </a:ext>
                  </a:extLst>
                </p:cNvPr>
                <p:cNvSpPr>
                  <a:spLocks noChangeAspect="1"/>
                </p:cNvSpPr>
                <p:nvPr/>
              </p:nvSpPr>
              <p:spPr>
                <a:xfrm>
                  <a:off x="508000" y="4796546"/>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152" name="Graphic 6151" descr="Users with solid fill">
                  <a:extLst>
                    <a:ext uri="{FF2B5EF4-FFF2-40B4-BE49-F238E27FC236}">
                      <a16:creationId xmlns:a16="http://schemas.microsoft.com/office/drawing/2014/main" id="{81CAE74F-A941-07AF-F947-75B40ABB3E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124" y="4828358"/>
                  <a:ext cx="296376" cy="296376"/>
                </a:xfrm>
                <a:prstGeom prst="rect">
                  <a:avLst/>
                </a:prstGeom>
              </p:spPr>
            </p:pic>
          </p:grpSp>
          <p:pic>
            <p:nvPicPr>
              <p:cNvPr id="63" name="Picture 2">
                <a:extLst>
                  <a:ext uri="{FF2B5EF4-FFF2-40B4-BE49-F238E27FC236}">
                    <a16:creationId xmlns:a16="http://schemas.microsoft.com/office/drawing/2014/main" id="{7A8535D6-AF75-5BC5-D18C-29E32CAF87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9017" y="4389436"/>
                <a:ext cx="360000" cy="357124"/>
              </a:xfrm>
              <a:prstGeom prst="rect">
                <a:avLst/>
              </a:prstGeom>
              <a:noFill/>
              <a:extLst>
                <a:ext uri="{909E8E84-426E-40DD-AFC4-6F175D3DCCD1}">
                  <a14:hiddenFill xmlns:a14="http://schemas.microsoft.com/office/drawing/2010/main">
                    <a:solidFill>
                      <a:srgbClr val="FFFFFF"/>
                    </a:solidFill>
                  </a14:hiddenFill>
                </a:ext>
              </a:extLst>
            </p:spPr>
          </p:pic>
          <p:pic>
            <p:nvPicPr>
              <p:cNvPr id="6144" name="Picture 4" descr="Azurepipelines Vector SVG Icon - SVG Repo">
                <a:extLst>
                  <a:ext uri="{FF2B5EF4-FFF2-40B4-BE49-F238E27FC236}">
                    <a16:creationId xmlns:a16="http://schemas.microsoft.com/office/drawing/2014/main" id="{B296917A-61EB-6C1D-F052-1E9B1CEB39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1632" y="4418372"/>
                <a:ext cx="421570" cy="296376"/>
              </a:xfrm>
              <a:prstGeom prst="rect">
                <a:avLst/>
              </a:prstGeom>
              <a:noFill/>
              <a:extLst>
                <a:ext uri="{909E8E84-426E-40DD-AFC4-6F175D3DCCD1}">
                  <a14:hiddenFill xmlns:a14="http://schemas.microsoft.com/office/drawing/2010/main">
                    <a:solidFill>
                      <a:srgbClr val="FFFFFF"/>
                    </a:solidFill>
                  </a14:hiddenFill>
                </a:ext>
              </a:extLst>
            </p:spPr>
          </p:pic>
          <p:pic>
            <p:nvPicPr>
              <p:cNvPr id="6145" name="Graphic 6144" descr="Internet with solid fill">
                <a:extLst>
                  <a:ext uri="{FF2B5EF4-FFF2-40B4-BE49-F238E27FC236}">
                    <a16:creationId xmlns:a16="http://schemas.microsoft.com/office/drawing/2014/main" id="{D2D1D45D-5680-9FB1-3FB6-6714CCDFE1D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85818" y="4418372"/>
                <a:ext cx="466888" cy="328188"/>
              </a:xfrm>
              <a:prstGeom prst="rect">
                <a:avLst/>
              </a:prstGeom>
            </p:spPr>
          </p:pic>
          <p:cxnSp>
            <p:nvCxnSpPr>
              <p:cNvPr id="6147" name="Straight Arrow Connector 6146">
                <a:extLst>
                  <a:ext uri="{FF2B5EF4-FFF2-40B4-BE49-F238E27FC236}">
                    <a16:creationId xmlns:a16="http://schemas.microsoft.com/office/drawing/2014/main" id="{8C4359E5-D790-5DFF-49EE-034A5ADFD113}"/>
                  </a:ext>
                </a:extLst>
              </p:cNvPr>
              <p:cNvCxnSpPr>
                <a:cxnSpLocks/>
                <a:endCxn id="63" idx="1"/>
              </p:cNvCxnSpPr>
              <p:nvPr/>
            </p:nvCxnSpPr>
            <p:spPr>
              <a:xfrm>
                <a:off x="1229360" y="4567998"/>
                <a:ext cx="5296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49" name="Straight Arrow Connector 6148">
                <a:extLst>
                  <a:ext uri="{FF2B5EF4-FFF2-40B4-BE49-F238E27FC236}">
                    <a16:creationId xmlns:a16="http://schemas.microsoft.com/office/drawing/2014/main" id="{969CE402-06A0-0AB8-1205-B98B47E746B3}"/>
                  </a:ext>
                </a:extLst>
              </p:cNvPr>
              <p:cNvCxnSpPr/>
              <p:nvPr/>
            </p:nvCxnSpPr>
            <p:spPr>
              <a:xfrm>
                <a:off x="2111589"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50" name="Straight Arrow Connector 6149">
                <a:extLst>
                  <a:ext uri="{FF2B5EF4-FFF2-40B4-BE49-F238E27FC236}">
                    <a16:creationId xmlns:a16="http://schemas.microsoft.com/office/drawing/2014/main" id="{A4F3AB15-EB73-3C97-6187-0608B17685E6}"/>
                  </a:ext>
                </a:extLst>
              </p:cNvPr>
              <p:cNvCxnSpPr/>
              <p:nvPr/>
            </p:nvCxnSpPr>
            <p:spPr>
              <a:xfrm>
                <a:off x="3178057" y="4566560"/>
                <a:ext cx="622615" cy="1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160" name="TextBox 6159">
              <a:extLst>
                <a:ext uri="{FF2B5EF4-FFF2-40B4-BE49-F238E27FC236}">
                  <a16:creationId xmlns:a16="http://schemas.microsoft.com/office/drawing/2014/main" id="{70C5D49A-0791-B9E8-9233-4EC3DA82F5ED}"/>
                </a:ext>
              </a:extLst>
            </p:cNvPr>
            <p:cNvSpPr txBox="1"/>
            <p:nvPr/>
          </p:nvSpPr>
          <p:spPr>
            <a:xfrm>
              <a:off x="4873086" y="5511974"/>
              <a:ext cx="645779" cy="338554"/>
            </a:xfrm>
            <a:prstGeom prst="rect">
              <a:avLst/>
            </a:prstGeom>
            <a:solidFill>
              <a:schemeClr val="bg1"/>
            </a:solidFill>
          </p:spPr>
          <p:txBody>
            <a:bodyPr wrap="square">
              <a:spAutoFit/>
            </a:bodyPr>
            <a:lstStyle/>
            <a:p>
              <a:r>
                <a:rPr lang="en-US" sz="800" i="1" dirty="0">
                  <a:latin typeface="Calibri (Body)"/>
                </a:rPr>
                <a:t>Many Teams</a:t>
              </a:r>
              <a:endParaRPr lang="en-BE" sz="800" i="1" dirty="0">
                <a:latin typeface="Calibri (Body)"/>
              </a:endParaRPr>
            </a:p>
          </p:txBody>
        </p:sp>
        <p:sp>
          <p:nvSpPr>
            <p:cNvPr id="6161" name="TextBox 6160">
              <a:extLst>
                <a:ext uri="{FF2B5EF4-FFF2-40B4-BE49-F238E27FC236}">
                  <a16:creationId xmlns:a16="http://schemas.microsoft.com/office/drawing/2014/main" id="{0674A2AC-ACDF-4B0E-D29E-63B7F361141C}"/>
                </a:ext>
              </a:extLst>
            </p:cNvPr>
            <p:cNvSpPr txBox="1"/>
            <p:nvPr/>
          </p:nvSpPr>
          <p:spPr>
            <a:xfrm>
              <a:off x="5855701" y="5511974"/>
              <a:ext cx="712545" cy="338554"/>
            </a:xfrm>
            <a:prstGeom prst="rect">
              <a:avLst/>
            </a:prstGeom>
            <a:solidFill>
              <a:schemeClr val="bg1"/>
            </a:solidFill>
          </p:spPr>
          <p:txBody>
            <a:bodyPr wrap="square">
              <a:spAutoFit/>
            </a:bodyPr>
            <a:lstStyle/>
            <a:p>
              <a:r>
                <a:rPr lang="en-US" sz="800" i="1" dirty="0">
                  <a:latin typeface="Calibri (Body)"/>
                </a:rPr>
                <a:t>Many Code Bases</a:t>
              </a:r>
              <a:endParaRPr lang="en-BE" sz="800" i="1" dirty="0">
                <a:latin typeface="Calibri (Body)"/>
              </a:endParaRPr>
            </a:p>
          </p:txBody>
        </p:sp>
        <p:sp>
          <p:nvSpPr>
            <p:cNvPr id="6162" name="TextBox 6161">
              <a:extLst>
                <a:ext uri="{FF2B5EF4-FFF2-40B4-BE49-F238E27FC236}">
                  <a16:creationId xmlns:a16="http://schemas.microsoft.com/office/drawing/2014/main" id="{07D7A218-B876-025B-E24B-216D14FAD97F}"/>
                </a:ext>
              </a:extLst>
            </p:cNvPr>
            <p:cNvSpPr txBox="1"/>
            <p:nvPr/>
          </p:nvSpPr>
          <p:spPr>
            <a:xfrm>
              <a:off x="6835718" y="5511974"/>
              <a:ext cx="712545" cy="338554"/>
            </a:xfrm>
            <a:prstGeom prst="rect">
              <a:avLst/>
            </a:prstGeom>
            <a:solidFill>
              <a:schemeClr val="bg1"/>
            </a:solidFill>
          </p:spPr>
          <p:txBody>
            <a:bodyPr wrap="square">
              <a:spAutoFit/>
            </a:bodyPr>
            <a:lstStyle/>
            <a:p>
              <a:r>
                <a:rPr lang="en-US" sz="800" i="1" dirty="0">
                  <a:latin typeface="Calibri (Body)"/>
                </a:rPr>
                <a:t>Many Pipelines</a:t>
              </a:r>
              <a:endParaRPr lang="en-BE" sz="800" i="1" dirty="0">
                <a:latin typeface="Calibri (Body)"/>
              </a:endParaRPr>
            </a:p>
          </p:txBody>
        </p:sp>
        <p:sp>
          <p:nvSpPr>
            <p:cNvPr id="6163" name="TextBox 6162">
              <a:extLst>
                <a:ext uri="{FF2B5EF4-FFF2-40B4-BE49-F238E27FC236}">
                  <a16:creationId xmlns:a16="http://schemas.microsoft.com/office/drawing/2014/main" id="{673ACCF5-64CD-14C0-8AAE-BD52741D340D}"/>
                </a:ext>
              </a:extLst>
            </p:cNvPr>
            <p:cNvSpPr txBox="1"/>
            <p:nvPr/>
          </p:nvSpPr>
          <p:spPr>
            <a:xfrm>
              <a:off x="7902563" y="5511974"/>
              <a:ext cx="712545" cy="338554"/>
            </a:xfrm>
            <a:prstGeom prst="rect">
              <a:avLst/>
            </a:prstGeom>
            <a:solidFill>
              <a:schemeClr val="bg1"/>
            </a:solidFill>
          </p:spPr>
          <p:txBody>
            <a:bodyPr wrap="square">
              <a:spAutoFit/>
            </a:bodyPr>
            <a:lstStyle/>
            <a:p>
              <a:r>
                <a:rPr lang="en-US" sz="800" i="1" dirty="0">
                  <a:latin typeface="Calibri (Body)"/>
                </a:rPr>
                <a:t>Many Applications</a:t>
              </a:r>
              <a:endParaRPr lang="en-BE" sz="800" i="1" dirty="0">
                <a:latin typeface="Calibri (Body)"/>
              </a:endParaRPr>
            </a:p>
          </p:txBody>
        </p:sp>
      </p:grpSp>
      <p:sp>
        <p:nvSpPr>
          <p:cNvPr id="6166" name="Rectangle 6165">
            <a:extLst>
              <a:ext uri="{FF2B5EF4-FFF2-40B4-BE49-F238E27FC236}">
                <a16:creationId xmlns:a16="http://schemas.microsoft.com/office/drawing/2014/main" id="{3F21DB05-F1E3-F80C-728C-FB3E272E3E5B}"/>
              </a:ext>
            </a:extLst>
          </p:cNvPr>
          <p:cNvSpPr/>
          <p:nvPr/>
        </p:nvSpPr>
        <p:spPr>
          <a:xfrm>
            <a:off x="553336" y="5948272"/>
            <a:ext cx="11133386" cy="68691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Moving from monolithic to microservices delivery increases autonomy but also fragmentation, coordination, consistency, and observability become critical to maintain reliability across independent teams and pipelines.</a:t>
            </a:r>
            <a:endParaRPr lang="en-BE" sz="1400" i="1" dirty="0">
              <a:solidFill>
                <a:schemeClr val="tx1"/>
              </a:solidFill>
              <a:latin typeface="Calibri (Body)"/>
            </a:endParaRPr>
          </a:p>
        </p:txBody>
      </p:sp>
    </p:spTree>
    <p:extLst>
      <p:ext uri="{BB962C8B-B14F-4D97-AF65-F5344CB8AC3E}">
        <p14:creationId xmlns:p14="http://schemas.microsoft.com/office/powerpoint/2010/main" val="1751208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457597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3. </a:t>
            </a:r>
            <a:r>
              <a:rPr lang="en-US" dirty="0"/>
              <a:t>Environments Definition</a:t>
            </a:r>
            <a:endParaRPr lang="en-BE" dirty="0"/>
          </a:p>
        </p:txBody>
      </p:sp>
      <p:grpSp>
        <p:nvGrpSpPr>
          <p:cNvPr id="3" name="Group 2">
            <a:extLst>
              <a:ext uri="{FF2B5EF4-FFF2-40B4-BE49-F238E27FC236}">
                <a16:creationId xmlns:a16="http://schemas.microsoft.com/office/drawing/2014/main" id="{55074A03-85F3-5E7E-834B-68B9C3B895DA}"/>
              </a:ext>
            </a:extLst>
          </p:cNvPr>
          <p:cNvGrpSpPr/>
          <p:nvPr/>
        </p:nvGrpSpPr>
        <p:grpSpPr>
          <a:xfrm>
            <a:off x="553336" y="868345"/>
            <a:ext cx="11133386" cy="768874"/>
            <a:chOff x="553336" y="868345"/>
            <a:chExt cx="11133386" cy="768874"/>
          </a:xfrm>
        </p:grpSpPr>
        <p:sp>
          <p:nvSpPr>
            <p:cNvPr id="4" name="Rectangle 3">
              <a:extLst>
                <a:ext uri="{FF2B5EF4-FFF2-40B4-BE49-F238E27FC236}">
                  <a16:creationId xmlns:a16="http://schemas.microsoft.com/office/drawing/2014/main" id="{06C42E18-6EF6-FCB0-50F5-2106519F5B6C}"/>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An environment is a separate copy of the system where an application is deployed for a specific purpose, developing, testing, or running in production.</a:t>
              </a:r>
              <a:endParaRPr lang="en-BE" sz="1400" i="1" dirty="0">
                <a:solidFill>
                  <a:schemeClr val="tx1"/>
                </a:solidFill>
                <a:latin typeface="Calibri (Body)"/>
              </a:endParaRPr>
            </a:p>
          </p:txBody>
        </p:sp>
        <p:sp>
          <p:nvSpPr>
            <p:cNvPr id="9" name="TextBox 8">
              <a:extLst>
                <a:ext uri="{FF2B5EF4-FFF2-40B4-BE49-F238E27FC236}">
                  <a16:creationId xmlns:a16="http://schemas.microsoft.com/office/drawing/2014/main" id="{3E6FF0B9-A339-7FB0-AE05-F77A7BB59BD1}"/>
                </a:ext>
              </a:extLst>
            </p:cNvPr>
            <p:cNvSpPr txBox="1"/>
            <p:nvPr/>
          </p:nvSpPr>
          <p:spPr>
            <a:xfrm>
              <a:off x="635387" y="868345"/>
              <a:ext cx="891488" cy="253916"/>
            </a:xfrm>
            <a:prstGeom prst="rect">
              <a:avLst/>
            </a:prstGeom>
            <a:solidFill>
              <a:schemeClr val="bg1"/>
            </a:solidFill>
          </p:spPr>
          <p:txBody>
            <a:bodyPr wrap="square">
              <a:spAutoFit/>
            </a:bodyPr>
            <a:lstStyle/>
            <a:p>
              <a:r>
                <a:rPr lang="en-US" sz="1050" i="1" dirty="0">
                  <a:latin typeface="Calibri (Body)"/>
                </a:rPr>
                <a:t>definition</a:t>
              </a:r>
              <a:endParaRPr lang="en-BE" sz="1050" i="1" dirty="0">
                <a:latin typeface="Calibri (Body)"/>
              </a:endParaRPr>
            </a:p>
          </p:txBody>
        </p:sp>
      </p:grpSp>
      <p:grpSp>
        <p:nvGrpSpPr>
          <p:cNvPr id="102" name="Group 101">
            <a:extLst>
              <a:ext uri="{FF2B5EF4-FFF2-40B4-BE49-F238E27FC236}">
                <a16:creationId xmlns:a16="http://schemas.microsoft.com/office/drawing/2014/main" id="{529B675B-9CE3-A921-97D9-D1C55506A055}"/>
              </a:ext>
            </a:extLst>
          </p:cNvPr>
          <p:cNvGrpSpPr/>
          <p:nvPr/>
        </p:nvGrpSpPr>
        <p:grpSpPr>
          <a:xfrm>
            <a:off x="538032" y="1681673"/>
            <a:ext cx="6802504" cy="4428851"/>
            <a:chOff x="538032" y="1681673"/>
            <a:chExt cx="6802504" cy="4428851"/>
          </a:xfrm>
        </p:grpSpPr>
        <p:sp>
          <p:nvSpPr>
            <p:cNvPr id="10" name="Rectangle 9">
              <a:extLst>
                <a:ext uri="{FF2B5EF4-FFF2-40B4-BE49-F238E27FC236}">
                  <a16:creationId xmlns:a16="http://schemas.microsoft.com/office/drawing/2014/main" id="{1D38A416-7746-E2F9-1D04-6298359B24B5}"/>
                </a:ext>
              </a:extLst>
            </p:cNvPr>
            <p:cNvSpPr/>
            <p:nvPr/>
          </p:nvSpPr>
          <p:spPr>
            <a:xfrm>
              <a:off x="632206" y="2333539"/>
              <a:ext cx="1532128"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Environment</a:t>
              </a:r>
              <a:endParaRPr lang="en-BE" sz="1200" b="1" dirty="0">
                <a:latin typeface="Calibri (Body)"/>
              </a:endParaRPr>
            </a:p>
          </p:txBody>
        </p:sp>
        <p:sp>
          <p:nvSpPr>
            <p:cNvPr id="11" name="Rectangle 10">
              <a:extLst>
                <a:ext uri="{FF2B5EF4-FFF2-40B4-BE49-F238E27FC236}">
                  <a16:creationId xmlns:a16="http://schemas.microsoft.com/office/drawing/2014/main" id="{BA069E25-BE63-B95C-B421-99C94D6EA44E}"/>
                </a:ext>
              </a:extLst>
            </p:cNvPr>
            <p:cNvSpPr/>
            <p:nvPr/>
          </p:nvSpPr>
          <p:spPr>
            <a:xfrm>
              <a:off x="2328079" y="2333539"/>
              <a:ext cx="1532128"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Purpose</a:t>
              </a:r>
              <a:endParaRPr lang="en-BE" sz="1200" b="1" dirty="0">
                <a:latin typeface="Calibri (Body)"/>
              </a:endParaRPr>
            </a:p>
          </p:txBody>
        </p:sp>
        <p:sp>
          <p:nvSpPr>
            <p:cNvPr id="12" name="Rectangle 11">
              <a:extLst>
                <a:ext uri="{FF2B5EF4-FFF2-40B4-BE49-F238E27FC236}">
                  <a16:creationId xmlns:a16="http://schemas.microsoft.com/office/drawing/2014/main" id="{5E3D5AE6-0505-8D47-463B-9495D544E7D6}"/>
                </a:ext>
              </a:extLst>
            </p:cNvPr>
            <p:cNvSpPr/>
            <p:nvPr/>
          </p:nvSpPr>
          <p:spPr>
            <a:xfrm>
              <a:off x="4023952" y="2333539"/>
              <a:ext cx="1532128"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Who Uses It?</a:t>
              </a:r>
              <a:endParaRPr lang="en-BE" sz="1200" b="1" dirty="0">
                <a:latin typeface="Calibri (Body)"/>
              </a:endParaRPr>
            </a:p>
          </p:txBody>
        </p:sp>
        <p:sp>
          <p:nvSpPr>
            <p:cNvPr id="13" name="Rectangle 12">
              <a:extLst>
                <a:ext uri="{FF2B5EF4-FFF2-40B4-BE49-F238E27FC236}">
                  <a16:creationId xmlns:a16="http://schemas.microsoft.com/office/drawing/2014/main" id="{B631B27D-7F3A-7766-3C28-CA5087738C65}"/>
                </a:ext>
              </a:extLst>
            </p:cNvPr>
            <p:cNvSpPr/>
            <p:nvPr/>
          </p:nvSpPr>
          <p:spPr>
            <a:xfrm>
              <a:off x="5719825" y="2333539"/>
              <a:ext cx="1532128" cy="2401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Typical Characteristic</a:t>
              </a:r>
              <a:endParaRPr lang="en-BE" sz="1200" b="1" dirty="0">
                <a:latin typeface="Calibri (Body)"/>
              </a:endParaRPr>
            </a:p>
          </p:txBody>
        </p:sp>
        <p:grpSp>
          <p:nvGrpSpPr>
            <p:cNvPr id="64" name="Group 63">
              <a:extLst>
                <a:ext uri="{FF2B5EF4-FFF2-40B4-BE49-F238E27FC236}">
                  <a16:creationId xmlns:a16="http://schemas.microsoft.com/office/drawing/2014/main" id="{609A8C01-3A48-0136-BFCA-0C7FD0F7F97A}"/>
                </a:ext>
              </a:extLst>
            </p:cNvPr>
            <p:cNvGrpSpPr/>
            <p:nvPr/>
          </p:nvGrpSpPr>
          <p:grpSpPr>
            <a:xfrm>
              <a:off x="657222" y="2670835"/>
              <a:ext cx="6594731" cy="639878"/>
              <a:chOff x="522729" y="2385038"/>
              <a:chExt cx="6625338" cy="639878"/>
            </a:xfrm>
          </p:grpSpPr>
          <p:sp>
            <p:nvSpPr>
              <p:cNvPr id="15" name="Rectangle 14">
                <a:extLst>
                  <a:ext uri="{FF2B5EF4-FFF2-40B4-BE49-F238E27FC236}">
                    <a16:creationId xmlns:a16="http://schemas.microsoft.com/office/drawing/2014/main" id="{7112A630-6CC1-135C-BAAB-48861E34FC0B}"/>
                  </a:ext>
                </a:extLst>
              </p:cNvPr>
              <p:cNvSpPr/>
              <p:nvPr/>
            </p:nvSpPr>
            <p:spPr>
              <a:xfrm>
                <a:off x="522729" y="238503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Body)"/>
                  </a:rPr>
                  <a:t>DEV</a:t>
                </a:r>
                <a:endParaRPr lang="en-BE" sz="1200" b="1" dirty="0">
                  <a:solidFill>
                    <a:schemeClr val="tx1"/>
                  </a:solidFill>
                  <a:latin typeface="Calibri (Body)"/>
                </a:endParaRPr>
              </a:p>
            </p:txBody>
          </p:sp>
          <p:sp>
            <p:nvSpPr>
              <p:cNvPr id="27" name="Rectangle 26">
                <a:extLst>
                  <a:ext uri="{FF2B5EF4-FFF2-40B4-BE49-F238E27FC236}">
                    <a16:creationId xmlns:a16="http://schemas.microsoft.com/office/drawing/2014/main" id="{20599357-464F-DFF5-5D6D-5AECB0EE16DF}"/>
                  </a:ext>
                </a:extLst>
              </p:cNvPr>
              <p:cNvSpPr/>
              <p:nvPr/>
            </p:nvSpPr>
            <p:spPr>
              <a:xfrm>
                <a:off x="2224193" y="238503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Where developers write and test features.</a:t>
                </a:r>
              </a:p>
            </p:txBody>
          </p:sp>
          <p:sp>
            <p:nvSpPr>
              <p:cNvPr id="34" name="Rectangle 33">
                <a:extLst>
                  <a:ext uri="{FF2B5EF4-FFF2-40B4-BE49-F238E27FC236}">
                    <a16:creationId xmlns:a16="http://schemas.microsoft.com/office/drawing/2014/main" id="{64291205-FE71-9AD3-3450-8C7CB7B5719E}"/>
                  </a:ext>
                </a:extLst>
              </p:cNvPr>
              <p:cNvSpPr/>
              <p:nvPr/>
            </p:nvSpPr>
            <p:spPr>
              <a:xfrm>
                <a:off x="3920066" y="238503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Developers</a:t>
                </a:r>
                <a:endParaRPr lang="en-BE" sz="1200" dirty="0">
                  <a:solidFill>
                    <a:schemeClr val="tx1"/>
                  </a:solidFill>
                  <a:latin typeface="Calibri (Body)"/>
                </a:endParaRPr>
              </a:p>
            </p:txBody>
          </p:sp>
          <p:sp>
            <p:nvSpPr>
              <p:cNvPr id="44" name="Rectangle 43">
                <a:extLst>
                  <a:ext uri="{FF2B5EF4-FFF2-40B4-BE49-F238E27FC236}">
                    <a16:creationId xmlns:a16="http://schemas.microsoft.com/office/drawing/2014/main" id="{AFDEE7BC-D1BA-DEA5-8DFA-71948FD8E160}"/>
                  </a:ext>
                </a:extLst>
              </p:cNvPr>
              <p:cNvSpPr/>
              <p:nvPr/>
            </p:nvSpPr>
            <p:spPr>
              <a:xfrm>
                <a:off x="5615939" y="238503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Frequent code changes, unstable.</a:t>
                </a:r>
                <a:endParaRPr lang="en-BE" sz="1200" dirty="0">
                  <a:solidFill>
                    <a:schemeClr val="tx1"/>
                  </a:solidFill>
                  <a:latin typeface="Calibri (Body)"/>
                </a:endParaRPr>
              </a:p>
            </p:txBody>
          </p:sp>
        </p:grpSp>
        <p:grpSp>
          <p:nvGrpSpPr>
            <p:cNvPr id="63" name="Group 62">
              <a:extLst>
                <a:ext uri="{FF2B5EF4-FFF2-40B4-BE49-F238E27FC236}">
                  <a16:creationId xmlns:a16="http://schemas.microsoft.com/office/drawing/2014/main" id="{C3FF9A51-B48B-C767-CDAB-43EC5B556E1A}"/>
                </a:ext>
              </a:extLst>
            </p:cNvPr>
            <p:cNvGrpSpPr/>
            <p:nvPr/>
          </p:nvGrpSpPr>
          <p:grpSpPr>
            <a:xfrm>
              <a:off x="626615" y="3471455"/>
              <a:ext cx="6625338" cy="639878"/>
              <a:chOff x="522729" y="3248794"/>
              <a:chExt cx="6625338" cy="639878"/>
            </a:xfrm>
          </p:grpSpPr>
          <p:sp>
            <p:nvSpPr>
              <p:cNvPr id="18" name="Rectangle 17">
                <a:extLst>
                  <a:ext uri="{FF2B5EF4-FFF2-40B4-BE49-F238E27FC236}">
                    <a16:creationId xmlns:a16="http://schemas.microsoft.com/office/drawing/2014/main" id="{6999CD4B-E437-F2F4-8EBC-A25A8F93A4E0}"/>
                  </a:ext>
                </a:extLst>
              </p:cNvPr>
              <p:cNvSpPr/>
              <p:nvPr/>
            </p:nvSpPr>
            <p:spPr>
              <a:xfrm>
                <a:off x="522729" y="3248794"/>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Body)"/>
                  </a:rPr>
                  <a:t>Testing / QA</a:t>
                </a:r>
                <a:endParaRPr lang="en-BE" sz="1200" b="1" dirty="0">
                  <a:solidFill>
                    <a:schemeClr val="tx1"/>
                  </a:solidFill>
                  <a:latin typeface="Calibri (Body)"/>
                </a:endParaRPr>
              </a:p>
            </p:txBody>
          </p:sp>
          <p:sp>
            <p:nvSpPr>
              <p:cNvPr id="28" name="Rectangle 27">
                <a:extLst>
                  <a:ext uri="{FF2B5EF4-FFF2-40B4-BE49-F238E27FC236}">
                    <a16:creationId xmlns:a16="http://schemas.microsoft.com/office/drawing/2014/main" id="{B9FDA2DD-A704-39BD-3054-503009634112}"/>
                  </a:ext>
                </a:extLst>
              </p:cNvPr>
              <p:cNvSpPr/>
              <p:nvPr/>
            </p:nvSpPr>
            <p:spPr>
              <a:xfrm>
                <a:off x="2224193" y="3248794"/>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Used to run automated tests and integration checks.</a:t>
                </a:r>
                <a:endParaRPr lang="en-BE" sz="1200" dirty="0">
                  <a:solidFill>
                    <a:schemeClr val="tx1"/>
                  </a:solidFill>
                  <a:latin typeface="Calibri (Body)"/>
                </a:endParaRPr>
              </a:p>
            </p:txBody>
          </p:sp>
          <p:sp>
            <p:nvSpPr>
              <p:cNvPr id="39" name="Rectangle 38">
                <a:extLst>
                  <a:ext uri="{FF2B5EF4-FFF2-40B4-BE49-F238E27FC236}">
                    <a16:creationId xmlns:a16="http://schemas.microsoft.com/office/drawing/2014/main" id="{78E8F883-1BE0-3DD3-6482-82D2968993A7}"/>
                  </a:ext>
                </a:extLst>
              </p:cNvPr>
              <p:cNvSpPr/>
              <p:nvPr/>
            </p:nvSpPr>
            <p:spPr>
              <a:xfrm>
                <a:off x="3920066" y="3248794"/>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QAs / Testers</a:t>
                </a:r>
                <a:endParaRPr lang="en-BE" sz="1200" dirty="0">
                  <a:solidFill>
                    <a:schemeClr val="tx1"/>
                  </a:solidFill>
                  <a:latin typeface="Calibri (Body)"/>
                </a:endParaRPr>
              </a:p>
            </p:txBody>
          </p:sp>
          <p:sp>
            <p:nvSpPr>
              <p:cNvPr id="45" name="Rectangle 44">
                <a:extLst>
                  <a:ext uri="{FF2B5EF4-FFF2-40B4-BE49-F238E27FC236}">
                    <a16:creationId xmlns:a16="http://schemas.microsoft.com/office/drawing/2014/main" id="{81287BF2-2B60-98EA-C223-B70A315D124E}"/>
                  </a:ext>
                </a:extLst>
              </p:cNvPr>
              <p:cNvSpPr/>
              <p:nvPr/>
            </p:nvSpPr>
            <p:spPr>
              <a:xfrm>
                <a:off x="5615939" y="3248794"/>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Fake data, frequent resets.</a:t>
                </a:r>
                <a:endParaRPr lang="en-BE" sz="1200" dirty="0">
                  <a:solidFill>
                    <a:schemeClr val="tx1"/>
                  </a:solidFill>
                  <a:latin typeface="Calibri (Body)"/>
                </a:endParaRPr>
              </a:p>
            </p:txBody>
          </p:sp>
        </p:grpSp>
        <p:grpSp>
          <p:nvGrpSpPr>
            <p:cNvPr id="62" name="Group 61">
              <a:extLst>
                <a:ext uri="{FF2B5EF4-FFF2-40B4-BE49-F238E27FC236}">
                  <a16:creationId xmlns:a16="http://schemas.microsoft.com/office/drawing/2014/main" id="{FA33BAF1-8009-A6D4-4488-5AB7BA58AC9D}"/>
                </a:ext>
              </a:extLst>
            </p:cNvPr>
            <p:cNvGrpSpPr/>
            <p:nvPr/>
          </p:nvGrpSpPr>
          <p:grpSpPr>
            <a:xfrm>
              <a:off x="626615" y="4272075"/>
              <a:ext cx="6625338" cy="639878"/>
              <a:chOff x="522729" y="4064018"/>
              <a:chExt cx="6625338" cy="639878"/>
            </a:xfrm>
          </p:grpSpPr>
          <p:sp>
            <p:nvSpPr>
              <p:cNvPr id="21" name="Rectangle 20">
                <a:extLst>
                  <a:ext uri="{FF2B5EF4-FFF2-40B4-BE49-F238E27FC236}">
                    <a16:creationId xmlns:a16="http://schemas.microsoft.com/office/drawing/2014/main" id="{B0815A79-BE05-7776-D3D5-3349CA7044A1}"/>
                  </a:ext>
                </a:extLst>
              </p:cNvPr>
              <p:cNvSpPr/>
              <p:nvPr/>
            </p:nvSpPr>
            <p:spPr>
              <a:xfrm>
                <a:off x="522729" y="406401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Body)"/>
                  </a:rPr>
                  <a:t>STAGING / PREPROD / UAT</a:t>
                </a:r>
                <a:endParaRPr lang="en-BE" sz="1200" b="1" dirty="0">
                  <a:solidFill>
                    <a:schemeClr val="tx1"/>
                  </a:solidFill>
                  <a:latin typeface="Calibri (Body)"/>
                </a:endParaRPr>
              </a:p>
            </p:txBody>
          </p:sp>
          <p:sp>
            <p:nvSpPr>
              <p:cNvPr id="31" name="Rectangle 30">
                <a:extLst>
                  <a:ext uri="{FF2B5EF4-FFF2-40B4-BE49-F238E27FC236}">
                    <a16:creationId xmlns:a16="http://schemas.microsoft.com/office/drawing/2014/main" id="{73AFABE0-54B3-3133-6DD2-BAC3870455E2}"/>
                  </a:ext>
                </a:extLst>
              </p:cNvPr>
              <p:cNvSpPr/>
              <p:nvPr/>
            </p:nvSpPr>
            <p:spPr>
              <a:xfrm>
                <a:off x="2224193" y="406401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Replica of production for validation before release.</a:t>
                </a:r>
                <a:endParaRPr lang="en-BE" sz="1200" dirty="0">
                  <a:solidFill>
                    <a:schemeClr val="tx1"/>
                  </a:solidFill>
                  <a:latin typeface="Calibri (Body)"/>
                </a:endParaRPr>
              </a:p>
            </p:txBody>
          </p:sp>
          <p:sp>
            <p:nvSpPr>
              <p:cNvPr id="42" name="Rectangle 41">
                <a:extLst>
                  <a:ext uri="{FF2B5EF4-FFF2-40B4-BE49-F238E27FC236}">
                    <a16:creationId xmlns:a16="http://schemas.microsoft.com/office/drawing/2014/main" id="{16556DD0-AC40-AAC1-A93E-7DA5D300ABDE}"/>
                  </a:ext>
                </a:extLst>
              </p:cNvPr>
              <p:cNvSpPr/>
              <p:nvPr/>
            </p:nvSpPr>
            <p:spPr>
              <a:xfrm>
                <a:off x="3920066" y="406401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Developers + Operational Teams</a:t>
                </a:r>
                <a:endParaRPr lang="en-BE" sz="1200" dirty="0">
                  <a:solidFill>
                    <a:schemeClr val="tx1"/>
                  </a:solidFill>
                  <a:latin typeface="Calibri (Body)"/>
                </a:endParaRPr>
              </a:p>
            </p:txBody>
          </p:sp>
          <p:sp>
            <p:nvSpPr>
              <p:cNvPr id="46" name="Rectangle 45">
                <a:extLst>
                  <a:ext uri="{FF2B5EF4-FFF2-40B4-BE49-F238E27FC236}">
                    <a16:creationId xmlns:a16="http://schemas.microsoft.com/office/drawing/2014/main" id="{AC97418C-EEBC-3B7C-B358-3AD8C5B74C59}"/>
                  </a:ext>
                </a:extLst>
              </p:cNvPr>
              <p:cNvSpPr/>
              <p:nvPr/>
            </p:nvSpPr>
            <p:spPr>
              <a:xfrm>
                <a:off x="5615939" y="4064018"/>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Same configs as PROD.</a:t>
                </a:r>
                <a:endParaRPr lang="en-BE" sz="1200" dirty="0">
                  <a:solidFill>
                    <a:schemeClr val="tx1"/>
                  </a:solidFill>
                  <a:latin typeface="Calibri (Body)"/>
                </a:endParaRPr>
              </a:p>
            </p:txBody>
          </p:sp>
        </p:grpSp>
        <p:grpSp>
          <p:nvGrpSpPr>
            <p:cNvPr id="54" name="Group 53">
              <a:extLst>
                <a:ext uri="{FF2B5EF4-FFF2-40B4-BE49-F238E27FC236}">
                  <a16:creationId xmlns:a16="http://schemas.microsoft.com/office/drawing/2014/main" id="{29EDEF4F-2289-B7FE-5969-19B4BDE091EB}"/>
                </a:ext>
              </a:extLst>
            </p:cNvPr>
            <p:cNvGrpSpPr/>
            <p:nvPr/>
          </p:nvGrpSpPr>
          <p:grpSpPr>
            <a:xfrm>
              <a:off x="626615" y="5072695"/>
              <a:ext cx="6625338" cy="639878"/>
              <a:chOff x="522729" y="4879242"/>
              <a:chExt cx="6625338" cy="639878"/>
            </a:xfrm>
          </p:grpSpPr>
          <p:sp>
            <p:nvSpPr>
              <p:cNvPr id="23" name="Rectangle 22">
                <a:extLst>
                  <a:ext uri="{FF2B5EF4-FFF2-40B4-BE49-F238E27FC236}">
                    <a16:creationId xmlns:a16="http://schemas.microsoft.com/office/drawing/2014/main" id="{60B6F117-FBE1-0CB2-737C-CB8B821B57E2}"/>
                  </a:ext>
                </a:extLst>
              </p:cNvPr>
              <p:cNvSpPr/>
              <p:nvPr/>
            </p:nvSpPr>
            <p:spPr>
              <a:xfrm>
                <a:off x="522729" y="4879242"/>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Body)"/>
                  </a:rPr>
                  <a:t>PRODUCTION</a:t>
                </a:r>
                <a:endParaRPr lang="en-BE" sz="1200" b="1" dirty="0">
                  <a:solidFill>
                    <a:schemeClr val="tx1"/>
                  </a:solidFill>
                  <a:latin typeface="Calibri (Body)"/>
                </a:endParaRPr>
              </a:p>
            </p:txBody>
          </p:sp>
          <p:sp>
            <p:nvSpPr>
              <p:cNvPr id="32" name="Rectangle 31">
                <a:extLst>
                  <a:ext uri="{FF2B5EF4-FFF2-40B4-BE49-F238E27FC236}">
                    <a16:creationId xmlns:a16="http://schemas.microsoft.com/office/drawing/2014/main" id="{CCA979FA-BC61-C94B-B437-750BCF687C01}"/>
                  </a:ext>
                </a:extLst>
              </p:cNvPr>
              <p:cNvSpPr/>
              <p:nvPr/>
            </p:nvSpPr>
            <p:spPr>
              <a:xfrm>
                <a:off x="2224193" y="4879242"/>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Live system used by real users.</a:t>
                </a:r>
                <a:endParaRPr lang="en-BE" sz="1200" dirty="0">
                  <a:solidFill>
                    <a:schemeClr val="tx1"/>
                  </a:solidFill>
                  <a:latin typeface="Calibri (Body)"/>
                </a:endParaRPr>
              </a:p>
            </p:txBody>
          </p:sp>
          <p:sp>
            <p:nvSpPr>
              <p:cNvPr id="43" name="Rectangle 42">
                <a:extLst>
                  <a:ext uri="{FF2B5EF4-FFF2-40B4-BE49-F238E27FC236}">
                    <a16:creationId xmlns:a16="http://schemas.microsoft.com/office/drawing/2014/main" id="{4B62C55B-9442-AF35-9C37-57EE4921F657}"/>
                  </a:ext>
                </a:extLst>
              </p:cNvPr>
              <p:cNvSpPr/>
              <p:nvPr/>
            </p:nvSpPr>
            <p:spPr>
              <a:xfrm>
                <a:off x="3920066" y="4879242"/>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End Users (Operational Teams)</a:t>
                </a:r>
                <a:endParaRPr lang="en-BE" sz="1200" dirty="0">
                  <a:solidFill>
                    <a:schemeClr val="tx1"/>
                  </a:solidFill>
                  <a:latin typeface="Calibri (Body)"/>
                </a:endParaRPr>
              </a:p>
            </p:txBody>
          </p:sp>
          <p:sp>
            <p:nvSpPr>
              <p:cNvPr id="47" name="Rectangle 46">
                <a:extLst>
                  <a:ext uri="{FF2B5EF4-FFF2-40B4-BE49-F238E27FC236}">
                    <a16:creationId xmlns:a16="http://schemas.microsoft.com/office/drawing/2014/main" id="{3AA63EAB-69E8-F382-DF56-541B9B4E85B6}"/>
                  </a:ext>
                </a:extLst>
              </p:cNvPr>
              <p:cNvSpPr/>
              <p:nvPr/>
            </p:nvSpPr>
            <p:spPr>
              <a:xfrm>
                <a:off x="5615939" y="4879242"/>
                <a:ext cx="1532128" cy="639878"/>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libri (Body)"/>
                  </a:rPr>
                  <a:t>Stable, monitored 24/7.</a:t>
                </a:r>
                <a:endParaRPr lang="en-BE" sz="1200" dirty="0">
                  <a:solidFill>
                    <a:schemeClr val="tx1"/>
                  </a:solidFill>
                  <a:latin typeface="Calibri (Body)"/>
                </a:endParaRPr>
              </a:p>
            </p:txBody>
          </p:sp>
        </p:grpSp>
        <p:sp>
          <p:nvSpPr>
            <p:cNvPr id="66" name="Rectangle 65">
              <a:extLst>
                <a:ext uri="{FF2B5EF4-FFF2-40B4-BE49-F238E27FC236}">
                  <a16:creationId xmlns:a16="http://schemas.microsoft.com/office/drawing/2014/main" id="{5E743BAF-978A-5625-FC08-38AD69F3FFD2}"/>
                </a:ext>
              </a:extLst>
            </p:cNvPr>
            <p:cNvSpPr/>
            <p:nvPr/>
          </p:nvSpPr>
          <p:spPr>
            <a:xfrm>
              <a:off x="538032" y="1837685"/>
              <a:ext cx="6802504" cy="427283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BE" sz="1400" i="1" dirty="0">
                <a:solidFill>
                  <a:schemeClr val="tx1"/>
                </a:solidFill>
                <a:latin typeface="Calibri (Body)"/>
              </a:endParaRPr>
            </a:p>
          </p:txBody>
        </p:sp>
        <p:sp>
          <p:nvSpPr>
            <p:cNvPr id="70" name="TextBox 69">
              <a:extLst>
                <a:ext uri="{FF2B5EF4-FFF2-40B4-BE49-F238E27FC236}">
                  <a16:creationId xmlns:a16="http://schemas.microsoft.com/office/drawing/2014/main" id="{D236A674-F7DD-AB74-596A-4677365358FC}"/>
                </a:ext>
              </a:extLst>
            </p:cNvPr>
            <p:cNvSpPr txBox="1"/>
            <p:nvPr/>
          </p:nvSpPr>
          <p:spPr>
            <a:xfrm>
              <a:off x="635386" y="1681673"/>
              <a:ext cx="1623943" cy="253916"/>
            </a:xfrm>
            <a:prstGeom prst="rect">
              <a:avLst/>
            </a:prstGeom>
            <a:solidFill>
              <a:schemeClr val="bg1"/>
            </a:solidFill>
          </p:spPr>
          <p:txBody>
            <a:bodyPr wrap="square">
              <a:spAutoFit/>
            </a:bodyPr>
            <a:lstStyle/>
            <a:p>
              <a:r>
                <a:rPr lang="en-US" sz="1050" i="1" dirty="0">
                  <a:latin typeface="Calibri (Body)"/>
                </a:rPr>
                <a:t>Environment Types</a:t>
              </a:r>
              <a:endParaRPr lang="en-BE" sz="1050" i="1" dirty="0">
                <a:latin typeface="Calibri (Body)"/>
              </a:endParaRPr>
            </a:p>
          </p:txBody>
        </p:sp>
        <p:cxnSp>
          <p:nvCxnSpPr>
            <p:cNvPr id="76" name="Straight Connector 75">
              <a:extLst>
                <a:ext uri="{FF2B5EF4-FFF2-40B4-BE49-F238E27FC236}">
                  <a16:creationId xmlns:a16="http://schemas.microsoft.com/office/drawing/2014/main" id="{4890BD5E-33E1-12E0-7CA9-A29585C6B78B}"/>
                </a:ext>
              </a:extLst>
            </p:cNvPr>
            <p:cNvCxnSpPr>
              <a:cxnSpLocks/>
            </p:cNvCxnSpPr>
            <p:nvPr/>
          </p:nvCxnSpPr>
          <p:spPr>
            <a:xfrm>
              <a:off x="888521" y="3391084"/>
              <a:ext cx="6090249" cy="0"/>
            </a:xfrm>
            <a:prstGeom prst="line">
              <a:avLst/>
            </a:prstGeom>
            <a:ln w="12700">
              <a:prstDash val="solid"/>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EC1483A7-55D6-22DE-F9A8-4935D1BF8219}"/>
                </a:ext>
              </a:extLst>
            </p:cNvPr>
            <p:cNvCxnSpPr/>
            <p:nvPr/>
          </p:nvCxnSpPr>
          <p:spPr>
            <a:xfrm>
              <a:off x="888521" y="4191704"/>
              <a:ext cx="6090249" cy="0"/>
            </a:xfrm>
            <a:prstGeom prst="line">
              <a:avLst/>
            </a:prstGeom>
            <a:ln w="12700">
              <a:prstDash val="solid"/>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1782A8AD-DFC6-3135-790F-965BB8F3D8E3}"/>
                </a:ext>
              </a:extLst>
            </p:cNvPr>
            <p:cNvCxnSpPr/>
            <p:nvPr/>
          </p:nvCxnSpPr>
          <p:spPr>
            <a:xfrm>
              <a:off x="888521" y="4992324"/>
              <a:ext cx="6090249" cy="0"/>
            </a:xfrm>
            <a:prstGeom prst="line">
              <a:avLst/>
            </a:prstGeom>
            <a:ln w="12700">
              <a:prstDash val="solid"/>
            </a:ln>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EE554427-7CA4-20D4-5379-79B00DB589EF}"/>
              </a:ext>
            </a:extLst>
          </p:cNvPr>
          <p:cNvGrpSpPr/>
          <p:nvPr/>
        </p:nvGrpSpPr>
        <p:grpSpPr>
          <a:xfrm>
            <a:off x="7448309" y="1651849"/>
            <a:ext cx="2750930" cy="307777"/>
            <a:chOff x="7448309" y="802039"/>
            <a:chExt cx="2750930" cy="307777"/>
          </a:xfrm>
        </p:grpSpPr>
        <p:sp>
          <p:nvSpPr>
            <p:cNvPr id="82" name="TextBox 81">
              <a:extLst>
                <a:ext uri="{FF2B5EF4-FFF2-40B4-BE49-F238E27FC236}">
                  <a16:creationId xmlns:a16="http://schemas.microsoft.com/office/drawing/2014/main" id="{61CD45A1-D104-4752-60F6-9CA0109A61EA}"/>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Why </a:t>
              </a:r>
              <a:r>
                <a:rPr lang="en-US" sz="1400" b="1" dirty="0">
                  <a:latin typeface="Calibri (Body)"/>
                </a:rPr>
                <a:t>Multiple Environments?</a:t>
              </a:r>
              <a:endParaRPr lang="en-BE" sz="1400" b="1" dirty="0">
                <a:latin typeface="Calibri (Body)"/>
              </a:endParaRPr>
            </a:p>
          </p:txBody>
        </p:sp>
        <p:cxnSp>
          <p:nvCxnSpPr>
            <p:cNvPr id="83" name="Straight Connector 82">
              <a:extLst>
                <a:ext uri="{FF2B5EF4-FFF2-40B4-BE49-F238E27FC236}">
                  <a16:creationId xmlns:a16="http://schemas.microsoft.com/office/drawing/2014/main" id="{88189265-8C05-A8BD-36D8-80DF0D598924}"/>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98" name="Group 97">
            <a:extLst>
              <a:ext uri="{FF2B5EF4-FFF2-40B4-BE49-F238E27FC236}">
                <a16:creationId xmlns:a16="http://schemas.microsoft.com/office/drawing/2014/main" id="{31FFF08F-CCDB-5925-8C28-E8E8CAC31812}"/>
              </a:ext>
            </a:extLst>
          </p:cNvPr>
          <p:cNvGrpSpPr/>
          <p:nvPr/>
        </p:nvGrpSpPr>
        <p:grpSpPr>
          <a:xfrm>
            <a:off x="7414942" y="1988757"/>
            <a:ext cx="4269058" cy="850263"/>
            <a:chOff x="7414942" y="2102106"/>
            <a:chExt cx="4269058" cy="850263"/>
          </a:xfrm>
        </p:grpSpPr>
        <p:sp>
          <p:nvSpPr>
            <p:cNvPr id="85" name="Rectangle 84">
              <a:extLst>
                <a:ext uri="{FF2B5EF4-FFF2-40B4-BE49-F238E27FC236}">
                  <a16:creationId xmlns:a16="http://schemas.microsoft.com/office/drawing/2014/main" id="{DE1B1388-8FF3-6121-CE81-41431DB3BD2A}"/>
                </a:ext>
              </a:extLst>
            </p:cNvPr>
            <p:cNvSpPr/>
            <p:nvPr/>
          </p:nvSpPr>
          <p:spPr>
            <a:xfrm>
              <a:off x="7503524" y="2192106"/>
              <a:ext cx="4180476" cy="760263"/>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Isolate Development from Production.</a:t>
              </a:r>
            </a:p>
            <a:p>
              <a:pPr marL="171450" indent="-171450" algn="just">
                <a:buFont typeface="Arial" panose="020B0604020202020204" pitchFamily="34" charset="0"/>
                <a:buChar char="•"/>
              </a:pPr>
              <a:r>
                <a:rPr lang="en-US" sz="1200" dirty="0">
                  <a:solidFill>
                    <a:schemeClr val="tx1"/>
                  </a:solidFill>
                  <a:latin typeface="Calibri (Body)"/>
                </a:rPr>
                <a:t>Developers constantly change code; they break things.</a:t>
              </a:r>
            </a:p>
            <a:p>
              <a:pPr marL="171450" indent="-171450" algn="just">
                <a:buFont typeface="Arial" panose="020B0604020202020204" pitchFamily="34" charset="0"/>
                <a:buChar char="•"/>
              </a:pPr>
              <a:r>
                <a:rPr lang="en-US" sz="1200" dirty="0">
                  <a:solidFill>
                    <a:schemeClr val="tx1"/>
                  </a:solidFill>
                  <a:latin typeface="Calibri (Body)"/>
                </a:rPr>
                <a:t>In a mono-environment set-up, one small mistake can make the entire system crash and impact users</a:t>
              </a:r>
            </a:p>
          </p:txBody>
        </p:sp>
        <p:sp>
          <p:nvSpPr>
            <p:cNvPr id="86" name="Oval 85">
              <a:extLst>
                <a:ext uri="{FF2B5EF4-FFF2-40B4-BE49-F238E27FC236}">
                  <a16:creationId xmlns:a16="http://schemas.microsoft.com/office/drawing/2014/main" id="{56DD9C0D-0E08-53FF-C521-E4F88700970B}"/>
                </a:ext>
              </a:extLst>
            </p:cNvPr>
            <p:cNvSpPr>
              <a:spLocks noChangeAspect="1"/>
            </p:cNvSpPr>
            <p:nvPr/>
          </p:nvSpPr>
          <p:spPr>
            <a:xfrm>
              <a:off x="7414942" y="2102106"/>
              <a:ext cx="180000" cy="18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1200" b="1" dirty="0">
                  <a:solidFill>
                    <a:schemeClr val="tx1"/>
                  </a:solidFill>
                </a:rPr>
                <a:t>1</a:t>
              </a:r>
            </a:p>
          </p:txBody>
        </p:sp>
      </p:grpSp>
      <p:grpSp>
        <p:nvGrpSpPr>
          <p:cNvPr id="99" name="Group 98">
            <a:extLst>
              <a:ext uri="{FF2B5EF4-FFF2-40B4-BE49-F238E27FC236}">
                <a16:creationId xmlns:a16="http://schemas.microsoft.com/office/drawing/2014/main" id="{A9D1B95D-69CC-F47B-C6AC-6FD204024161}"/>
              </a:ext>
            </a:extLst>
          </p:cNvPr>
          <p:cNvGrpSpPr/>
          <p:nvPr/>
        </p:nvGrpSpPr>
        <p:grpSpPr>
          <a:xfrm>
            <a:off x="7414942" y="2902901"/>
            <a:ext cx="4269058" cy="1079276"/>
            <a:chOff x="7414942" y="3106225"/>
            <a:chExt cx="4269058" cy="1079276"/>
          </a:xfrm>
        </p:grpSpPr>
        <p:sp>
          <p:nvSpPr>
            <p:cNvPr id="90" name="Rectangle 89">
              <a:extLst>
                <a:ext uri="{FF2B5EF4-FFF2-40B4-BE49-F238E27FC236}">
                  <a16:creationId xmlns:a16="http://schemas.microsoft.com/office/drawing/2014/main" id="{37C86E39-6038-EEB6-FF1A-F708EDC6A652}"/>
                </a:ext>
              </a:extLst>
            </p:cNvPr>
            <p:cNvSpPr/>
            <p:nvPr/>
          </p:nvSpPr>
          <p:spPr>
            <a:xfrm>
              <a:off x="7503524" y="3196225"/>
              <a:ext cx="4180476" cy="989276"/>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Enable Continuous Testing and Integration</a:t>
              </a:r>
            </a:p>
            <a:p>
              <a:pPr marL="171450" indent="-171450" algn="just">
                <a:buFont typeface="Arial" panose="020B0604020202020204" pitchFamily="34" charset="0"/>
                <a:buChar char="•"/>
              </a:pPr>
              <a:r>
                <a:rPr lang="en-US" sz="1200" dirty="0">
                  <a:solidFill>
                    <a:schemeClr val="tx1"/>
                  </a:solidFill>
                  <a:latin typeface="Calibri (Body)"/>
                </a:rPr>
                <a:t>When multiple developers work on microservices, changes from different teams need to be validated together.</a:t>
              </a:r>
            </a:p>
            <a:p>
              <a:pPr marL="171450" indent="-171450" algn="just">
                <a:buFont typeface="Arial" panose="020B0604020202020204" pitchFamily="34" charset="0"/>
                <a:buChar char="•"/>
              </a:pPr>
              <a:r>
                <a:rPr lang="en-US" sz="1200" dirty="0">
                  <a:solidFill>
                    <a:schemeClr val="tx1"/>
                  </a:solidFill>
                  <a:latin typeface="Calibri (Body)"/>
                </a:rPr>
                <a:t>Test environments integrate all microservices to detect compatibility or versioning issues.</a:t>
              </a:r>
            </a:p>
          </p:txBody>
        </p:sp>
        <p:sp>
          <p:nvSpPr>
            <p:cNvPr id="91" name="Oval 90">
              <a:extLst>
                <a:ext uri="{FF2B5EF4-FFF2-40B4-BE49-F238E27FC236}">
                  <a16:creationId xmlns:a16="http://schemas.microsoft.com/office/drawing/2014/main" id="{FFCE6106-B808-CCE3-EA49-B3BD4EE04D3F}"/>
                </a:ext>
              </a:extLst>
            </p:cNvPr>
            <p:cNvSpPr>
              <a:spLocks noChangeAspect="1"/>
            </p:cNvSpPr>
            <p:nvPr/>
          </p:nvSpPr>
          <p:spPr>
            <a:xfrm>
              <a:off x="7414942" y="3106225"/>
              <a:ext cx="180000" cy="18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a:t>
              </a:r>
              <a:endParaRPr lang="en-BE" sz="1200" b="1" dirty="0">
                <a:solidFill>
                  <a:schemeClr val="tx1"/>
                </a:solidFill>
              </a:endParaRPr>
            </a:p>
          </p:txBody>
        </p:sp>
      </p:grpSp>
      <p:grpSp>
        <p:nvGrpSpPr>
          <p:cNvPr id="100" name="Group 99">
            <a:extLst>
              <a:ext uri="{FF2B5EF4-FFF2-40B4-BE49-F238E27FC236}">
                <a16:creationId xmlns:a16="http://schemas.microsoft.com/office/drawing/2014/main" id="{AAE4B8FF-15C3-F20B-62D5-A54D21B7327E}"/>
              </a:ext>
            </a:extLst>
          </p:cNvPr>
          <p:cNvGrpSpPr/>
          <p:nvPr/>
        </p:nvGrpSpPr>
        <p:grpSpPr>
          <a:xfrm>
            <a:off x="7414942" y="4046058"/>
            <a:ext cx="4269058" cy="1061956"/>
            <a:chOff x="7414942" y="4300270"/>
            <a:chExt cx="4269058" cy="1061956"/>
          </a:xfrm>
        </p:grpSpPr>
        <p:sp>
          <p:nvSpPr>
            <p:cNvPr id="93" name="Rectangle 92">
              <a:extLst>
                <a:ext uri="{FF2B5EF4-FFF2-40B4-BE49-F238E27FC236}">
                  <a16:creationId xmlns:a16="http://schemas.microsoft.com/office/drawing/2014/main" id="{E7C90491-B035-424D-57B5-98858F4A290E}"/>
                </a:ext>
              </a:extLst>
            </p:cNvPr>
            <p:cNvSpPr/>
            <p:nvPr/>
          </p:nvSpPr>
          <p:spPr>
            <a:xfrm>
              <a:off x="7503524" y="4390270"/>
              <a:ext cx="4180476" cy="971956"/>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Protect Real Data and Privacy</a:t>
              </a:r>
            </a:p>
            <a:p>
              <a:pPr marL="171450" indent="-171450" algn="just">
                <a:buFont typeface="Arial" panose="020B0604020202020204" pitchFamily="34" charset="0"/>
                <a:buChar char="•"/>
              </a:pPr>
              <a:r>
                <a:rPr lang="en-US" sz="1200" dirty="0">
                  <a:solidFill>
                    <a:schemeClr val="tx1"/>
                  </a:solidFill>
                  <a:latin typeface="Calibri (Body)"/>
                </a:rPr>
                <a:t>Production environments contain real user data, which is often confidential or regulated (e.g., GDPR.</a:t>
              </a:r>
            </a:p>
            <a:p>
              <a:pPr marL="171450" indent="-171450" algn="just">
                <a:buFont typeface="Arial" panose="020B0604020202020204" pitchFamily="34" charset="0"/>
                <a:buChar char="•"/>
              </a:pPr>
              <a:r>
                <a:rPr lang="en-US" sz="1200" dirty="0">
                  <a:solidFill>
                    <a:schemeClr val="tx1"/>
                  </a:solidFill>
                  <a:latin typeface="Calibri (Body)"/>
                </a:rPr>
                <a:t>Testing or experimenting directly there could expose sensitive information or accidentally delete data.</a:t>
              </a:r>
            </a:p>
          </p:txBody>
        </p:sp>
        <p:sp>
          <p:nvSpPr>
            <p:cNvPr id="94" name="Oval 93">
              <a:extLst>
                <a:ext uri="{FF2B5EF4-FFF2-40B4-BE49-F238E27FC236}">
                  <a16:creationId xmlns:a16="http://schemas.microsoft.com/office/drawing/2014/main" id="{E25CC59A-057F-5308-199D-BDCD2573D0A9}"/>
                </a:ext>
              </a:extLst>
            </p:cNvPr>
            <p:cNvSpPr>
              <a:spLocks noChangeAspect="1"/>
            </p:cNvSpPr>
            <p:nvPr/>
          </p:nvSpPr>
          <p:spPr>
            <a:xfrm>
              <a:off x="7414942" y="4300270"/>
              <a:ext cx="180000" cy="18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3</a:t>
              </a:r>
              <a:endParaRPr lang="en-BE" sz="1200" b="1" dirty="0">
                <a:solidFill>
                  <a:schemeClr val="tx1"/>
                </a:solidFill>
              </a:endParaRPr>
            </a:p>
          </p:txBody>
        </p:sp>
      </p:grpSp>
      <p:grpSp>
        <p:nvGrpSpPr>
          <p:cNvPr id="95" name="Group 94">
            <a:extLst>
              <a:ext uri="{FF2B5EF4-FFF2-40B4-BE49-F238E27FC236}">
                <a16:creationId xmlns:a16="http://schemas.microsoft.com/office/drawing/2014/main" id="{773ED5BF-3C31-99D2-7083-6A310B71F5C0}"/>
              </a:ext>
            </a:extLst>
          </p:cNvPr>
          <p:cNvGrpSpPr/>
          <p:nvPr/>
        </p:nvGrpSpPr>
        <p:grpSpPr>
          <a:xfrm>
            <a:off x="7414942" y="5171894"/>
            <a:ext cx="4269058" cy="938631"/>
            <a:chOff x="7414942" y="2182477"/>
            <a:chExt cx="4269058" cy="938631"/>
          </a:xfrm>
        </p:grpSpPr>
        <p:sp>
          <p:nvSpPr>
            <p:cNvPr id="96" name="Rectangle 95">
              <a:extLst>
                <a:ext uri="{FF2B5EF4-FFF2-40B4-BE49-F238E27FC236}">
                  <a16:creationId xmlns:a16="http://schemas.microsoft.com/office/drawing/2014/main" id="{55B3C3A4-A064-83CA-36C2-28E022A005A1}"/>
                </a:ext>
              </a:extLst>
            </p:cNvPr>
            <p:cNvSpPr/>
            <p:nvPr/>
          </p:nvSpPr>
          <p:spPr>
            <a:xfrm>
              <a:off x="7503524" y="2272477"/>
              <a:ext cx="4180476" cy="848631"/>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Support Continuous Delivery Culture</a:t>
              </a:r>
            </a:p>
            <a:p>
              <a:pPr marL="171450" indent="-171450" algn="just">
                <a:buFont typeface="Arial" panose="020B0604020202020204" pitchFamily="34" charset="0"/>
                <a:buChar char="•"/>
              </a:pPr>
              <a:r>
                <a:rPr lang="en-US" sz="1200" dirty="0">
                  <a:solidFill>
                    <a:schemeClr val="tx1"/>
                  </a:solidFill>
                  <a:latin typeface="Calibri (Body)"/>
                </a:rPr>
                <a:t>Multiple environments align perfectly with the CI/CD process:</a:t>
              </a:r>
            </a:p>
            <a:p>
              <a:pPr marL="628650" lvl="1" indent="-171450" algn="just">
                <a:buFont typeface="Arial" panose="020B0604020202020204" pitchFamily="34" charset="0"/>
                <a:buChar char="•"/>
              </a:pPr>
              <a:r>
                <a:rPr lang="en-US" sz="1200" dirty="0">
                  <a:solidFill>
                    <a:schemeClr val="tx1"/>
                  </a:solidFill>
                  <a:latin typeface="Calibri (Body)"/>
                </a:rPr>
                <a:t>CI ensures builds are tested automatically</a:t>
              </a:r>
            </a:p>
            <a:p>
              <a:pPr marL="628650" lvl="1" indent="-171450" algn="just">
                <a:buFont typeface="Arial" panose="020B0604020202020204" pitchFamily="34" charset="0"/>
                <a:buChar char="•"/>
              </a:pPr>
              <a:r>
                <a:rPr lang="en-US" sz="1200" dirty="0">
                  <a:solidFill>
                    <a:schemeClr val="tx1"/>
                  </a:solidFill>
                  <a:latin typeface="Calibri (Body)"/>
                </a:rPr>
                <a:t>CD promotes the builds through environments</a:t>
              </a:r>
            </a:p>
          </p:txBody>
        </p:sp>
        <p:sp>
          <p:nvSpPr>
            <p:cNvPr id="97" name="Oval 96">
              <a:extLst>
                <a:ext uri="{FF2B5EF4-FFF2-40B4-BE49-F238E27FC236}">
                  <a16:creationId xmlns:a16="http://schemas.microsoft.com/office/drawing/2014/main" id="{1F7F2E88-D611-A890-CC46-96B5D85F39D5}"/>
                </a:ext>
              </a:extLst>
            </p:cNvPr>
            <p:cNvSpPr>
              <a:spLocks noChangeAspect="1"/>
            </p:cNvSpPr>
            <p:nvPr/>
          </p:nvSpPr>
          <p:spPr>
            <a:xfrm>
              <a:off x="7414942" y="2182477"/>
              <a:ext cx="180000" cy="18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4</a:t>
              </a:r>
              <a:endParaRPr lang="en-BE" sz="1200" b="1" dirty="0">
                <a:solidFill>
                  <a:schemeClr val="tx1"/>
                </a:solidFill>
              </a:endParaRPr>
            </a:p>
          </p:txBody>
        </p:sp>
      </p:grpSp>
      <p:sp>
        <p:nvSpPr>
          <p:cNvPr id="101" name="Rectangle 100">
            <a:extLst>
              <a:ext uri="{FF2B5EF4-FFF2-40B4-BE49-F238E27FC236}">
                <a16:creationId xmlns:a16="http://schemas.microsoft.com/office/drawing/2014/main" id="{EF20DEB8-EEA7-5CC0-7F91-342C4C34028B}"/>
              </a:ext>
            </a:extLst>
          </p:cNvPr>
          <p:cNvSpPr/>
          <p:nvPr/>
        </p:nvSpPr>
        <p:spPr>
          <a:xfrm>
            <a:off x="553336" y="6229655"/>
            <a:ext cx="11133386" cy="44691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Multiple environments aren’t bureaucracy; they’re safety nets. They protect users, safeguard data, and allow teams to innovate confidently.</a:t>
            </a:r>
            <a:endParaRPr lang="en-BE" sz="1400" i="1" dirty="0">
              <a:solidFill>
                <a:schemeClr val="tx1"/>
              </a:solidFill>
              <a:latin typeface="Calibri (Body)"/>
            </a:endParaRPr>
          </a:p>
        </p:txBody>
      </p:sp>
    </p:spTree>
    <p:extLst>
      <p:ext uri="{BB962C8B-B14F-4D97-AF65-F5344CB8AC3E}">
        <p14:creationId xmlns:p14="http://schemas.microsoft.com/office/powerpoint/2010/main" val="229427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4750525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4. </a:t>
            </a:r>
            <a:r>
              <a:rPr lang="en-US" dirty="0"/>
              <a:t>Continuous Integration</a:t>
            </a:r>
            <a:endParaRPr lang="en-BE" dirty="0"/>
          </a:p>
        </p:txBody>
      </p:sp>
      <p:grpSp>
        <p:nvGrpSpPr>
          <p:cNvPr id="3" name="Group 2">
            <a:extLst>
              <a:ext uri="{FF2B5EF4-FFF2-40B4-BE49-F238E27FC236}">
                <a16:creationId xmlns:a16="http://schemas.microsoft.com/office/drawing/2014/main" id="{A3959AE0-AEDC-E276-0C7A-78698F1FD969}"/>
              </a:ext>
            </a:extLst>
          </p:cNvPr>
          <p:cNvGrpSpPr/>
          <p:nvPr/>
        </p:nvGrpSpPr>
        <p:grpSpPr>
          <a:xfrm>
            <a:off x="553336" y="868345"/>
            <a:ext cx="11133386" cy="768874"/>
            <a:chOff x="553336" y="868345"/>
            <a:chExt cx="11133386" cy="768874"/>
          </a:xfrm>
        </p:grpSpPr>
        <p:sp>
          <p:nvSpPr>
            <p:cNvPr id="4" name="Rectangle 3">
              <a:extLst>
                <a:ext uri="{FF2B5EF4-FFF2-40B4-BE49-F238E27FC236}">
                  <a16:creationId xmlns:a16="http://schemas.microsoft.com/office/drawing/2014/main" id="{8C616FFA-121F-B926-60AE-98A5CD131B6B}"/>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Continuous Integration (CI) is the practice of automatically building, testing, and </a:t>
              </a:r>
              <a:r>
                <a:rPr lang="en-US" sz="1400" i="1" dirty="0" err="1">
                  <a:solidFill>
                    <a:schemeClr val="tx1"/>
                  </a:solidFill>
                  <a:latin typeface="Calibri (Body)"/>
                </a:rPr>
                <a:t>analysing</a:t>
              </a:r>
              <a:r>
                <a:rPr lang="en-US" sz="1400" i="1" dirty="0">
                  <a:solidFill>
                    <a:schemeClr val="tx1"/>
                  </a:solidFill>
                  <a:latin typeface="Calibri (Body)"/>
                </a:rPr>
                <a:t> code whenever developers commit changes. The CI part of the delivery ensures the system remains reliable all the time.</a:t>
              </a:r>
              <a:endParaRPr lang="en-BE" sz="1400" i="1" dirty="0">
                <a:solidFill>
                  <a:schemeClr val="tx1"/>
                </a:solidFill>
                <a:latin typeface="Calibri (Body)"/>
              </a:endParaRPr>
            </a:p>
          </p:txBody>
        </p:sp>
        <p:sp>
          <p:nvSpPr>
            <p:cNvPr id="6" name="TextBox 5">
              <a:extLst>
                <a:ext uri="{FF2B5EF4-FFF2-40B4-BE49-F238E27FC236}">
                  <a16:creationId xmlns:a16="http://schemas.microsoft.com/office/drawing/2014/main" id="{9C39E6E3-A468-48A6-D7FD-AFD7E43FD234}"/>
                </a:ext>
              </a:extLst>
            </p:cNvPr>
            <p:cNvSpPr txBox="1"/>
            <p:nvPr/>
          </p:nvSpPr>
          <p:spPr>
            <a:xfrm>
              <a:off x="635387" y="868345"/>
              <a:ext cx="891488" cy="253916"/>
            </a:xfrm>
            <a:prstGeom prst="rect">
              <a:avLst/>
            </a:prstGeom>
            <a:solidFill>
              <a:schemeClr val="bg1"/>
            </a:solidFill>
          </p:spPr>
          <p:txBody>
            <a:bodyPr wrap="square">
              <a:spAutoFit/>
            </a:bodyPr>
            <a:lstStyle/>
            <a:p>
              <a:r>
                <a:rPr lang="en-US" sz="1050" i="1" dirty="0">
                  <a:latin typeface="Calibri (Body)"/>
                </a:rPr>
                <a:t>definition</a:t>
              </a:r>
              <a:endParaRPr lang="en-BE" sz="1050" i="1" dirty="0">
                <a:latin typeface="Calibri (Body)"/>
              </a:endParaRPr>
            </a:p>
          </p:txBody>
        </p:sp>
      </p:grpSp>
      <p:grpSp>
        <p:nvGrpSpPr>
          <p:cNvPr id="72" name="Group 71">
            <a:extLst>
              <a:ext uri="{FF2B5EF4-FFF2-40B4-BE49-F238E27FC236}">
                <a16:creationId xmlns:a16="http://schemas.microsoft.com/office/drawing/2014/main" id="{9288E0AC-E436-649A-BC5E-7FBEC0BF7EB8}"/>
              </a:ext>
            </a:extLst>
          </p:cNvPr>
          <p:cNvGrpSpPr/>
          <p:nvPr/>
        </p:nvGrpSpPr>
        <p:grpSpPr>
          <a:xfrm>
            <a:off x="553336" y="1693446"/>
            <a:ext cx="11133386" cy="4405695"/>
            <a:chOff x="553336" y="1693446"/>
            <a:chExt cx="11133386" cy="4405695"/>
          </a:xfrm>
        </p:grpSpPr>
        <p:sp>
          <p:nvSpPr>
            <p:cNvPr id="36" name="Rectangle 35">
              <a:extLst>
                <a:ext uri="{FF2B5EF4-FFF2-40B4-BE49-F238E27FC236}">
                  <a16:creationId xmlns:a16="http://schemas.microsoft.com/office/drawing/2014/main" id="{83CD675A-129A-57A9-48CB-82D4244AEA66}"/>
                </a:ext>
              </a:extLst>
            </p:cNvPr>
            <p:cNvSpPr/>
            <p:nvPr/>
          </p:nvSpPr>
          <p:spPr>
            <a:xfrm>
              <a:off x="553336" y="1845014"/>
              <a:ext cx="11133386" cy="4254127"/>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BE" sz="1400" i="1" dirty="0">
                <a:solidFill>
                  <a:schemeClr val="tx1"/>
                </a:solidFill>
                <a:latin typeface="Calibri (Body)"/>
              </a:endParaRPr>
            </a:p>
          </p:txBody>
        </p:sp>
        <p:sp>
          <p:nvSpPr>
            <p:cNvPr id="37" name="TextBox 36">
              <a:extLst>
                <a:ext uri="{FF2B5EF4-FFF2-40B4-BE49-F238E27FC236}">
                  <a16:creationId xmlns:a16="http://schemas.microsoft.com/office/drawing/2014/main" id="{FE6F26B6-C167-2F42-D932-49AE5A6890AF}"/>
                </a:ext>
              </a:extLst>
            </p:cNvPr>
            <p:cNvSpPr txBox="1"/>
            <p:nvPr/>
          </p:nvSpPr>
          <p:spPr>
            <a:xfrm>
              <a:off x="679570" y="1693446"/>
              <a:ext cx="1655198" cy="253916"/>
            </a:xfrm>
            <a:prstGeom prst="rect">
              <a:avLst/>
            </a:prstGeom>
            <a:solidFill>
              <a:schemeClr val="bg1"/>
            </a:solidFill>
          </p:spPr>
          <p:txBody>
            <a:bodyPr wrap="square">
              <a:spAutoFit/>
            </a:bodyPr>
            <a:lstStyle/>
            <a:p>
              <a:r>
                <a:rPr lang="en-US" sz="1050" i="1" dirty="0">
                  <a:latin typeface="Calibri (Body)"/>
                </a:rPr>
                <a:t>Inside the CI Pipeline</a:t>
              </a:r>
              <a:endParaRPr lang="en-BE" sz="1050" i="1" dirty="0">
                <a:latin typeface="Calibri (Body)"/>
              </a:endParaRPr>
            </a:p>
          </p:txBody>
        </p:sp>
      </p:grpSp>
      <p:sp>
        <p:nvSpPr>
          <p:cNvPr id="43" name="Rectangle 42">
            <a:extLst>
              <a:ext uri="{FF2B5EF4-FFF2-40B4-BE49-F238E27FC236}">
                <a16:creationId xmlns:a16="http://schemas.microsoft.com/office/drawing/2014/main" id="{D99317C2-CB88-91E7-C43E-123904CB7E65}"/>
              </a:ext>
            </a:extLst>
          </p:cNvPr>
          <p:cNvSpPr/>
          <p:nvPr/>
        </p:nvSpPr>
        <p:spPr>
          <a:xfrm>
            <a:off x="553336" y="6229655"/>
            <a:ext cx="11133386" cy="44691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The goal of CI is confidence, automate everything so that developers can integrate often, fail fast, and recover quickly. Think of CI as a safety net — every time you push code, the system checks that nothing breaks before it reaches others.</a:t>
            </a:r>
            <a:endParaRPr lang="en-BE" sz="1400" i="1" dirty="0">
              <a:solidFill>
                <a:schemeClr val="tx1"/>
              </a:solidFill>
              <a:latin typeface="Calibri (Body)"/>
            </a:endParaRPr>
          </a:p>
        </p:txBody>
      </p:sp>
      <p:grpSp>
        <p:nvGrpSpPr>
          <p:cNvPr id="88" name="Group 87">
            <a:extLst>
              <a:ext uri="{FF2B5EF4-FFF2-40B4-BE49-F238E27FC236}">
                <a16:creationId xmlns:a16="http://schemas.microsoft.com/office/drawing/2014/main" id="{1FA336F9-C3B9-B4EE-ECA3-94C0CED2DF97}"/>
              </a:ext>
            </a:extLst>
          </p:cNvPr>
          <p:cNvGrpSpPr/>
          <p:nvPr/>
        </p:nvGrpSpPr>
        <p:grpSpPr>
          <a:xfrm>
            <a:off x="635387" y="2087356"/>
            <a:ext cx="2319020" cy="3727384"/>
            <a:chOff x="635387" y="2087356"/>
            <a:chExt cx="2319020" cy="3727384"/>
          </a:xfrm>
        </p:grpSpPr>
        <p:sp>
          <p:nvSpPr>
            <p:cNvPr id="7" name="Arrow: Pentagon 6">
              <a:extLst>
                <a:ext uri="{FF2B5EF4-FFF2-40B4-BE49-F238E27FC236}">
                  <a16:creationId xmlns:a16="http://schemas.microsoft.com/office/drawing/2014/main" id="{0C9F3D56-120D-E644-DBD5-E5C0BB2072E2}"/>
                </a:ext>
              </a:extLst>
            </p:cNvPr>
            <p:cNvSpPr/>
            <p:nvPr/>
          </p:nvSpPr>
          <p:spPr>
            <a:xfrm>
              <a:off x="635387" y="2900680"/>
              <a:ext cx="2319020" cy="52832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1. Code Commit</a:t>
              </a:r>
            </a:p>
          </p:txBody>
        </p:sp>
        <p:sp>
          <p:nvSpPr>
            <p:cNvPr id="24" name="Rectangle 23">
              <a:extLst>
                <a:ext uri="{FF2B5EF4-FFF2-40B4-BE49-F238E27FC236}">
                  <a16:creationId xmlns:a16="http://schemas.microsoft.com/office/drawing/2014/main" id="{3D94BD6D-88B8-1602-DA40-7818A6409002}"/>
                </a:ext>
              </a:extLst>
            </p:cNvPr>
            <p:cNvSpPr/>
            <p:nvPr/>
          </p:nvSpPr>
          <p:spPr>
            <a:xfrm>
              <a:off x="763657"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Developers push code changes to a shared repository (GitHub, GitLab, Bitbucket).</a:t>
              </a:r>
            </a:p>
            <a:p>
              <a:pPr marL="171450" indent="-171450" algn="just">
                <a:buFont typeface="Arial" panose="020B0604020202020204" pitchFamily="34" charset="0"/>
                <a:buChar char="•"/>
              </a:pPr>
              <a:r>
                <a:rPr lang="en-US" sz="1200" dirty="0">
                  <a:solidFill>
                    <a:schemeClr val="tx1"/>
                  </a:solidFill>
                  <a:latin typeface="Calibri (Body)"/>
                </a:rPr>
                <a:t>Each commit or merge triggers the CI pipeline automatically.</a:t>
              </a:r>
            </a:p>
          </p:txBody>
        </p:sp>
        <p:grpSp>
          <p:nvGrpSpPr>
            <p:cNvPr id="81" name="Group 80">
              <a:extLst>
                <a:ext uri="{FF2B5EF4-FFF2-40B4-BE49-F238E27FC236}">
                  <a16:creationId xmlns:a16="http://schemas.microsoft.com/office/drawing/2014/main" id="{7AAB7891-A3E8-7048-FAE0-E9C49A7DB3E2}"/>
                </a:ext>
              </a:extLst>
            </p:cNvPr>
            <p:cNvGrpSpPr/>
            <p:nvPr/>
          </p:nvGrpSpPr>
          <p:grpSpPr>
            <a:xfrm>
              <a:off x="1434897" y="2087356"/>
              <a:ext cx="720000" cy="720000"/>
              <a:chOff x="1434897" y="2087356"/>
              <a:chExt cx="720000" cy="720000"/>
            </a:xfrm>
          </p:grpSpPr>
          <p:sp>
            <p:nvSpPr>
              <p:cNvPr id="46" name="Oval 45">
                <a:extLst>
                  <a:ext uri="{FF2B5EF4-FFF2-40B4-BE49-F238E27FC236}">
                    <a16:creationId xmlns:a16="http://schemas.microsoft.com/office/drawing/2014/main" id="{391679CC-C9D6-C2C5-25E9-D842026979D3}"/>
                  </a:ext>
                </a:extLst>
              </p:cNvPr>
              <p:cNvSpPr>
                <a:spLocks noChangeAspect="1"/>
              </p:cNvSpPr>
              <p:nvPr/>
            </p:nvSpPr>
            <p:spPr>
              <a:xfrm>
                <a:off x="1434897"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45" name="Graphic 44" descr="Earth globe: Asia and Australia with solid fill">
                <a:extLst>
                  <a:ext uri="{FF2B5EF4-FFF2-40B4-BE49-F238E27FC236}">
                    <a16:creationId xmlns:a16="http://schemas.microsoft.com/office/drawing/2014/main" id="{72A395BB-27DF-F27E-B400-821CB00BF37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50732" y="2099035"/>
                <a:ext cx="696642" cy="696642"/>
              </a:xfrm>
              <a:prstGeom prst="rect">
                <a:avLst/>
              </a:prstGeom>
            </p:spPr>
          </p:pic>
        </p:grpSp>
      </p:grpSp>
      <p:grpSp>
        <p:nvGrpSpPr>
          <p:cNvPr id="89" name="Group 88">
            <a:extLst>
              <a:ext uri="{FF2B5EF4-FFF2-40B4-BE49-F238E27FC236}">
                <a16:creationId xmlns:a16="http://schemas.microsoft.com/office/drawing/2014/main" id="{AF0FC9A3-F1BB-2B7A-5291-EA84A83962EE}"/>
              </a:ext>
            </a:extLst>
          </p:cNvPr>
          <p:cNvGrpSpPr/>
          <p:nvPr/>
        </p:nvGrpSpPr>
        <p:grpSpPr>
          <a:xfrm>
            <a:off x="2806451" y="2087356"/>
            <a:ext cx="2319020" cy="3727384"/>
            <a:chOff x="2806451" y="2087356"/>
            <a:chExt cx="2319020" cy="3727384"/>
          </a:xfrm>
        </p:grpSpPr>
        <p:sp>
          <p:nvSpPr>
            <p:cNvPr id="18" name="Arrow: Chevron 17">
              <a:extLst>
                <a:ext uri="{FF2B5EF4-FFF2-40B4-BE49-F238E27FC236}">
                  <a16:creationId xmlns:a16="http://schemas.microsoft.com/office/drawing/2014/main" id="{49E22DAA-AF11-384C-2C50-B4B8706B9220}"/>
                </a:ext>
              </a:extLst>
            </p:cNvPr>
            <p:cNvSpPr/>
            <p:nvPr/>
          </p:nvSpPr>
          <p:spPr>
            <a:xfrm>
              <a:off x="2806451"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2. Build</a:t>
              </a:r>
            </a:p>
          </p:txBody>
        </p:sp>
        <p:sp>
          <p:nvSpPr>
            <p:cNvPr id="27" name="Rectangle 26">
              <a:extLst>
                <a:ext uri="{FF2B5EF4-FFF2-40B4-BE49-F238E27FC236}">
                  <a16:creationId xmlns:a16="http://schemas.microsoft.com/office/drawing/2014/main" id="{1E980E6E-8E22-6712-6CAD-1CA6265FE529}"/>
                </a:ext>
              </a:extLst>
            </p:cNvPr>
            <p:cNvSpPr/>
            <p:nvPr/>
          </p:nvSpPr>
          <p:spPr>
            <a:xfrm>
              <a:off x="2934721"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Dependencies are resolved (NuGet, </a:t>
              </a:r>
              <a:r>
                <a:rPr lang="en-US" sz="1200" dirty="0" err="1">
                  <a:solidFill>
                    <a:schemeClr val="tx1"/>
                  </a:solidFill>
                  <a:latin typeface="Calibri (Body)"/>
                </a:rPr>
                <a:t>npm</a:t>
              </a:r>
              <a:r>
                <a:rPr lang="en-US" sz="1200" dirty="0">
                  <a:solidFill>
                    <a:schemeClr val="tx1"/>
                  </a:solidFill>
                  <a:latin typeface="Calibri (Body)"/>
                </a:rPr>
                <a:t>, Maven, etc.).</a:t>
              </a:r>
            </a:p>
            <a:p>
              <a:pPr marL="171450" indent="-171450" algn="just">
                <a:buFont typeface="Arial" panose="020B0604020202020204" pitchFamily="34" charset="0"/>
                <a:buChar char="•"/>
              </a:pPr>
              <a:r>
                <a:rPr lang="en-US" sz="1200" dirty="0">
                  <a:solidFill>
                    <a:schemeClr val="tx1"/>
                  </a:solidFill>
                  <a:latin typeface="Calibri (Body)"/>
                </a:rPr>
                <a:t>Build scripts ensure the same process works everywhere — no manual steps.</a:t>
              </a:r>
            </a:p>
            <a:p>
              <a:pPr marL="171450" indent="-171450" algn="just">
                <a:buFont typeface="Arial" panose="020B0604020202020204" pitchFamily="34" charset="0"/>
                <a:buChar char="•"/>
              </a:pPr>
              <a:r>
                <a:rPr lang="en-US" sz="1200" dirty="0">
                  <a:solidFill>
                    <a:schemeClr val="tx1"/>
                  </a:solidFill>
                  <a:latin typeface="Calibri (Body)"/>
                </a:rPr>
                <a:t>Source code is compiled or packaged into an executable format (e.g., .jar, .</a:t>
              </a:r>
              <a:r>
                <a:rPr lang="en-US" sz="1200" dirty="0" err="1">
                  <a:solidFill>
                    <a:schemeClr val="tx1"/>
                  </a:solidFill>
                  <a:latin typeface="Calibri (Body)"/>
                </a:rPr>
                <a:t>dll</a:t>
              </a:r>
              <a:r>
                <a:rPr lang="en-US" sz="1200" dirty="0">
                  <a:solidFill>
                    <a:schemeClr val="tx1"/>
                  </a:solidFill>
                  <a:latin typeface="Calibri (Body)"/>
                </a:rPr>
                <a:t>, .zip). </a:t>
              </a:r>
            </a:p>
            <a:p>
              <a:pPr marL="171450" indent="-171450" algn="just">
                <a:buFont typeface="Arial" panose="020B0604020202020204" pitchFamily="34" charset="0"/>
                <a:buChar char="•"/>
              </a:pPr>
              <a:endParaRPr lang="en-US" sz="1200" dirty="0">
                <a:solidFill>
                  <a:schemeClr val="tx1"/>
                </a:solidFill>
                <a:latin typeface="Calibri (Body)"/>
              </a:endParaRPr>
            </a:p>
          </p:txBody>
        </p:sp>
        <p:grpSp>
          <p:nvGrpSpPr>
            <p:cNvPr id="87" name="Group 86">
              <a:extLst>
                <a:ext uri="{FF2B5EF4-FFF2-40B4-BE49-F238E27FC236}">
                  <a16:creationId xmlns:a16="http://schemas.microsoft.com/office/drawing/2014/main" id="{5BA0F2A9-40EC-DE11-B83A-649185A9DB84}"/>
                </a:ext>
              </a:extLst>
            </p:cNvPr>
            <p:cNvGrpSpPr/>
            <p:nvPr/>
          </p:nvGrpSpPr>
          <p:grpSpPr>
            <a:xfrm>
              <a:off x="3605961" y="2087356"/>
              <a:ext cx="720000" cy="720000"/>
              <a:chOff x="3605961" y="2087356"/>
              <a:chExt cx="720000" cy="720000"/>
            </a:xfrm>
          </p:grpSpPr>
          <p:sp>
            <p:nvSpPr>
              <p:cNvPr id="49" name="Oval 48">
                <a:extLst>
                  <a:ext uri="{FF2B5EF4-FFF2-40B4-BE49-F238E27FC236}">
                    <a16:creationId xmlns:a16="http://schemas.microsoft.com/office/drawing/2014/main" id="{5DC49C21-274E-5882-9954-25CD1DC31979}"/>
                  </a:ext>
                </a:extLst>
              </p:cNvPr>
              <p:cNvSpPr>
                <a:spLocks noChangeAspect="1"/>
              </p:cNvSpPr>
              <p:nvPr/>
            </p:nvSpPr>
            <p:spPr>
              <a:xfrm>
                <a:off x="3605961"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1" name="Graphic 60" descr="Single gear with solid fill">
                <a:extLst>
                  <a:ext uri="{FF2B5EF4-FFF2-40B4-BE49-F238E27FC236}">
                    <a16:creationId xmlns:a16="http://schemas.microsoft.com/office/drawing/2014/main" id="{274A0165-4273-CC3D-6B5A-BE1A7830CE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26473" y="2107868"/>
                <a:ext cx="678975" cy="678975"/>
              </a:xfrm>
              <a:prstGeom prst="rect">
                <a:avLst/>
              </a:prstGeom>
            </p:spPr>
          </p:pic>
        </p:grpSp>
      </p:grpSp>
      <p:grpSp>
        <p:nvGrpSpPr>
          <p:cNvPr id="90" name="Group 89">
            <a:extLst>
              <a:ext uri="{FF2B5EF4-FFF2-40B4-BE49-F238E27FC236}">
                <a16:creationId xmlns:a16="http://schemas.microsoft.com/office/drawing/2014/main" id="{DA6CA771-6ED0-6DB4-05CD-C3989ED45787}"/>
              </a:ext>
            </a:extLst>
          </p:cNvPr>
          <p:cNvGrpSpPr/>
          <p:nvPr/>
        </p:nvGrpSpPr>
        <p:grpSpPr>
          <a:xfrm>
            <a:off x="4977515" y="2087356"/>
            <a:ext cx="2319020" cy="3727384"/>
            <a:chOff x="4977515" y="2087356"/>
            <a:chExt cx="2319020" cy="3727384"/>
          </a:xfrm>
        </p:grpSpPr>
        <p:sp>
          <p:nvSpPr>
            <p:cNvPr id="16" name="Arrow: Chevron 15">
              <a:extLst>
                <a:ext uri="{FF2B5EF4-FFF2-40B4-BE49-F238E27FC236}">
                  <a16:creationId xmlns:a16="http://schemas.microsoft.com/office/drawing/2014/main" id="{BE1F6E1B-33E9-C1CD-F639-0103C31F8E22}"/>
                </a:ext>
              </a:extLst>
            </p:cNvPr>
            <p:cNvSpPr/>
            <p:nvPr/>
          </p:nvSpPr>
          <p:spPr>
            <a:xfrm>
              <a:off x="4977515"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3. Testing</a:t>
              </a:r>
            </a:p>
          </p:txBody>
        </p:sp>
        <p:sp>
          <p:nvSpPr>
            <p:cNvPr id="30" name="Rectangle 29">
              <a:extLst>
                <a:ext uri="{FF2B5EF4-FFF2-40B4-BE49-F238E27FC236}">
                  <a16:creationId xmlns:a16="http://schemas.microsoft.com/office/drawing/2014/main" id="{703CE01E-947A-9C26-785F-7821286ADD93}"/>
                </a:ext>
              </a:extLst>
            </p:cNvPr>
            <p:cNvSpPr/>
            <p:nvPr/>
          </p:nvSpPr>
          <p:spPr>
            <a:xfrm>
              <a:off x="5105785"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Unit tests: check individual functions or classes.</a:t>
              </a:r>
            </a:p>
            <a:p>
              <a:pPr marL="171450" indent="-171450" algn="just">
                <a:buFont typeface="Arial" panose="020B0604020202020204" pitchFamily="34" charset="0"/>
                <a:buChar char="•"/>
              </a:pPr>
              <a:r>
                <a:rPr lang="en-US" sz="1200" dirty="0">
                  <a:solidFill>
                    <a:schemeClr val="tx1"/>
                  </a:solidFill>
                  <a:latin typeface="Calibri (Body)"/>
                </a:rPr>
                <a:t>Integration tests: verify interactions between components or services.</a:t>
              </a:r>
            </a:p>
            <a:p>
              <a:pPr marL="171450" indent="-171450" algn="just">
                <a:buFont typeface="Arial" panose="020B0604020202020204" pitchFamily="34" charset="0"/>
                <a:buChar char="•"/>
              </a:pPr>
              <a:r>
                <a:rPr lang="en-US" sz="1200" dirty="0">
                  <a:solidFill>
                    <a:schemeClr val="tx1"/>
                  </a:solidFill>
                  <a:latin typeface="Calibri (Body)"/>
                </a:rPr>
                <a:t>Regression tests: ensure new changes didn’t break existing features.</a:t>
              </a:r>
            </a:p>
          </p:txBody>
        </p:sp>
        <p:grpSp>
          <p:nvGrpSpPr>
            <p:cNvPr id="78" name="Group 77">
              <a:extLst>
                <a:ext uri="{FF2B5EF4-FFF2-40B4-BE49-F238E27FC236}">
                  <a16:creationId xmlns:a16="http://schemas.microsoft.com/office/drawing/2014/main" id="{C84C5DC5-48EC-8B24-F3D7-0F9C03042D50}"/>
                </a:ext>
              </a:extLst>
            </p:cNvPr>
            <p:cNvGrpSpPr/>
            <p:nvPr/>
          </p:nvGrpSpPr>
          <p:grpSpPr>
            <a:xfrm>
              <a:off x="5736000" y="2087356"/>
              <a:ext cx="720000" cy="720000"/>
              <a:chOff x="5736000" y="2087356"/>
              <a:chExt cx="720000" cy="720000"/>
            </a:xfrm>
          </p:grpSpPr>
          <p:sp>
            <p:nvSpPr>
              <p:cNvPr id="52" name="Oval 51">
                <a:extLst>
                  <a:ext uri="{FF2B5EF4-FFF2-40B4-BE49-F238E27FC236}">
                    <a16:creationId xmlns:a16="http://schemas.microsoft.com/office/drawing/2014/main" id="{9313EDA4-D0F9-0FBC-F897-C6A26ADE3DCC}"/>
                  </a:ext>
                </a:extLst>
              </p:cNvPr>
              <p:cNvSpPr>
                <a:spLocks noChangeAspect="1"/>
              </p:cNvSpPr>
              <p:nvPr/>
            </p:nvSpPr>
            <p:spPr>
              <a:xfrm>
                <a:off x="5736000"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3" name="Graphic 62" descr="Test Dummy with solid fill">
                <a:extLst>
                  <a:ext uri="{FF2B5EF4-FFF2-40B4-BE49-F238E27FC236}">
                    <a16:creationId xmlns:a16="http://schemas.microsoft.com/office/drawing/2014/main" id="{4CF79C38-6A46-95C5-8B0C-988F3789065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26182" y="2148840"/>
                <a:ext cx="559956" cy="559956"/>
              </a:xfrm>
              <a:prstGeom prst="rect">
                <a:avLst/>
              </a:prstGeom>
            </p:spPr>
          </p:pic>
        </p:grpSp>
      </p:grpSp>
      <p:grpSp>
        <p:nvGrpSpPr>
          <p:cNvPr id="91" name="Group 90">
            <a:extLst>
              <a:ext uri="{FF2B5EF4-FFF2-40B4-BE49-F238E27FC236}">
                <a16:creationId xmlns:a16="http://schemas.microsoft.com/office/drawing/2014/main" id="{3B86F0D5-9E20-5555-B6D0-E94D311E7AC3}"/>
              </a:ext>
            </a:extLst>
          </p:cNvPr>
          <p:cNvGrpSpPr/>
          <p:nvPr/>
        </p:nvGrpSpPr>
        <p:grpSpPr>
          <a:xfrm>
            <a:off x="7148579" y="2087356"/>
            <a:ext cx="2319020" cy="3727384"/>
            <a:chOff x="7148579" y="2087356"/>
            <a:chExt cx="2319020" cy="3727384"/>
          </a:xfrm>
        </p:grpSpPr>
        <p:sp>
          <p:nvSpPr>
            <p:cNvPr id="14" name="Arrow: Chevron 13">
              <a:extLst>
                <a:ext uri="{FF2B5EF4-FFF2-40B4-BE49-F238E27FC236}">
                  <a16:creationId xmlns:a16="http://schemas.microsoft.com/office/drawing/2014/main" id="{21C0D8A2-F4D1-84D7-22E5-B640EC5A3279}"/>
                </a:ext>
              </a:extLst>
            </p:cNvPr>
            <p:cNvSpPr/>
            <p:nvPr/>
          </p:nvSpPr>
          <p:spPr>
            <a:xfrm>
              <a:off x="7148579"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4. Quality Analysis</a:t>
              </a:r>
            </a:p>
          </p:txBody>
        </p:sp>
        <p:sp>
          <p:nvSpPr>
            <p:cNvPr id="31" name="Rectangle 30">
              <a:extLst>
                <a:ext uri="{FF2B5EF4-FFF2-40B4-BE49-F238E27FC236}">
                  <a16:creationId xmlns:a16="http://schemas.microsoft.com/office/drawing/2014/main" id="{13D012E2-5F9A-3B25-7EEF-8B693FC8A90E}"/>
                </a:ext>
              </a:extLst>
            </p:cNvPr>
            <p:cNvSpPr/>
            <p:nvPr/>
          </p:nvSpPr>
          <p:spPr>
            <a:xfrm>
              <a:off x="7276849"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Automated static analysis tools inspect the code without executing it.</a:t>
              </a:r>
            </a:p>
            <a:p>
              <a:pPr marL="171450" indent="-171450" algn="just">
                <a:buFont typeface="Arial" panose="020B0604020202020204" pitchFamily="34" charset="0"/>
                <a:buChar char="•"/>
              </a:pPr>
              <a:r>
                <a:rPr lang="en-US" sz="1200" dirty="0">
                  <a:solidFill>
                    <a:schemeClr val="tx1"/>
                  </a:solidFill>
                  <a:latin typeface="Calibri (Body)"/>
                </a:rPr>
                <a:t>Detect potential bugs, security vulnerabilities, duplication, or complexity.</a:t>
              </a:r>
            </a:p>
            <a:p>
              <a:pPr marL="171450" indent="-171450" algn="just">
                <a:buFont typeface="Arial" panose="020B0604020202020204" pitchFamily="34" charset="0"/>
                <a:buChar char="•"/>
              </a:pPr>
              <a:r>
                <a:rPr lang="en-US" sz="1200" dirty="0">
                  <a:solidFill>
                    <a:schemeClr val="tx1"/>
                  </a:solidFill>
                  <a:latin typeface="Calibri (Body)"/>
                </a:rPr>
                <a:t>Measure test coverage, maintainability, and code smells.</a:t>
              </a:r>
            </a:p>
          </p:txBody>
        </p:sp>
        <p:grpSp>
          <p:nvGrpSpPr>
            <p:cNvPr id="79" name="Group 78">
              <a:extLst>
                <a:ext uri="{FF2B5EF4-FFF2-40B4-BE49-F238E27FC236}">
                  <a16:creationId xmlns:a16="http://schemas.microsoft.com/office/drawing/2014/main" id="{9EE2025E-4AD8-AA2A-48D0-013091F59684}"/>
                </a:ext>
              </a:extLst>
            </p:cNvPr>
            <p:cNvGrpSpPr/>
            <p:nvPr/>
          </p:nvGrpSpPr>
          <p:grpSpPr>
            <a:xfrm>
              <a:off x="7948089" y="2087356"/>
              <a:ext cx="720000" cy="720000"/>
              <a:chOff x="7948089" y="2087356"/>
              <a:chExt cx="720000" cy="720000"/>
            </a:xfrm>
          </p:grpSpPr>
          <p:sp>
            <p:nvSpPr>
              <p:cNvPr id="55" name="Oval 54">
                <a:extLst>
                  <a:ext uri="{FF2B5EF4-FFF2-40B4-BE49-F238E27FC236}">
                    <a16:creationId xmlns:a16="http://schemas.microsoft.com/office/drawing/2014/main" id="{4E4B8680-631C-5DE1-8EE0-5D6DD2FFD33F}"/>
                  </a:ext>
                </a:extLst>
              </p:cNvPr>
              <p:cNvSpPr>
                <a:spLocks noChangeAspect="1"/>
              </p:cNvSpPr>
              <p:nvPr/>
            </p:nvSpPr>
            <p:spPr>
              <a:xfrm>
                <a:off x="7948089"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5" name="Graphic 64" descr="Research with solid fill">
                <a:extLst>
                  <a:ext uri="{FF2B5EF4-FFF2-40B4-BE49-F238E27FC236}">
                    <a16:creationId xmlns:a16="http://schemas.microsoft.com/office/drawing/2014/main" id="{CF62D9F2-257A-CD2E-09A7-0B05DEFF2CE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62401" y="2201509"/>
                <a:ext cx="491376" cy="491376"/>
              </a:xfrm>
              <a:prstGeom prst="rect">
                <a:avLst/>
              </a:prstGeom>
            </p:spPr>
          </p:pic>
        </p:grpSp>
      </p:grpSp>
      <p:grpSp>
        <p:nvGrpSpPr>
          <p:cNvPr id="92" name="Group 91">
            <a:extLst>
              <a:ext uri="{FF2B5EF4-FFF2-40B4-BE49-F238E27FC236}">
                <a16:creationId xmlns:a16="http://schemas.microsoft.com/office/drawing/2014/main" id="{942FFF90-9715-AA0A-FD19-E322CF3686B7}"/>
              </a:ext>
            </a:extLst>
          </p:cNvPr>
          <p:cNvGrpSpPr/>
          <p:nvPr/>
        </p:nvGrpSpPr>
        <p:grpSpPr>
          <a:xfrm>
            <a:off x="9319644" y="2087356"/>
            <a:ext cx="2319020" cy="3727384"/>
            <a:chOff x="9319644" y="2087356"/>
            <a:chExt cx="2319020" cy="3727384"/>
          </a:xfrm>
        </p:grpSpPr>
        <p:sp>
          <p:nvSpPr>
            <p:cNvPr id="12" name="Arrow: Chevron 11">
              <a:extLst>
                <a:ext uri="{FF2B5EF4-FFF2-40B4-BE49-F238E27FC236}">
                  <a16:creationId xmlns:a16="http://schemas.microsoft.com/office/drawing/2014/main" id="{5261B537-7B31-8854-B436-4E7904F3EB57}"/>
                </a:ext>
              </a:extLst>
            </p:cNvPr>
            <p:cNvSpPr/>
            <p:nvPr/>
          </p:nvSpPr>
          <p:spPr>
            <a:xfrm>
              <a:off x="9319644"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5. Artifact Storage</a:t>
              </a:r>
            </a:p>
          </p:txBody>
        </p:sp>
        <p:sp>
          <p:nvSpPr>
            <p:cNvPr id="32" name="Rectangle 31">
              <a:extLst>
                <a:ext uri="{FF2B5EF4-FFF2-40B4-BE49-F238E27FC236}">
                  <a16:creationId xmlns:a16="http://schemas.microsoft.com/office/drawing/2014/main" id="{B2815662-384C-D635-3867-E43B73AF7D7E}"/>
                </a:ext>
              </a:extLst>
            </p:cNvPr>
            <p:cNvSpPr/>
            <p:nvPr/>
          </p:nvSpPr>
          <p:spPr>
            <a:xfrm>
              <a:off x="9447914"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Once validated, the build output (artifact) is versioned and stored in a central artifact repository.</a:t>
              </a:r>
            </a:p>
            <a:p>
              <a:pPr marL="171450" indent="-171450" algn="just">
                <a:buFont typeface="Arial" panose="020B0604020202020204" pitchFamily="34" charset="0"/>
                <a:buChar char="•"/>
              </a:pPr>
              <a:r>
                <a:rPr lang="en-US" sz="1200" dirty="0">
                  <a:solidFill>
                    <a:schemeClr val="tx1"/>
                  </a:solidFill>
                  <a:latin typeface="Calibri (Body)"/>
                </a:rPr>
                <a:t>Stored artifacts become the trusted input for deployment (CD) stages.</a:t>
              </a:r>
            </a:p>
            <a:p>
              <a:pPr marL="171450" indent="-171450" algn="just">
                <a:buFont typeface="Arial" panose="020B0604020202020204" pitchFamily="34" charset="0"/>
                <a:buChar char="•"/>
              </a:pPr>
              <a:r>
                <a:rPr lang="en-US" sz="1200" dirty="0">
                  <a:solidFill>
                    <a:schemeClr val="tx1"/>
                  </a:solidFill>
                  <a:latin typeface="Calibri (Body)"/>
                </a:rPr>
                <a:t>Enables rollback or reproduction of any previous build.</a:t>
              </a:r>
            </a:p>
          </p:txBody>
        </p:sp>
        <p:grpSp>
          <p:nvGrpSpPr>
            <p:cNvPr id="80" name="Group 79">
              <a:extLst>
                <a:ext uri="{FF2B5EF4-FFF2-40B4-BE49-F238E27FC236}">
                  <a16:creationId xmlns:a16="http://schemas.microsoft.com/office/drawing/2014/main" id="{93579B8E-8C68-5D36-4C9C-44D8FD70E9CD}"/>
                </a:ext>
              </a:extLst>
            </p:cNvPr>
            <p:cNvGrpSpPr/>
            <p:nvPr/>
          </p:nvGrpSpPr>
          <p:grpSpPr>
            <a:xfrm>
              <a:off x="10119154" y="2087356"/>
              <a:ext cx="720000" cy="720000"/>
              <a:chOff x="10119154" y="2087356"/>
              <a:chExt cx="720000" cy="720000"/>
            </a:xfrm>
          </p:grpSpPr>
          <p:sp>
            <p:nvSpPr>
              <p:cNvPr id="58" name="Oval 57">
                <a:extLst>
                  <a:ext uri="{FF2B5EF4-FFF2-40B4-BE49-F238E27FC236}">
                    <a16:creationId xmlns:a16="http://schemas.microsoft.com/office/drawing/2014/main" id="{84D60896-1AF0-7FCD-1A5B-57DECE10A20D}"/>
                  </a:ext>
                </a:extLst>
              </p:cNvPr>
              <p:cNvSpPr>
                <a:spLocks noChangeAspect="1"/>
              </p:cNvSpPr>
              <p:nvPr/>
            </p:nvSpPr>
            <p:spPr>
              <a:xfrm>
                <a:off x="10119154"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67" name="Graphic 66" descr="Box with solid fill">
                <a:extLst>
                  <a:ext uri="{FF2B5EF4-FFF2-40B4-BE49-F238E27FC236}">
                    <a16:creationId xmlns:a16="http://schemas.microsoft.com/office/drawing/2014/main" id="{A191CD2C-19EA-6FB7-C670-168CC7978F5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60179" y="2128222"/>
                <a:ext cx="637949" cy="637949"/>
              </a:xfrm>
              <a:prstGeom prst="rect">
                <a:avLst/>
              </a:prstGeom>
            </p:spPr>
          </p:pic>
        </p:grpSp>
      </p:grpSp>
    </p:spTree>
    <p:extLst>
      <p:ext uri="{BB962C8B-B14F-4D97-AF65-F5344CB8AC3E}">
        <p14:creationId xmlns:p14="http://schemas.microsoft.com/office/powerpoint/2010/main" val="289511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US" dirty="0"/>
              <a:t>5</a:t>
            </a:r>
            <a:r>
              <a:rPr lang="en-BE" dirty="0"/>
              <a:t>. </a:t>
            </a:r>
            <a:r>
              <a:rPr lang="en-US" dirty="0"/>
              <a:t>Continuous Deployment</a:t>
            </a:r>
            <a:endParaRPr lang="en-BE" dirty="0"/>
          </a:p>
        </p:txBody>
      </p:sp>
      <p:grpSp>
        <p:nvGrpSpPr>
          <p:cNvPr id="3" name="Group 2">
            <a:extLst>
              <a:ext uri="{FF2B5EF4-FFF2-40B4-BE49-F238E27FC236}">
                <a16:creationId xmlns:a16="http://schemas.microsoft.com/office/drawing/2014/main" id="{A3959AE0-AEDC-E276-0C7A-78698F1FD969}"/>
              </a:ext>
            </a:extLst>
          </p:cNvPr>
          <p:cNvGrpSpPr/>
          <p:nvPr/>
        </p:nvGrpSpPr>
        <p:grpSpPr>
          <a:xfrm>
            <a:off x="553336" y="868345"/>
            <a:ext cx="11133386" cy="768874"/>
            <a:chOff x="553336" y="868345"/>
            <a:chExt cx="11133386" cy="768874"/>
          </a:xfrm>
        </p:grpSpPr>
        <p:sp>
          <p:nvSpPr>
            <p:cNvPr id="4" name="Rectangle 3">
              <a:extLst>
                <a:ext uri="{FF2B5EF4-FFF2-40B4-BE49-F238E27FC236}">
                  <a16:creationId xmlns:a16="http://schemas.microsoft.com/office/drawing/2014/main" id="{8C616FFA-121F-B926-60AE-98A5CD131B6B}"/>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Continuous Deployment (CD) is the practice of automatically delivering and releasing new software versions through multiple environments, from testing to production, without manual intervention. Every validated change from the CI pipeline can go live safely and consistently.</a:t>
              </a:r>
              <a:endParaRPr lang="en-BE" sz="1400" i="1" dirty="0">
                <a:solidFill>
                  <a:schemeClr val="tx1"/>
                </a:solidFill>
                <a:latin typeface="Calibri (Body)"/>
              </a:endParaRPr>
            </a:p>
          </p:txBody>
        </p:sp>
        <p:sp>
          <p:nvSpPr>
            <p:cNvPr id="6" name="TextBox 5">
              <a:extLst>
                <a:ext uri="{FF2B5EF4-FFF2-40B4-BE49-F238E27FC236}">
                  <a16:creationId xmlns:a16="http://schemas.microsoft.com/office/drawing/2014/main" id="{9C39E6E3-A468-48A6-D7FD-AFD7E43FD234}"/>
                </a:ext>
              </a:extLst>
            </p:cNvPr>
            <p:cNvSpPr txBox="1"/>
            <p:nvPr/>
          </p:nvSpPr>
          <p:spPr>
            <a:xfrm>
              <a:off x="635387" y="868345"/>
              <a:ext cx="891488" cy="253916"/>
            </a:xfrm>
            <a:prstGeom prst="rect">
              <a:avLst/>
            </a:prstGeom>
            <a:solidFill>
              <a:schemeClr val="bg1"/>
            </a:solidFill>
          </p:spPr>
          <p:txBody>
            <a:bodyPr wrap="square">
              <a:spAutoFit/>
            </a:bodyPr>
            <a:lstStyle/>
            <a:p>
              <a:r>
                <a:rPr lang="en-US" sz="1050" i="1" dirty="0">
                  <a:latin typeface="Calibri (Body)"/>
                </a:rPr>
                <a:t>definition</a:t>
              </a:r>
              <a:endParaRPr lang="en-BE" sz="1050" i="1" dirty="0">
                <a:latin typeface="Calibri (Body)"/>
              </a:endParaRPr>
            </a:p>
          </p:txBody>
        </p:sp>
      </p:grpSp>
      <p:grpSp>
        <p:nvGrpSpPr>
          <p:cNvPr id="25" name="Group 24">
            <a:extLst>
              <a:ext uri="{FF2B5EF4-FFF2-40B4-BE49-F238E27FC236}">
                <a16:creationId xmlns:a16="http://schemas.microsoft.com/office/drawing/2014/main" id="{4F593017-4FAA-92BB-F54E-64F5B3DBF1D3}"/>
              </a:ext>
            </a:extLst>
          </p:cNvPr>
          <p:cNvGrpSpPr/>
          <p:nvPr/>
        </p:nvGrpSpPr>
        <p:grpSpPr>
          <a:xfrm>
            <a:off x="553336" y="1693446"/>
            <a:ext cx="11133386" cy="4405695"/>
            <a:chOff x="553336" y="1693446"/>
            <a:chExt cx="11133386" cy="4405695"/>
          </a:xfrm>
        </p:grpSpPr>
        <p:sp>
          <p:nvSpPr>
            <p:cNvPr id="36" name="Rectangle 35">
              <a:extLst>
                <a:ext uri="{FF2B5EF4-FFF2-40B4-BE49-F238E27FC236}">
                  <a16:creationId xmlns:a16="http://schemas.microsoft.com/office/drawing/2014/main" id="{83CD675A-129A-57A9-48CB-82D4244AEA66}"/>
                </a:ext>
              </a:extLst>
            </p:cNvPr>
            <p:cNvSpPr/>
            <p:nvPr/>
          </p:nvSpPr>
          <p:spPr>
            <a:xfrm>
              <a:off x="553336" y="1845014"/>
              <a:ext cx="11133386" cy="4254127"/>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BE" sz="1400" i="1" dirty="0">
                <a:solidFill>
                  <a:schemeClr val="tx1"/>
                </a:solidFill>
                <a:latin typeface="Calibri (Body)"/>
              </a:endParaRPr>
            </a:p>
          </p:txBody>
        </p:sp>
        <p:sp>
          <p:nvSpPr>
            <p:cNvPr id="37" name="TextBox 36">
              <a:extLst>
                <a:ext uri="{FF2B5EF4-FFF2-40B4-BE49-F238E27FC236}">
                  <a16:creationId xmlns:a16="http://schemas.microsoft.com/office/drawing/2014/main" id="{FE6F26B6-C167-2F42-D932-49AE5A6890AF}"/>
                </a:ext>
              </a:extLst>
            </p:cNvPr>
            <p:cNvSpPr txBox="1"/>
            <p:nvPr/>
          </p:nvSpPr>
          <p:spPr>
            <a:xfrm>
              <a:off x="679570" y="1693446"/>
              <a:ext cx="1630814" cy="253916"/>
            </a:xfrm>
            <a:prstGeom prst="rect">
              <a:avLst/>
            </a:prstGeom>
            <a:solidFill>
              <a:schemeClr val="bg1"/>
            </a:solidFill>
          </p:spPr>
          <p:txBody>
            <a:bodyPr wrap="square">
              <a:spAutoFit/>
            </a:bodyPr>
            <a:lstStyle/>
            <a:p>
              <a:r>
                <a:rPr lang="en-US" sz="1050" i="1" dirty="0">
                  <a:latin typeface="Calibri (Body)"/>
                </a:rPr>
                <a:t>Inside the CD Pipeline</a:t>
              </a:r>
              <a:endParaRPr lang="en-BE" sz="1050" i="1" dirty="0">
                <a:latin typeface="Calibri (Body)"/>
              </a:endParaRPr>
            </a:p>
          </p:txBody>
        </p:sp>
      </p:grpSp>
      <p:sp>
        <p:nvSpPr>
          <p:cNvPr id="43" name="Rectangle 42">
            <a:extLst>
              <a:ext uri="{FF2B5EF4-FFF2-40B4-BE49-F238E27FC236}">
                <a16:creationId xmlns:a16="http://schemas.microsoft.com/office/drawing/2014/main" id="{D99317C2-CB88-91E7-C43E-123904CB7E65}"/>
              </a:ext>
            </a:extLst>
          </p:cNvPr>
          <p:cNvSpPr/>
          <p:nvPr/>
        </p:nvSpPr>
        <p:spPr>
          <a:xfrm>
            <a:off x="553336" y="6229655"/>
            <a:ext cx="11133386" cy="446917"/>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Continuous Deployment ensures that every validated change from development can reach users automatically, safely, and repeatedly, turning software delivery into a predictable, reliable flow instead of a risky event.</a:t>
            </a:r>
            <a:endParaRPr lang="en-BE" sz="1400" i="1" dirty="0">
              <a:solidFill>
                <a:schemeClr val="tx1"/>
              </a:solidFill>
              <a:latin typeface="Calibri (Body)"/>
            </a:endParaRPr>
          </a:p>
        </p:txBody>
      </p:sp>
      <p:grpSp>
        <p:nvGrpSpPr>
          <p:cNvPr id="42" name="Group 41">
            <a:extLst>
              <a:ext uri="{FF2B5EF4-FFF2-40B4-BE49-F238E27FC236}">
                <a16:creationId xmlns:a16="http://schemas.microsoft.com/office/drawing/2014/main" id="{984F0BDE-911F-20DC-ED55-301EE71EE779}"/>
              </a:ext>
            </a:extLst>
          </p:cNvPr>
          <p:cNvGrpSpPr/>
          <p:nvPr/>
        </p:nvGrpSpPr>
        <p:grpSpPr>
          <a:xfrm>
            <a:off x="635387" y="2087356"/>
            <a:ext cx="2319020" cy="3727384"/>
            <a:chOff x="635387" y="2087356"/>
            <a:chExt cx="2319020" cy="3727384"/>
          </a:xfrm>
        </p:grpSpPr>
        <p:sp>
          <p:nvSpPr>
            <p:cNvPr id="7" name="Arrow: Pentagon 6">
              <a:extLst>
                <a:ext uri="{FF2B5EF4-FFF2-40B4-BE49-F238E27FC236}">
                  <a16:creationId xmlns:a16="http://schemas.microsoft.com/office/drawing/2014/main" id="{0C9F3D56-120D-E644-DBD5-E5C0BB2072E2}"/>
                </a:ext>
              </a:extLst>
            </p:cNvPr>
            <p:cNvSpPr/>
            <p:nvPr/>
          </p:nvSpPr>
          <p:spPr>
            <a:xfrm>
              <a:off x="635387" y="2900680"/>
              <a:ext cx="2319020" cy="528320"/>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1. Deploy to Test</a:t>
              </a:r>
            </a:p>
          </p:txBody>
        </p:sp>
        <p:sp>
          <p:nvSpPr>
            <p:cNvPr id="24" name="Rectangle 23">
              <a:extLst>
                <a:ext uri="{FF2B5EF4-FFF2-40B4-BE49-F238E27FC236}">
                  <a16:creationId xmlns:a16="http://schemas.microsoft.com/office/drawing/2014/main" id="{3D94BD6D-88B8-1602-DA40-7818A6409002}"/>
                </a:ext>
              </a:extLst>
            </p:cNvPr>
            <p:cNvSpPr/>
            <p:nvPr/>
          </p:nvSpPr>
          <p:spPr>
            <a:xfrm>
              <a:off x="763657"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The artifact produced by CI is deployed automatically to a test environment. </a:t>
              </a:r>
            </a:p>
            <a:p>
              <a:pPr marL="171450" indent="-171450" algn="just">
                <a:buFont typeface="Arial" panose="020B0604020202020204" pitchFamily="34" charset="0"/>
                <a:buChar char="•"/>
              </a:pPr>
              <a:r>
                <a:rPr lang="en-US" sz="1200" dirty="0">
                  <a:solidFill>
                    <a:schemeClr val="tx1"/>
                  </a:solidFill>
                  <a:latin typeface="Calibri (Body)"/>
                </a:rPr>
                <a:t>Automated integration, API, and UI tests run here.</a:t>
              </a:r>
            </a:p>
            <a:p>
              <a:pPr marL="171450" indent="-171450" algn="just">
                <a:buFont typeface="Arial" panose="020B0604020202020204" pitchFamily="34" charset="0"/>
                <a:buChar char="•"/>
              </a:pPr>
              <a:r>
                <a:rPr lang="en-US" sz="1200" dirty="0">
                  <a:solidFill>
                    <a:schemeClr val="tx1"/>
                  </a:solidFill>
                  <a:latin typeface="Calibri (Body)"/>
                </a:rPr>
                <a:t>Verifies that services interact correctly in a realistic environment.</a:t>
              </a:r>
            </a:p>
          </p:txBody>
        </p:sp>
        <p:grpSp>
          <p:nvGrpSpPr>
            <p:cNvPr id="35" name="Group 34">
              <a:extLst>
                <a:ext uri="{FF2B5EF4-FFF2-40B4-BE49-F238E27FC236}">
                  <a16:creationId xmlns:a16="http://schemas.microsoft.com/office/drawing/2014/main" id="{0B786071-7BA9-FC08-E055-EC2942C5284C}"/>
                </a:ext>
              </a:extLst>
            </p:cNvPr>
            <p:cNvGrpSpPr/>
            <p:nvPr/>
          </p:nvGrpSpPr>
          <p:grpSpPr>
            <a:xfrm>
              <a:off x="1434896" y="2087356"/>
              <a:ext cx="720000" cy="720000"/>
              <a:chOff x="1434896" y="2087356"/>
              <a:chExt cx="720000" cy="720000"/>
            </a:xfrm>
          </p:grpSpPr>
          <p:sp>
            <p:nvSpPr>
              <p:cNvPr id="46" name="Oval 45">
                <a:extLst>
                  <a:ext uri="{FF2B5EF4-FFF2-40B4-BE49-F238E27FC236}">
                    <a16:creationId xmlns:a16="http://schemas.microsoft.com/office/drawing/2014/main" id="{391679CC-C9D6-C2C5-25E9-D842026979D3}"/>
                  </a:ext>
                </a:extLst>
              </p:cNvPr>
              <p:cNvSpPr>
                <a:spLocks noChangeAspect="1"/>
              </p:cNvSpPr>
              <p:nvPr/>
            </p:nvSpPr>
            <p:spPr>
              <a:xfrm>
                <a:off x="1434896"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9" name="Graphic 8" descr="Magnifying glass with solid fill">
                <a:extLst>
                  <a:ext uri="{FF2B5EF4-FFF2-40B4-BE49-F238E27FC236}">
                    <a16:creationId xmlns:a16="http://schemas.microsoft.com/office/drawing/2014/main" id="{55AF7B3D-04B3-5C74-C61C-5AFCB250FC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26783" y="2179243"/>
                <a:ext cx="536226" cy="536226"/>
              </a:xfrm>
              <a:prstGeom prst="rect">
                <a:avLst/>
              </a:prstGeom>
            </p:spPr>
          </p:pic>
        </p:grpSp>
      </p:grpSp>
      <p:grpSp>
        <p:nvGrpSpPr>
          <p:cNvPr id="44" name="Group 43">
            <a:extLst>
              <a:ext uri="{FF2B5EF4-FFF2-40B4-BE49-F238E27FC236}">
                <a16:creationId xmlns:a16="http://schemas.microsoft.com/office/drawing/2014/main" id="{FC3122BC-0177-50C3-0536-550BC7A1BE13}"/>
              </a:ext>
            </a:extLst>
          </p:cNvPr>
          <p:cNvGrpSpPr/>
          <p:nvPr/>
        </p:nvGrpSpPr>
        <p:grpSpPr>
          <a:xfrm>
            <a:off x="2806451" y="2087356"/>
            <a:ext cx="2319020" cy="3727384"/>
            <a:chOff x="2806451" y="2087356"/>
            <a:chExt cx="2319020" cy="3727384"/>
          </a:xfrm>
        </p:grpSpPr>
        <p:sp>
          <p:nvSpPr>
            <p:cNvPr id="18" name="Arrow: Chevron 17">
              <a:extLst>
                <a:ext uri="{FF2B5EF4-FFF2-40B4-BE49-F238E27FC236}">
                  <a16:creationId xmlns:a16="http://schemas.microsoft.com/office/drawing/2014/main" id="{49E22DAA-AF11-384C-2C50-B4B8706B9220}"/>
                </a:ext>
              </a:extLst>
            </p:cNvPr>
            <p:cNvSpPr/>
            <p:nvPr/>
          </p:nvSpPr>
          <p:spPr>
            <a:xfrm>
              <a:off x="2806451"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2. Quality Gates</a:t>
              </a:r>
            </a:p>
          </p:txBody>
        </p:sp>
        <p:sp>
          <p:nvSpPr>
            <p:cNvPr id="27" name="Rectangle 26">
              <a:extLst>
                <a:ext uri="{FF2B5EF4-FFF2-40B4-BE49-F238E27FC236}">
                  <a16:creationId xmlns:a16="http://schemas.microsoft.com/office/drawing/2014/main" id="{1E980E6E-8E22-6712-6CAD-1CA6265FE529}"/>
                </a:ext>
              </a:extLst>
            </p:cNvPr>
            <p:cNvSpPr/>
            <p:nvPr/>
          </p:nvSpPr>
          <p:spPr>
            <a:xfrm>
              <a:off x="2934721"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The system checks that all tests and quality thresholds (e.g., performance, security, compliance) pass successfully.</a:t>
              </a:r>
            </a:p>
            <a:p>
              <a:pPr marL="171450" indent="-171450" algn="just">
                <a:buFont typeface="Arial" panose="020B0604020202020204" pitchFamily="34" charset="0"/>
                <a:buChar char="•"/>
              </a:pPr>
              <a:r>
                <a:rPr lang="en-US" sz="1200" dirty="0">
                  <a:solidFill>
                    <a:schemeClr val="tx1"/>
                  </a:solidFill>
                  <a:latin typeface="Calibri (Body)"/>
                </a:rPr>
                <a:t>Optional manual approvals may be required before promoting to the next stage </a:t>
              </a:r>
            </a:p>
            <a:p>
              <a:pPr marL="171450" indent="-171450" algn="just">
                <a:buFont typeface="Arial" panose="020B0604020202020204" pitchFamily="34" charset="0"/>
                <a:buChar char="•"/>
              </a:pPr>
              <a:endParaRPr lang="en-US" sz="1200" dirty="0">
                <a:solidFill>
                  <a:schemeClr val="tx1"/>
                </a:solidFill>
                <a:latin typeface="Calibri (Body)"/>
              </a:endParaRPr>
            </a:p>
          </p:txBody>
        </p:sp>
        <p:grpSp>
          <p:nvGrpSpPr>
            <p:cNvPr id="38" name="Group 37">
              <a:extLst>
                <a:ext uri="{FF2B5EF4-FFF2-40B4-BE49-F238E27FC236}">
                  <a16:creationId xmlns:a16="http://schemas.microsoft.com/office/drawing/2014/main" id="{222C5993-7526-1FF6-56E1-E7408E79DF17}"/>
                </a:ext>
              </a:extLst>
            </p:cNvPr>
            <p:cNvGrpSpPr/>
            <p:nvPr/>
          </p:nvGrpSpPr>
          <p:grpSpPr>
            <a:xfrm>
              <a:off x="3605961" y="2087356"/>
              <a:ext cx="720000" cy="720000"/>
              <a:chOff x="3605961" y="2087356"/>
              <a:chExt cx="720000" cy="720000"/>
            </a:xfrm>
          </p:grpSpPr>
          <p:sp>
            <p:nvSpPr>
              <p:cNvPr id="49" name="Oval 48">
                <a:extLst>
                  <a:ext uri="{FF2B5EF4-FFF2-40B4-BE49-F238E27FC236}">
                    <a16:creationId xmlns:a16="http://schemas.microsoft.com/office/drawing/2014/main" id="{5DC49C21-274E-5882-9954-25CD1DC31979}"/>
                  </a:ext>
                </a:extLst>
              </p:cNvPr>
              <p:cNvSpPr>
                <a:spLocks noChangeAspect="1"/>
              </p:cNvSpPr>
              <p:nvPr/>
            </p:nvSpPr>
            <p:spPr>
              <a:xfrm>
                <a:off x="3605961"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15" name="Graphic 14" descr="Checkmark with solid fill">
                <a:extLst>
                  <a:ext uri="{FF2B5EF4-FFF2-40B4-BE49-F238E27FC236}">
                    <a16:creationId xmlns:a16="http://schemas.microsoft.com/office/drawing/2014/main" id="{E5D5BC34-B1BA-AB31-BEB1-4A5A50E486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48362" y="2197336"/>
                <a:ext cx="495549" cy="495549"/>
              </a:xfrm>
              <a:prstGeom prst="rect">
                <a:avLst/>
              </a:prstGeom>
            </p:spPr>
          </p:pic>
        </p:grpSp>
      </p:grpSp>
      <p:grpSp>
        <p:nvGrpSpPr>
          <p:cNvPr id="47" name="Group 46">
            <a:extLst>
              <a:ext uri="{FF2B5EF4-FFF2-40B4-BE49-F238E27FC236}">
                <a16:creationId xmlns:a16="http://schemas.microsoft.com/office/drawing/2014/main" id="{1ABE48EA-C925-A83E-E951-3872BFD8EF27}"/>
              </a:ext>
            </a:extLst>
          </p:cNvPr>
          <p:cNvGrpSpPr/>
          <p:nvPr/>
        </p:nvGrpSpPr>
        <p:grpSpPr>
          <a:xfrm>
            <a:off x="4977515" y="2087356"/>
            <a:ext cx="2319020" cy="3727384"/>
            <a:chOff x="4977515" y="2087356"/>
            <a:chExt cx="2319020" cy="3727384"/>
          </a:xfrm>
        </p:grpSpPr>
        <p:sp>
          <p:nvSpPr>
            <p:cNvPr id="16" name="Arrow: Chevron 15">
              <a:extLst>
                <a:ext uri="{FF2B5EF4-FFF2-40B4-BE49-F238E27FC236}">
                  <a16:creationId xmlns:a16="http://schemas.microsoft.com/office/drawing/2014/main" id="{BE1F6E1B-33E9-C1CD-F639-0103C31F8E22}"/>
                </a:ext>
              </a:extLst>
            </p:cNvPr>
            <p:cNvSpPr/>
            <p:nvPr/>
          </p:nvSpPr>
          <p:spPr>
            <a:xfrm>
              <a:off x="4977515"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3. Deploy to Staging</a:t>
              </a:r>
            </a:p>
          </p:txBody>
        </p:sp>
        <p:sp>
          <p:nvSpPr>
            <p:cNvPr id="30" name="Rectangle 29">
              <a:extLst>
                <a:ext uri="{FF2B5EF4-FFF2-40B4-BE49-F238E27FC236}">
                  <a16:creationId xmlns:a16="http://schemas.microsoft.com/office/drawing/2014/main" id="{703CE01E-947A-9C26-785F-7821286ADD93}"/>
                </a:ext>
              </a:extLst>
            </p:cNvPr>
            <p:cNvSpPr/>
            <p:nvPr/>
          </p:nvSpPr>
          <p:spPr>
            <a:xfrm>
              <a:off x="5105785"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Staging mirrors production as closely as possible: same infra, configurations, and services.</a:t>
              </a:r>
            </a:p>
            <a:p>
              <a:pPr marL="171450" indent="-171450" algn="just">
                <a:buFont typeface="Arial" panose="020B0604020202020204" pitchFamily="34" charset="0"/>
                <a:buChar char="•"/>
              </a:pPr>
              <a:r>
                <a:rPr lang="en-US" sz="1200" dirty="0">
                  <a:solidFill>
                    <a:schemeClr val="tx1"/>
                  </a:solidFill>
                  <a:latin typeface="Calibri (Body)"/>
                </a:rPr>
                <a:t>Final tests (Load/performance tests, security scans, user acceptance).</a:t>
              </a:r>
            </a:p>
            <a:p>
              <a:pPr marL="171450" indent="-171450" algn="just">
                <a:buFont typeface="Arial" panose="020B0604020202020204" pitchFamily="34" charset="0"/>
                <a:buChar char="•"/>
              </a:pPr>
              <a:r>
                <a:rPr lang="en-US" sz="1200" dirty="0">
                  <a:solidFill>
                    <a:schemeClr val="tx1"/>
                  </a:solidFill>
                  <a:latin typeface="Calibri (Body)"/>
                </a:rPr>
                <a:t>Confirms readiness for production under real-world conditions.</a:t>
              </a:r>
            </a:p>
            <a:p>
              <a:pPr marL="171450" indent="-171450" algn="just">
                <a:buFont typeface="Arial" panose="020B0604020202020204" pitchFamily="34" charset="0"/>
                <a:buChar char="•"/>
              </a:pPr>
              <a:endParaRPr lang="en-US" sz="1200" dirty="0">
                <a:solidFill>
                  <a:schemeClr val="tx1"/>
                </a:solidFill>
                <a:latin typeface="Calibri (Body)"/>
              </a:endParaRPr>
            </a:p>
          </p:txBody>
        </p:sp>
        <p:grpSp>
          <p:nvGrpSpPr>
            <p:cNvPr id="39" name="Group 38">
              <a:extLst>
                <a:ext uri="{FF2B5EF4-FFF2-40B4-BE49-F238E27FC236}">
                  <a16:creationId xmlns:a16="http://schemas.microsoft.com/office/drawing/2014/main" id="{28622990-E6CC-F5B3-31D9-27ECFA159869}"/>
                </a:ext>
              </a:extLst>
            </p:cNvPr>
            <p:cNvGrpSpPr/>
            <p:nvPr/>
          </p:nvGrpSpPr>
          <p:grpSpPr>
            <a:xfrm>
              <a:off x="5736000" y="2087356"/>
              <a:ext cx="720000" cy="720000"/>
              <a:chOff x="5736000" y="2087356"/>
              <a:chExt cx="720000" cy="720000"/>
            </a:xfrm>
          </p:grpSpPr>
          <p:sp>
            <p:nvSpPr>
              <p:cNvPr id="52" name="Oval 51">
                <a:extLst>
                  <a:ext uri="{FF2B5EF4-FFF2-40B4-BE49-F238E27FC236}">
                    <a16:creationId xmlns:a16="http://schemas.microsoft.com/office/drawing/2014/main" id="{9313EDA4-D0F9-0FBC-F897-C6A26ADE3DCC}"/>
                  </a:ext>
                </a:extLst>
              </p:cNvPr>
              <p:cNvSpPr>
                <a:spLocks noChangeAspect="1"/>
              </p:cNvSpPr>
              <p:nvPr/>
            </p:nvSpPr>
            <p:spPr>
              <a:xfrm>
                <a:off x="5736000"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19" name="Graphic 18" descr="Hierarchy with solid fill">
                <a:extLst>
                  <a:ext uri="{FF2B5EF4-FFF2-40B4-BE49-F238E27FC236}">
                    <a16:creationId xmlns:a16="http://schemas.microsoft.com/office/drawing/2014/main" id="{4F449BAD-B1CD-1284-8C35-E74DF5D5F1F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31840" y="2154496"/>
                <a:ext cx="528320" cy="528320"/>
              </a:xfrm>
              <a:prstGeom prst="rect">
                <a:avLst/>
              </a:prstGeom>
            </p:spPr>
          </p:pic>
        </p:grpSp>
      </p:grpSp>
      <p:grpSp>
        <p:nvGrpSpPr>
          <p:cNvPr id="48" name="Group 47">
            <a:extLst>
              <a:ext uri="{FF2B5EF4-FFF2-40B4-BE49-F238E27FC236}">
                <a16:creationId xmlns:a16="http://schemas.microsoft.com/office/drawing/2014/main" id="{4DED96A8-66B5-3E79-EFB0-6A925F13FDE0}"/>
              </a:ext>
            </a:extLst>
          </p:cNvPr>
          <p:cNvGrpSpPr/>
          <p:nvPr/>
        </p:nvGrpSpPr>
        <p:grpSpPr>
          <a:xfrm>
            <a:off x="7148579" y="2087356"/>
            <a:ext cx="2319020" cy="3727384"/>
            <a:chOff x="7148579" y="2087356"/>
            <a:chExt cx="2319020" cy="3727384"/>
          </a:xfrm>
        </p:grpSpPr>
        <p:sp>
          <p:nvSpPr>
            <p:cNvPr id="14" name="Arrow: Chevron 13">
              <a:extLst>
                <a:ext uri="{FF2B5EF4-FFF2-40B4-BE49-F238E27FC236}">
                  <a16:creationId xmlns:a16="http://schemas.microsoft.com/office/drawing/2014/main" id="{21C0D8A2-F4D1-84D7-22E5-B640EC5A3279}"/>
                </a:ext>
              </a:extLst>
            </p:cNvPr>
            <p:cNvSpPr/>
            <p:nvPr/>
          </p:nvSpPr>
          <p:spPr>
            <a:xfrm>
              <a:off x="7148579"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4. Deploy to Prod</a:t>
              </a:r>
            </a:p>
          </p:txBody>
        </p:sp>
        <p:sp>
          <p:nvSpPr>
            <p:cNvPr id="31" name="Rectangle 30">
              <a:extLst>
                <a:ext uri="{FF2B5EF4-FFF2-40B4-BE49-F238E27FC236}">
                  <a16:creationId xmlns:a16="http://schemas.microsoft.com/office/drawing/2014/main" id="{13D012E2-5F9A-3B25-7EEF-8B693FC8A90E}"/>
                </a:ext>
              </a:extLst>
            </p:cNvPr>
            <p:cNvSpPr/>
            <p:nvPr/>
          </p:nvSpPr>
          <p:spPr>
            <a:xfrm>
              <a:off x="7276849"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The validated build is automatically rolled out to the production environment.</a:t>
              </a:r>
            </a:p>
            <a:p>
              <a:pPr marL="171450" indent="-171450" algn="just">
                <a:buFont typeface="Arial" panose="020B0604020202020204" pitchFamily="34" charset="0"/>
                <a:buChar char="•"/>
              </a:pPr>
              <a:r>
                <a:rPr lang="en-US" sz="1200" dirty="0">
                  <a:solidFill>
                    <a:schemeClr val="tx1"/>
                  </a:solidFill>
                  <a:latin typeface="Calibri (Body)"/>
                </a:rPr>
                <a:t>Deployment strategies ensure stability and minimal downtime (rolling updates, blue/green, canary releases)</a:t>
              </a:r>
            </a:p>
          </p:txBody>
        </p:sp>
        <p:grpSp>
          <p:nvGrpSpPr>
            <p:cNvPr id="40" name="Group 39">
              <a:extLst>
                <a:ext uri="{FF2B5EF4-FFF2-40B4-BE49-F238E27FC236}">
                  <a16:creationId xmlns:a16="http://schemas.microsoft.com/office/drawing/2014/main" id="{99985101-4310-BBC6-ADF5-DE307C89AEED}"/>
                </a:ext>
              </a:extLst>
            </p:cNvPr>
            <p:cNvGrpSpPr/>
            <p:nvPr/>
          </p:nvGrpSpPr>
          <p:grpSpPr>
            <a:xfrm>
              <a:off x="7948089" y="2087356"/>
              <a:ext cx="720000" cy="720000"/>
              <a:chOff x="7948089" y="2087356"/>
              <a:chExt cx="720000" cy="720000"/>
            </a:xfrm>
          </p:grpSpPr>
          <p:sp>
            <p:nvSpPr>
              <p:cNvPr id="55" name="Oval 54">
                <a:extLst>
                  <a:ext uri="{FF2B5EF4-FFF2-40B4-BE49-F238E27FC236}">
                    <a16:creationId xmlns:a16="http://schemas.microsoft.com/office/drawing/2014/main" id="{4E4B8680-631C-5DE1-8EE0-5D6DD2FFD33F}"/>
                  </a:ext>
                </a:extLst>
              </p:cNvPr>
              <p:cNvSpPr>
                <a:spLocks noChangeAspect="1"/>
              </p:cNvSpPr>
              <p:nvPr/>
            </p:nvSpPr>
            <p:spPr>
              <a:xfrm>
                <a:off x="7948089"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21" name="Graphic 20" descr="Rocket with solid fill">
                <a:extLst>
                  <a:ext uri="{FF2B5EF4-FFF2-40B4-BE49-F238E27FC236}">
                    <a16:creationId xmlns:a16="http://schemas.microsoft.com/office/drawing/2014/main" id="{FCE31B8F-EA56-E3BC-F338-15CB0B4A551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68362" y="2197336"/>
                <a:ext cx="479453" cy="479453"/>
              </a:xfrm>
              <a:prstGeom prst="rect">
                <a:avLst/>
              </a:prstGeom>
            </p:spPr>
          </p:pic>
        </p:grpSp>
      </p:grpSp>
      <p:grpSp>
        <p:nvGrpSpPr>
          <p:cNvPr id="50" name="Group 49">
            <a:extLst>
              <a:ext uri="{FF2B5EF4-FFF2-40B4-BE49-F238E27FC236}">
                <a16:creationId xmlns:a16="http://schemas.microsoft.com/office/drawing/2014/main" id="{B3D9AC71-19C7-BA3D-F376-6813384CE18E}"/>
              </a:ext>
            </a:extLst>
          </p:cNvPr>
          <p:cNvGrpSpPr/>
          <p:nvPr/>
        </p:nvGrpSpPr>
        <p:grpSpPr>
          <a:xfrm>
            <a:off x="9319644" y="2087356"/>
            <a:ext cx="2319020" cy="3727384"/>
            <a:chOff x="9319644" y="2087356"/>
            <a:chExt cx="2319020" cy="3727384"/>
          </a:xfrm>
        </p:grpSpPr>
        <p:sp>
          <p:nvSpPr>
            <p:cNvPr id="12" name="Arrow: Chevron 11">
              <a:extLst>
                <a:ext uri="{FF2B5EF4-FFF2-40B4-BE49-F238E27FC236}">
                  <a16:creationId xmlns:a16="http://schemas.microsoft.com/office/drawing/2014/main" id="{5261B537-7B31-8854-B436-4E7904F3EB57}"/>
                </a:ext>
              </a:extLst>
            </p:cNvPr>
            <p:cNvSpPr/>
            <p:nvPr/>
          </p:nvSpPr>
          <p:spPr>
            <a:xfrm>
              <a:off x="9319644" y="2900680"/>
              <a:ext cx="2319020" cy="52832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Calibri (Body)"/>
                </a:rPr>
                <a:t>5. Post-Deployment</a:t>
              </a:r>
            </a:p>
          </p:txBody>
        </p:sp>
        <p:sp>
          <p:nvSpPr>
            <p:cNvPr id="32" name="Rectangle 31">
              <a:extLst>
                <a:ext uri="{FF2B5EF4-FFF2-40B4-BE49-F238E27FC236}">
                  <a16:creationId xmlns:a16="http://schemas.microsoft.com/office/drawing/2014/main" id="{B2815662-384C-D635-3867-E43B73AF7D7E}"/>
                </a:ext>
              </a:extLst>
            </p:cNvPr>
            <p:cNvSpPr/>
            <p:nvPr/>
          </p:nvSpPr>
          <p:spPr>
            <a:xfrm>
              <a:off x="9447914" y="3713401"/>
              <a:ext cx="2062480" cy="210133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Automated health checks and smoke tests confirm that services are running correctly.</a:t>
              </a:r>
            </a:p>
            <a:p>
              <a:pPr marL="171450" indent="-171450" algn="just">
                <a:buFont typeface="Arial" panose="020B0604020202020204" pitchFamily="34" charset="0"/>
                <a:buChar char="•"/>
              </a:pPr>
              <a:r>
                <a:rPr lang="en-US" sz="1200" dirty="0">
                  <a:solidFill>
                    <a:schemeClr val="tx1"/>
                  </a:solidFill>
                  <a:latin typeface="Calibri (Body)"/>
                </a:rPr>
                <a:t>If issues appear, the pipeline can trigger an automatic rollback to the previous version.</a:t>
              </a:r>
            </a:p>
          </p:txBody>
        </p:sp>
        <p:grpSp>
          <p:nvGrpSpPr>
            <p:cNvPr id="41" name="Group 40">
              <a:extLst>
                <a:ext uri="{FF2B5EF4-FFF2-40B4-BE49-F238E27FC236}">
                  <a16:creationId xmlns:a16="http://schemas.microsoft.com/office/drawing/2014/main" id="{7CC8966A-A2AC-24B7-A546-CF90CCC441EE}"/>
                </a:ext>
              </a:extLst>
            </p:cNvPr>
            <p:cNvGrpSpPr/>
            <p:nvPr/>
          </p:nvGrpSpPr>
          <p:grpSpPr>
            <a:xfrm>
              <a:off x="10119154" y="2087356"/>
              <a:ext cx="720000" cy="720000"/>
              <a:chOff x="10119154" y="2087356"/>
              <a:chExt cx="720000" cy="720000"/>
            </a:xfrm>
          </p:grpSpPr>
          <p:sp>
            <p:nvSpPr>
              <p:cNvPr id="58" name="Oval 57">
                <a:extLst>
                  <a:ext uri="{FF2B5EF4-FFF2-40B4-BE49-F238E27FC236}">
                    <a16:creationId xmlns:a16="http://schemas.microsoft.com/office/drawing/2014/main" id="{84D60896-1AF0-7FCD-1A5B-57DECE10A20D}"/>
                  </a:ext>
                </a:extLst>
              </p:cNvPr>
              <p:cNvSpPr>
                <a:spLocks noChangeAspect="1"/>
              </p:cNvSpPr>
              <p:nvPr/>
            </p:nvSpPr>
            <p:spPr>
              <a:xfrm>
                <a:off x="10119154" y="2087356"/>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23" name="Graphic 22" descr="Bar chart with solid fill">
                <a:extLst>
                  <a:ext uri="{FF2B5EF4-FFF2-40B4-BE49-F238E27FC236}">
                    <a16:creationId xmlns:a16="http://schemas.microsoft.com/office/drawing/2014/main" id="{579166B6-62ED-577F-050A-D6990347EBC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215714" y="2149909"/>
                <a:ext cx="526880" cy="526880"/>
              </a:xfrm>
              <a:prstGeom prst="rect">
                <a:avLst/>
              </a:prstGeom>
            </p:spPr>
          </p:pic>
        </p:grpSp>
      </p:grpSp>
    </p:spTree>
    <p:extLst>
      <p:ext uri="{BB962C8B-B14F-4D97-AF65-F5344CB8AC3E}">
        <p14:creationId xmlns:p14="http://schemas.microsoft.com/office/powerpoint/2010/main" val="112464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US" dirty="0"/>
              <a:t>6</a:t>
            </a:r>
            <a:r>
              <a:rPr lang="en-BE" dirty="0"/>
              <a:t>. </a:t>
            </a:r>
            <a:r>
              <a:rPr lang="en-US" dirty="0"/>
              <a:t>Branching Strategies</a:t>
            </a:r>
            <a:endParaRPr lang="en-BE" dirty="0"/>
          </a:p>
        </p:txBody>
      </p:sp>
      <p:grpSp>
        <p:nvGrpSpPr>
          <p:cNvPr id="3" name="Group 2">
            <a:extLst>
              <a:ext uri="{FF2B5EF4-FFF2-40B4-BE49-F238E27FC236}">
                <a16:creationId xmlns:a16="http://schemas.microsoft.com/office/drawing/2014/main" id="{A3959AE0-AEDC-E276-0C7A-78698F1FD969}"/>
              </a:ext>
            </a:extLst>
          </p:cNvPr>
          <p:cNvGrpSpPr/>
          <p:nvPr/>
        </p:nvGrpSpPr>
        <p:grpSpPr>
          <a:xfrm>
            <a:off x="553336" y="868345"/>
            <a:ext cx="11133386" cy="768874"/>
            <a:chOff x="553336" y="868345"/>
            <a:chExt cx="11133386" cy="768874"/>
          </a:xfrm>
        </p:grpSpPr>
        <p:sp>
          <p:nvSpPr>
            <p:cNvPr id="4" name="Rectangle 3">
              <a:extLst>
                <a:ext uri="{FF2B5EF4-FFF2-40B4-BE49-F238E27FC236}">
                  <a16:creationId xmlns:a16="http://schemas.microsoft.com/office/drawing/2014/main" id="{8C616FFA-121F-B926-60AE-98A5CD131B6B}"/>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A branching strategy defines how developers </a:t>
              </a:r>
              <a:r>
                <a:rPr lang="en-US" sz="1400" i="1" dirty="0" err="1">
                  <a:solidFill>
                    <a:schemeClr val="tx1"/>
                  </a:solidFill>
                  <a:latin typeface="Calibri (Body)"/>
                </a:rPr>
                <a:t>organise</a:t>
              </a:r>
              <a:r>
                <a:rPr lang="en-US" sz="1400" i="1" dirty="0">
                  <a:solidFill>
                    <a:schemeClr val="tx1"/>
                  </a:solidFill>
                  <a:latin typeface="Calibri (Body)"/>
                </a:rPr>
                <a:t>, isolate, and merge their code changes within a version control system (like Git).It determines how teams collaborate, how often they integrate, and how code moves from development to production.</a:t>
              </a:r>
              <a:endParaRPr lang="en-BE" sz="1400" i="1" dirty="0">
                <a:solidFill>
                  <a:schemeClr val="tx1"/>
                </a:solidFill>
                <a:latin typeface="Calibri (Body)"/>
              </a:endParaRPr>
            </a:p>
          </p:txBody>
        </p:sp>
        <p:sp>
          <p:nvSpPr>
            <p:cNvPr id="6" name="TextBox 5">
              <a:extLst>
                <a:ext uri="{FF2B5EF4-FFF2-40B4-BE49-F238E27FC236}">
                  <a16:creationId xmlns:a16="http://schemas.microsoft.com/office/drawing/2014/main" id="{9C39E6E3-A468-48A6-D7FD-AFD7E43FD234}"/>
                </a:ext>
              </a:extLst>
            </p:cNvPr>
            <p:cNvSpPr txBox="1"/>
            <p:nvPr/>
          </p:nvSpPr>
          <p:spPr>
            <a:xfrm>
              <a:off x="635387" y="868345"/>
              <a:ext cx="891488" cy="253916"/>
            </a:xfrm>
            <a:prstGeom prst="rect">
              <a:avLst/>
            </a:prstGeom>
            <a:solidFill>
              <a:schemeClr val="bg1"/>
            </a:solidFill>
          </p:spPr>
          <p:txBody>
            <a:bodyPr wrap="square">
              <a:spAutoFit/>
            </a:bodyPr>
            <a:lstStyle/>
            <a:p>
              <a:r>
                <a:rPr lang="en-US" sz="1050" i="1" dirty="0">
                  <a:latin typeface="Calibri (Body)"/>
                </a:rPr>
                <a:t>definition</a:t>
              </a:r>
              <a:endParaRPr lang="en-BE" sz="1050" i="1" dirty="0">
                <a:latin typeface="Calibri (Body)"/>
              </a:endParaRPr>
            </a:p>
          </p:txBody>
        </p:sp>
      </p:grpSp>
      <p:pic>
        <p:nvPicPr>
          <p:cNvPr id="10" name="Picture 9">
            <a:extLst>
              <a:ext uri="{FF2B5EF4-FFF2-40B4-BE49-F238E27FC236}">
                <a16:creationId xmlns:a16="http://schemas.microsoft.com/office/drawing/2014/main" id="{C4CBCCA0-FD8A-44A0-8738-2E6B3570ED51}"/>
              </a:ext>
            </a:extLst>
          </p:cNvPr>
          <p:cNvPicPr>
            <a:picLocks noChangeAspect="1"/>
          </p:cNvPicPr>
          <p:nvPr/>
        </p:nvPicPr>
        <p:blipFill>
          <a:blip r:embed="rId6"/>
          <a:stretch>
            <a:fillRect/>
          </a:stretch>
        </p:blipFill>
        <p:spPr>
          <a:xfrm>
            <a:off x="553336" y="2750740"/>
            <a:ext cx="3471909" cy="2237473"/>
          </a:xfrm>
          <a:prstGeom prst="rect">
            <a:avLst/>
          </a:prstGeom>
        </p:spPr>
      </p:pic>
      <p:sp>
        <p:nvSpPr>
          <p:cNvPr id="11" name="Rectangle 10">
            <a:extLst>
              <a:ext uri="{FF2B5EF4-FFF2-40B4-BE49-F238E27FC236}">
                <a16:creationId xmlns:a16="http://schemas.microsoft.com/office/drawing/2014/main" id="{361707C5-2D28-5A84-5CD4-D75A153B8FDC}"/>
              </a:ext>
            </a:extLst>
          </p:cNvPr>
          <p:cNvSpPr/>
          <p:nvPr/>
        </p:nvSpPr>
        <p:spPr>
          <a:xfrm>
            <a:off x="553336" y="2028066"/>
            <a:ext cx="3471909"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Git Flow Workflow</a:t>
            </a:r>
            <a:endParaRPr lang="en-BE" sz="1200" b="1" dirty="0">
              <a:latin typeface="Calibri (Body)"/>
            </a:endParaRPr>
          </a:p>
        </p:txBody>
      </p:sp>
      <p:sp>
        <p:nvSpPr>
          <p:cNvPr id="13" name="Rectangle 12">
            <a:extLst>
              <a:ext uri="{FF2B5EF4-FFF2-40B4-BE49-F238E27FC236}">
                <a16:creationId xmlns:a16="http://schemas.microsoft.com/office/drawing/2014/main" id="{07ED877A-F7AD-6A0B-24ED-D426AF0389D5}"/>
              </a:ext>
            </a:extLst>
          </p:cNvPr>
          <p:cNvSpPr/>
          <p:nvPr/>
        </p:nvSpPr>
        <p:spPr>
          <a:xfrm>
            <a:off x="4382714" y="2028066"/>
            <a:ext cx="3471909"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Feature Branching</a:t>
            </a:r>
            <a:endParaRPr lang="en-BE" sz="1200" b="1" dirty="0">
              <a:latin typeface="Calibri (Body)"/>
            </a:endParaRPr>
          </a:p>
        </p:txBody>
      </p:sp>
      <p:sp>
        <p:nvSpPr>
          <p:cNvPr id="17" name="Rectangle 16">
            <a:extLst>
              <a:ext uri="{FF2B5EF4-FFF2-40B4-BE49-F238E27FC236}">
                <a16:creationId xmlns:a16="http://schemas.microsoft.com/office/drawing/2014/main" id="{8FBAA368-8580-F9F9-B5A5-B2D5A1784029}"/>
              </a:ext>
            </a:extLst>
          </p:cNvPr>
          <p:cNvSpPr/>
          <p:nvPr/>
        </p:nvSpPr>
        <p:spPr>
          <a:xfrm>
            <a:off x="8212091" y="2028066"/>
            <a:ext cx="3471909"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Trunk-Based Development</a:t>
            </a:r>
            <a:endParaRPr lang="en-BE" sz="1200" b="1" dirty="0">
              <a:latin typeface="Calibri (Body)"/>
            </a:endParaRPr>
          </a:p>
        </p:txBody>
      </p:sp>
      <p:pic>
        <p:nvPicPr>
          <p:cNvPr id="25" name="Picture 24">
            <a:extLst>
              <a:ext uri="{FF2B5EF4-FFF2-40B4-BE49-F238E27FC236}">
                <a16:creationId xmlns:a16="http://schemas.microsoft.com/office/drawing/2014/main" id="{22C885A7-DF20-6C77-812D-AFECD3DBD21C}"/>
              </a:ext>
            </a:extLst>
          </p:cNvPr>
          <p:cNvPicPr>
            <a:picLocks noChangeAspect="1"/>
          </p:cNvPicPr>
          <p:nvPr/>
        </p:nvPicPr>
        <p:blipFill>
          <a:blip r:embed="rId7"/>
          <a:stretch>
            <a:fillRect/>
          </a:stretch>
        </p:blipFill>
        <p:spPr>
          <a:xfrm>
            <a:off x="4382713" y="3214425"/>
            <a:ext cx="3471909" cy="1310101"/>
          </a:xfrm>
          <a:prstGeom prst="rect">
            <a:avLst/>
          </a:prstGeom>
        </p:spPr>
      </p:pic>
      <p:pic>
        <p:nvPicPr>
          <p:cNvPr id="3074" name="Picture 2" descr="Trunk-based development vs feature-branch | by Yan Soares | Fretebras Tech  | Medium">
            <a:extLst>
              <a:ext uri="{FF2B5EF4-FFF2-40B4-BE49-F238E27FC236}">
                <a16:creationId xmlns:a16="http://schemas.microsoft.com/office/drawing/2014/main" id="{6274EC96-74CF-1130-523A-52855F5E707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933" r="7595"/>
          <a:stretch/>
        </p:blipFill>
        <p:spPr bwMode="auto">
          <a:xfrm>
            <a:off x="8212090" y="2968889"/>
            <a:ext cx="3471911" cy="180117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B66C2280-F35F-06EA-66D9-3DB7550E5B3E}"/>
              </a:ext>
            </a:extLst>
          </p:cNvPr>
          <p:cNvSpPr/>
          <p:nvPr/>
        </p:nvSpPr>
        <p:spPr>
          <a:xfrm>
            <a:off x="635387" y="5331706"/>
            <a:ext cx="3389858" cy="129415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A structured workflow with multiple long-lived branches (main, develop, feature, release, hotfix).</a:t>
            </a:r>
            <a:br>
              <a:rPr lang="en-US" sz="1200" dirty="0">
                <a:solidFill>
                  <a:schemeClr val="tx1"/>
                </a:solidFill>
                <a:latin typeface="Calibri (Body)"/>
              </a:rPr>
            </a:br>
            <a:r>
              <a:rPr lang="en-US" sz="1200" dirty="0">
                <a:solidFill>
                  <a:schemeClr val="tx1"/>
                </a:solidFill>
                <a:latin typeface="Calibri (Body)"/>
              </a:rPr>
              <a:t>Ideal for teams with planned, versioned releases.</a:t>
            </a:r>
            <a:br>
              <a:rPr lang="en-US" sz="1200" dirty="0">
                <a:solidFill>
                  <a:schemeClr val="tx1"/>
                </a:solidFill>
                <a:latin typeface="Calibri (Body)"/>
              </a:rPr>
            </a:br>
            <a:r>
              <a:rPr lang="en-US" sz="1200" dirty="0">
                <a:solidFill>
                  <a:schemeClr val="tx1"/>
                </a:solidFill>
                <a:latin typeface="Calibri (Body)"/>
              </a:rPr>
              <a:t>Emphasizes control and stability over speed; every change goes through a clear path before production. </a:t>
            </a:r>
          </a:p>
        </p:txBody>
      </p:sp>
      <p:sp>
        <p:nvSpPr>
          <p:cNvPr id="28" name="Rectangle 27">
            <a:extLst>
              <a:ext uri="{FF2B5EF4-FFF2-40B4-BE49-F238E27FC236}">
                <a16:creationId xmlns:a16="http://schemas.microsoft.com/office/drawing/2014/main" id="{C83C4CFE-91CB-786F-06D2-29C31CDCD893}"/>
              </a:ext>
            </a:extLst>
          </p:cNvPr>
          <p:cNvSpPr/>
          <p:nvPr/>
        </p:nvSpPr>
        <p:spPr>
          <a:xfrm>
            <a:off x="4382712" y="5331706"/>
            <a:ext cx="3471909" cy="129415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A collaborative approach where each new feature or bug fix is developed in its own branch. Changes are reviewed and tested through pull requests before being merged. Balances isolation with regular integration via CI pipelines.</a:t>
            </a:r>
          </a:p>
        </p:txBody>
      </p:sp>
      <p:sp>
        <p:nvSpPr>
          <p:cNvPr id="29" name="Rectangle 28">
            <a:extLst>
              <a:ext uri="{FF2B5EF4-FFF2-40B4-BE49-F238E27FC236}">
                <a16:creationId xmlns:a16="http://schemas.microsoft.com/office/drawing/2014/main" id="{B4CD8B08-8394-C092-B9EB-CB94FC15A8C6}"/>
              </a:ext>
            </a:extLst>
          </p:cNvPr>
          <p:cNvSpPr/>
          <p:nvPr/>
        </p:nvSpPr>
        <p:spPr>
          <a:xfrm>
            <a:off x="8212088" y="5331706"/>
            <a:ext cx="3471909" cy="1294159"/>
          </a:xfrm>
          <a:prstGeom prst="rect">
            <a:avLst/>
          </a:prstGeom>
          <a:solidFill>
            <a:schemeClr val="bg1">
              <a:lumMod val="95000"/>
            </a:schemeClr>
          </a:solid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A lean, modern workflow where developers commit small, frequent changes directly (or via short-lived branches) to the main branch. Every commit triggers the CI/CD pipeline, allowing for rapid, reliable releases.</a:t>
            </a:r>
          </a:p>
        </p:txBody>
      </p:sp>
      <p:cxnSp>
        <p:nvCxnSpPr>
          <p:cNvPr id="35" name="Straight Connector 34">
            <a:extLst>
              <a:ext uri="{FF2B5EF4-FFF2-40B4-BE49-F238E27FC236}">
                <a16:creationId xmlns:a16="http://schemas.microsoft.com/office/drawing/2014/main" id="{70ACEB3E-E34A-7F76-5176-29156BAC6D67}"/>
              </a:ext>
            </a:extLst>
          </p:cNvPr>
          <p:cNvCxnSpPr>
            <a:cxnSpLocks/>
          </p:cNvCxnSpPr>
          <p:nvPr/>
        </p:nvCxnSpPr>
        <p:spPr>
          <a:xfrm>
            <a:off x="4203980" y="2750740"/>
            <a:ext cx="0" cy="2580966"/>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142E1FC-B443-FF3F-965B-977C8F7CCBE7}"/>
              </a:ext>
            </a:extLst>
          </p:cNvPr>
          <p:cNvCxnSpPr>
            <a:cxnSpLocks/>
          </p:cNvCxnSpPr>
          <p:nvPr/>
        </p:nvCxnSpPr>
        <p:spPr>
          <a:xfrm>
            <a:off x="8033357" y="2750740"/>
            <a:ext cx="0" cy="2580966"/>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4075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6. </a:t>
            </a:r>
            <a:r>
              <a:rPr lang="en-US" dirty="0"/>
              <a:t>Branching Strategies | </a:t>
            </a:r>
            <a:r>
              <a:rPr lang="en-US" b="1" dirty="0"/>
              <a:t>Git Flow Workflow</a:t>
            </a:r>
            <a:endParaRPr lang="en-BE" b="1" dirty="0"/>
          </a:p>
        </p:txBody>
      </p:sp>
      <p:grpSp>
        <p:nvGrpSpPr>
          <p:cNvPr id="3" name="Group 2">
            <a:extLst>
              <a:ext uri="{FF2B5EF4-FFF2-40B4-BE49-F238E27FC236}">
                <a16:creationId xmlns:a16="http://schemas.microsoft.com/office/drawing/2014/main" id="{5AD3F980-69AC-AB40-17D8-7567737986EC}"/>
              </a:ext>
            </a:extLst>
          </p:cNvPr>
          <p:cNvGrpSpPr/>
          <p:nvPr/>
        </p:nvGrpSpPr>
        <p:grpSpPr>
          <a:xfrm>
            <a:off x="553336" y="868345"/>
            <a:ext cx="11133386" cy="768874"/>
            <a:chOff x="553336" y="868345"/>
            <a:chExt cx="11133386" cy="768874"/>
          </a:xfrm>
        </p:grpSpPr>
        <p:sp>
          <p:nvSpPr>
            <p:cNvPr id="6" name="Rectangle 5">
              <a:extLst>
                <a:ext uri="{FF2B5EF4-FFF2-40B4-BE49-F238E27FC236}">
                  <a16:creationId xmlns:a16="http://schemas.microsoft.com/office/drawing/2014/main" id="{BF6B7B85-F9F6-4677-032E-05CA5186CBCD}"/>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Git Flow provides strong structure and control for teams managing planned releases, but its complexity can limit agility and continuous deployment.</a:t>
              </a:r>
              <a:endParaRPr lang="en-BE" sz="1400" i="1" dirty="0">
                <a:solidFill>
                  <a:schemeClr val="tx1"/>
                </a:solidFill>
                <a:latin typeface="Calibri (Body)"/>
              </a:endParaRPr>
            </a:p>
          </p:txBody>
        </p:sp>
        <p:sp>
          <p:nvSpPr>
            <p:cNvPr id="11" name="TextBox 10">
              <a:extLst>
                <a:ext uri="{FF2B5EF4-FFF2-40B4-BE49-F238E27FC236}">
                  <a16:creationId xmlns:a16="http://schemas.microsoft.com/office/drawing/2014/main" id="{F85E4719-F6F0-27FE-ECC7-E836C57011A9}"/>
                </a:ext>
              </a:extLst>
            </p:cNvPr>
            <p:cNvSpPr txBox="1"/>
            <p:nvPr/>
          </p:nvSpPr>
          <p:spPr>
            <a:xfrm>
              <a:off x="635387" y="868345"/>
              <a:ext cx="1014304" cy="253916"/>
            </a:xfrm>
            <a:prstGeom prst="rect">
              <a:avLst/>
            </a:prstGeom>
            <a:solidFill>
              <a:schemeClr val="bg1"/>
            </a:solidFill>
          </p:spPr>
          <p:txBody>
            <a:bodyPr wrap="square">
              <a:spAutoFit/>
            </a:bodyPr>
            <a:lstStyle/>
            <a:p>
              <a:r>
                <a:rPr lang="en-US" sz="1050" i="1" dirty="0">
                  <a:latin typeface="Calibri (Body)"/>
                </a:rPr>
                <a:t>Summary</a:t>
              </a:r>
              <a:endParaRPr lang="en-BE" sz="1050" i="1" dirty="0">
                <a:latin typeface="Calibri (Body)"/>
              </a:endParaRPr>
            </a:p>
          </p:txBody>
        </p:sp>
      </p:grpSp>
      <p:sp>
        <p:nvSpPr>
          <p:cNvPr id="12" name="Rectangle 11">
            <a:extLst>
              <a:ext uri="{FF2B5EF4-FFF2-40B4-BE49-F238E27FC236}">
                <a16:creationId xmlns:a16="http://schemas.microsoft.com/office/drawing/2014/main" id="{AADA3CE8-EE49-4BD1-F9E8-E85D9469299D}"/>
              </a:ext>
            </a:extLst>
          </p:cNvPr>
          <p:cNvSpPr/>
          <p:nvPr/>
        </p:nvSpPr>
        <p:spPr>
          <a:xfrm>
            <a:off x="553336" y="1766032"/>
            <a:ext cx="4838424" cy="4900986"/>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28" name="Rectangle 27">
            <a:extLst>
              <a:ext uri="{FF2B5EF4-FFF2-40B4-BE49-F238E27FC236}">
                <a16:creationId xmlns:a16="http://schemas.microsoft.com/office/drawing/2014/main" id="{3AB25A5C-A6E8-DB4B-48D2-64C19195E81C}"/>
              </a:ext>
            </a:extLst>
          </p:cNvPr>
          <p:cNvSpPr/>
          <p:nvPr/>
        </p:nvSpPr>
        <p:spPr>
          <a:xfrm>
            <a:off x="5525383" y="2016395"/>
            <a:ext cx="2940984" cy="1132155"/>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The project maintains two permanent branches:</a:t>
            </a:r>
          </a:p>
          <a:p>
            <a:pPr marL="228600" indent="-228600" algn="just">
              <a:buFont typeface="Arial" panose="020B0604020202020204" pitchFamily="34" charset="0"/>
              <a:buChar char="•"/>
            </a:pPr>
            <a:r>
              <a:rPr lang="en-US" sz="1200" dirty="0">
                <a:solidFill>
                  <a:schemeClr val="tx1"/>
                </a:solidFill>
                <a:latin typeface="Calibri (Body)"/>
              </a:rPr>
              <a:t>main → stable production code.</a:t>
            </a:r>
          </a:p>
          <a:p>
            <a:pPr marL="228600" indent="-228600" algn="just">
              <a:buFont typeface="Arial" panose="020B0604020202020204" pitchFamily="34" charset="0"/>
              <a:buChar char="•"/>
            </a:pPr>
            <a:r>
              <a:rPr lang="en-US" sz="1200" dirty="0">
                <a:solidFill>
                  <a:schemeClr val="tx1"/>
                </a:solidFill>
                <a:latin typeface="Calibri (Body)"/>
              </a:rPr>
              <a:t>develop → integration branch for ongoing development.</a:t>
            </a:r>
          </a:p>
          <a:p>
            <a:pPr algn="just"/>
            <a:endParaRPr lang="en-US" sz="1200" dirty="0">
              <a:solidFill>
                <a:schemeClr val="tx1"/>
              </a:solidFill>
              <a:latin typeface="Calibri (Body)"/>
            </a:endParaRPr>
          </a:p>
        </p:txBody>
      </p:sp>
      <p:grpSp>
        <p:nvGrpSpPr>
          <p:cNvPr id="48" name="Group 47">
            <a:extLst>
              <a:ext uri="{FF2B5EF4-FFF2-40B4-BE49-F238E27FC236}">
                <a16:creationId xmlns:a16="http://schemas.microsoft.com/office/drawing/2014/main" id="{8DD7075E-FCD6-1F08-5A9D-1A17ED588AD5}"/>
              </a:ext>
            </a:extLst>
          </p:cNvPr>
          <p:cNvGrpSpPr/>
          <p:nvPr/>
        </p:nvGrpSpPr>
        <p:grpSpPr>
          <a:xfrm>
            <a:off x="5473810" y="1656519"/>
            <a:ext cx="2750930" cy="307777"/>
            <a:chOff x="7448309" y="802039"/>
            <a:chExt cx="2750930" cy="307777"/>
          </a:xfrm>
        </p:grpSpPr>
        <p:sp>
          <p:nvSpPr>
            <p:cNvPr id="49" name="TextBox 48">
              <a:extLst>
                <a:ext uri="{FF2B5EF4-FFF2-40B4-BE49-F238E27FC236}">
                  <a16:creationId xmlns:a16="http://schemas.microsoft.com/office/drawing/2014/main" id="{70AF5412-977B-44D9-FC80-4BBDAD73FFE1}"/>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Description</a:t>
              </a:r>
            </a:p>
          </p:txBody>
        </p:sp>
        <p:cxnSp>
          <p:nvCxnSpPr>
            <p:cNvPr id="50" name="Straight Connector 49">
              <a:extLst>
                <a:ext uri="{FF2B5EF4-FFF2-40B4-BE49-F238E27FC236}">
                  <a16:creationId xmlns:a16="http://schemas.microsoft.com/office/drawing/2014/main" id="{6792D452-8A6C-5BE2-12CD-16EFBFA8B4B9}"/>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E4FE8EB1-399D-1D73-9418-A168D0F61AB1}"/>
              </a:ext>
            </a:extLst>
          </p:cNvPr>
          <p:cNvGrpSpPr/>
          <p:nvPr/>
        </p:nvGrpSpPr>
        <p:grpSpPr>
          <a:xfrm>
            <a:off x="8599990" y="1656519"/>
            <a:ext cx="2750930" cy="307777"/>
            <a:chOff x="8599990" y="1656519"/>
            <a:chExt cx="2750930" cy="307777"/>
          </a:xfrm>
        </p:grpSpPr>
        <p:sp>
          <p:nvSpPr>
            <p:cNvPr id="58" name="TextBox 57">
              <a:extLst>
                <a:ext uri="{FF2B5EF4-FFF2-40B4-BE49-F238E27FC236}">
                  <a16:creationId xmlns:a16="http://schemas.microsoft.com/office/drawing/2014/main" id="{73A8C2ED-5CFA-B513-7F8B-5ECFE04A9383}"/>
                </a:ext>
              </a:extLst>
            </p:cNvPr>
            <p:cNvSpPr txBox="1"/>
            <p:nvPr/>
          </p:nvSpPr>
          <p:spPr>
            <a:xfrm>
              <a:off x="8599990" y="1656519"/>
              <a:ext cx="2750930" cy="307777"/>
            </a:xfrm>
            <a:prstGeom prst="rect">
              <a:avLst/>
            </a:prstGeom>
            <a:noFill/>
          </p:spPr>
          <p:txBody>
            <a:bodyPr wrap="square">
              <a:spAutoFit/>
            </a:bodyPr>
            <a:lstStyle/>
            <a:p>
              <a:r>
                <a:rPr lang="en-BE" sz="1400" b="1" dirty="0">
                  <a:latin typeface="Calibri (Body)"/>
                </a:rPr>
                <a:t>Pros</a:t>
              </a:r>
            </a:p>
          </p:txBody>
        </p:sp>
        <p:cxnSp>
          <p:nvCxnSpPr>
            <p:cNvPr id="59" name="Straight Connector 58">
              <a:extLst>
                <a:ext uri="{FF2B5EF4-FFF2-40B4-BE49-F238E27FC236}">
                  <a16:creationId xmlns:a16="http://schemas.microsoft.com/office/drawing/2014/main" id="{53DA4644-222A-1BA4-C407-226D59C5CCBD}"/>
                </a:ext>
              </a:extLst>
            </p:cNvPr>
            <p:cNvCxnSpPr>
              <a:cxnSpLocks/>
            </p:cNvCxnSpPr>
            <p:nvPr/>
          </p:nvCxnSpPr>
          <p:spPr>
            <a:xfrm>
              <a:off x="8708615" y="1928736"/>
              <a:ext cx="272825" cy="0"/>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grpSp>
      <p:sp>
        <p:nvSpPr>
          <p:cNvPr id="60" name="Rectangle 59">
            <a:extLst>
              <a:ext uri="{FF2B5EF4-FFF2-40B4-BE49-F238E27FC236}">
                <a16:creationId xmlns:a16="http://schemas.microsoft.com/office/drawing/2014/main" id="{FB387406-09D9-C69D-6FD3-8A7175C68976}"/>
              </a:ext>
            </a:extLst>
          </p:cNvPr>
          <p:cNvSpPr/>
          <p:nvPr/>
        </p:nvSpPr>
        <p:spPr>
          <a:xfrm>
            <a:off x="8668302" y="2129520"/>
            <a:ext cx="3001960" cy="1947362"/>
          </a:xfrm>
          <a:prstGeom prst="rect">
            <a:avLst/>
          </a:prstGeom>
          <a:no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Structured and Predictable: Clear process for releases, features, and bug fixes.</a:t>
            </a:r>
          </a:p>
          <a:p>
            <a:pPr marL="171450" indent="-171450" algn="just">
              <a:buFont typeface="Arial" panose="020B0604020202020204" pitchFamily="34" charset="0"/>
              <a:buChar char="•"/>
            </a:pPr>
            <a:r>
              <a:rPr lang="en-GB" sz="1200" dirty="0">
                <a:solidFill>
                  <a:schemeClr val="tx1"/>
                </a:solidFill>
                <a:latin typeface="Calibri (Body)"/>
              </a:rPr>
              <a:t>Stable Production Branch: main always represents deployable code. </a:t>
            </a:r>
          </a:p>
          <a:p>
            <a:pPr marL="171450" indent="-171450" algn="just">
              <a:buFont typeface="Arial" panose="020B0604020202020204" pitchFamily="34" charset="0"/>
              <a:buChar char="•"/>
            </a:pPr>
            <a:r>
              <a:rPr lang="en-US" sz="1200" dirty="0">
                <a:solidFill>
                  <a:schemeClr val="tx1"/>
                </a:solidFill>
                <a:latin typeface="Calibri (Body)"/>
              </a:rPr>
              <a:t>Supports Parallel Work: Multiple teams can work on different branches safely.</a:t>
            </a:r>
            <a:endParaRPr lang="en-BE" sz="1200" dirty="0">
              <a:solidFill>
                <a:schemeClr val="tx1"/>
              </a:solidFill>
              <a:latin typeface="Calibri (Body)"/>
            </a:endParaRPr>
          </a:p>
          <a:p>
            <a:pPr marL="171450" indent="-171450" algn="just">
              <a:buFont typeface="Arial" panose="020B0604020202020204" pitchFamily="34" charset="0"/>
              <a:buChar char="•"/>
            </a:pPr>
            <a:r>
              <a:rPr lang="en-BE" sz="1200" dirty="0">
                <a:solidFill>
                  <a:schemeClr val="tx1"/>
                </a:solidFill>
                <a:latin typeface="Calibri (Body)"/>
              </a:rPr>
              <a:t>Flexible → easy to add new consumers.</a:t>
            </a:r>
          </a:p>
          <a:p>
            <a:pPr marL="171450" indent="-171450" algn="just">
              <a:buFont typeface="Arial" panose="020B0604020202020204" pitchFamily="34" charset="0"/>
              <a:buChar char="•"/>
            </a:pPr>
            <a:r>
              <a:rPr lang="en-US" sz="1200" dirty="0">
                <a:solidFill>
                  <a:schemeClr val="tx1"/>
                </a:solidFill>
                <a:latin typeface="Calibri (Body)"/>
              </a:rPr>
              <a:t>Version Control Discipline: Tags and merges create a transparent release history.</a:t>
            </a:r>
            <a:endParaRPr lang="en-BE" sz="1200" dirty="0">
              <a:solidFill>
                <a:schemeClr val="tx1"/>
              </a:solidFill>
              <a:latin typeface="Calibri (Body)"/>
            </a:endParaRPr>
          </a:p>
        </p:txBody>
      </p:sp>
      <p:grpSp>
        <p:nvGrpSpPr>
          <p:cNvPr id="68" name="Group 67">
            <a:extLst>
              <a:ext uri="{FF2B5EF4-FFF2-40B4-BE49-F238E27FC236}">
                <a16:creationId xmlns:a16="http://schemas.microsoft.com/office/drawing/2014/main" id="{077C8554-5ADC-C0E3-5215-F133C5DAE9DD}"/>
              </a:ext>
            </a:extLst>
          </p:cNvPr>
          <p:cNvGrpSpPr/>
          <p:nvPr/>
        </p:nvGrpSpPr>
        <p:grpSpPr>
          <a:xfrm>
            <a:off x="8599990" y="4196160"/>
            <a:ext cx="2750930" cy="307777"/>
            <a:chOff x="8599990" y="4256479"/>
            <a:chExt cx="2750930" cy="307777"/>
          </a:xfrm>
        </p:grpSpPr>
        <p:sp>
          <p:nvSpPr>
            <p:cNvPr id="63" name="TextBox 62">
              <a:extLst>
                <a:ext uri="{FF2B5EF4-FFF2-40B4-BE49-F238E27FC236}">
                  <a16:creationId xmlns:a16="http://schemas.microsoft.com/office/drawing/2014/main" id="{6670EE35-5165-652C-BC5D-32A70AFD5F61}"/>
                </a:ext>
              </a:extLst>
            </p:cNvPr>
            <p:cNvSpPr txBox="1"/>
            <p:nvPr/>
          </p:nvSpPr>
          <p:spPr>
            <a:xfrm>
              <a:off x="8599990" y="4256479"/>
              <a:ext cx="2750930" cy="307777"/>
            </a:xfrm>
            <a:prstGeom prst="rect">
              <a:avLst/>
            </a:prstGeom>
            <a:noFill/>
          </p:spPr>
          <p:txBody>
            <a:bodyPr wrap="square">
              <a:spAutoFit/>
            </a:bodyPr>
            <a:lstStyle/>
            <a:p>
              <a:r>
                <a:rPr lang="en-BE" sz="1400" b="1" dirty="0">
                  <a:latin typeface="Calibri (Body)"/>
                </a:rPr>
                <a:t>Cons</a:t>
              </a:r>
            </a:p>
          </p:txBody>
        </p:sp>
        <p:cxnSp>
          <p:nvCxnSpPr>
            <p:cNvPr id="64" name="Straight Connector 63">
              <a:extLst>
                <a:ext uri="{FF2B5EF4-FFF2-40B4-BE49-F238E27FC236}">
                  <a16:creationId xmlns:a16="http://schemas.microsoft.com/office/drawing/2014/main" id="{4981B142-5F5B-049B-0E71-9205A298A23C}"/>
                </a:ext>
              </a:extLst>
            </p:cNvPr>
            <p:cNvCxnSpPr>
              <a:cxnSpLocks/>
            </p:cNvCxnSpPr>
            <p:nvPr/>
          </p:nvCxnSpPr>
          <p:spPr>
            <a:xfrm>
              <a:off x="8708615" y="4528696"/>
              <a:ext cx="272825"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71" name="Rectangle 70">
            <a:extLst>
              <a:ext uri="{FF2B5EF4-FFF2-40B4-BE49-F238E27FC236}">
                <a16:creationId xmlns:a16="http://schemas.microsoft.com/office/drawing/2014/main" id="{B522AFBB-50EB-01A9-B3BE-B15F87BF8A75}"/>
              </a:ext>
            </a:extLst>
          </p:cNvPr>
          <p:cNvSpPr/>
          <p:nvPr/>
        </p:nvSpPr>
        <p:spPr>
          <a:xfrm>
            <a:off x="8682040" y="4581509"/>
            <a:ext cx="3001960" cy="2085509"/>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Heavy Workflow: Too many branches → slower integration and delivery.</a:t>
            </a:r>
          </a:p>
          <a:p>
            <a:pPr marL="171450" indent="-171450" algn="just">
              <a:buFont typeface="Arial" panose="020B0604020202020204" pitchFamily="34" charset="0"/>
              <a:buChar char="•"/>
            </a:pPr>
            <a:r>
              <a:rPr lang="en-US" sz="1200" dirty="0">
                <a:solidFill>
                  <a:schemeClr val="tx1"/>
                </a:solidFill>
                <a:latin typeface="Calibri (Body)"/>
              </a:rPr>
              <a:t>High Merge Overhead: Frequent merge operations increase maintenance.</a:t>
            </a:r>
          </a:p>
          <a:p>
            <a:pPr marL="171450" indent="-171450" algn="just">
              <a:buFont typeface="Arial" panose="020B0604020202020204" pitchFamily="34" charset="0"/>
              <a:buChar char="•"/>
            </a:pPr>
            <a:r>
              <a:rPr lang="en-US" sz="1200" dirty="0">
                <a:solidFill>
                  <a:schemeClr val="tx1"/>
                </a:solidFill>
                <a:latin typeface="Calibri (Body)"/>
              </a:rPr>
              <a:t>Complex for Small Teams: Overkill for fast-moving or microservice-based environments.</a:t>
            </a:r>
            <a:endParaRPr lang="en-BE" sz="1200" dirty="0">
              <a:solidFill>
                <a:schemeClr val="tx1"/>
              </a:solidFill>
              <a:latin typeface="Calibri (Body)"/>
            </a:endParaRPr>
          </a:p>
          <a:p>
            <a:pPr marL="171450" indent="-171450" algn="just">
              <a:buFont typeface="Arial" panose="020B0604020202020204" pitchFamily="34" charset="0"/>
              <a:buChar char="•"/>
            </a:pPr>
            <a:r>
              <a:rPr lang="en-US" sz="1200" dirty="0">
                <a:solidFill>
                  <a:schemeClr val="tx1"/>
                </a:solidFill>
                <a:latin typeface="Calibri (Body)"/>
              </a:rPr>
              <a:t>Although still broadly used, this workflow is considered to be legacy due to its complexity.</a:t>
            </a:r>
            <a:endParaRPr lang="en-BE" sz="1200" dirty="0">
              <a:solidFill>
                <a:schemeClr val="tx1"/>
              </a:solidFill>
              <a:latin typeface="Calibri (Body)"/>
            </a:endParaRPr>
          </a:p>
        </p:txBody>
      </p:sp>
      <p:pic>
        <p:nvPicPr>
          <p:cNvPr id="4" name="Picture 3">
            <a:extLst>
              <a:ext uri="{FF2B5EF4-FFF2-40B4-BE49-F238E27FC236}">
                <a16:creationId xmlns:a16="http://schemas.microsoft.com/office/drawing/2014/main" id="{40A202EF-A2B0-00D0-91C4-E6537223CCD8}"/>
              </a:ext>
            </a:extLst>
          </p:cNvPr>
          <p:cNvPicPr>
            <a:picLocks noChangeAspect="1"/>
          </p:cNvPicPr>
          <p:nvPr/>
        </p:nvPicPr>
        <p:blipFill>
          <a:blip r:embed="rId6"/>
          <a:stretch>
            <a:fillRect/>
          </a:stretch>
        </p:blipFill>
        <p:spPr>
          <a:xfrm>
            <a:off x="695712" y="2539531"/>
            <a:ext cx="4603450" cy="3074700"/>
          </a:xfrm>
          <a:prstGeom prst="rect">
            <a:avLst/>
          </a:prstGeom>
        </p:spPr>
      </p:pic>
      <p:sp>
        <p:nvSpPr>
          <p:cNvPr id="25" name="Rectangle 24">
            <a:extLst>
              <a:ext uri="{FF2B5EF4-FFF2-40B4-BE49-F238E27FC236}">
                <a16:creationId xmlns:a16="http://schemas.microsoft.com/office/drawing/2014/main" id="{CE3B0A08-8877-8C06-C7B0-B900172C0254}"/>
              </a:ext>
            </a:extLst>
          </p:cNvPr>
          <p:cNvSpPr/>
          <p:nvPr/>
        </p:nvSpPr>
        <p:spPr>
          <a:xfrm>
            <a:off x="5525383" y="3257538"/>
            <a:ext cx="2940984" cy="85898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Each new feature or bug fix is developed in a dedicated feature/ or bug/ branch.</a:t>
            </a:r>
          </a:p>
          <a:p>
            <a:pPr algn="just"/>
            <a:r>
              <a:rPr lang="en-US" sz="1200" dirty="0">
                <a:solidFill>
                  <a:schemeClr val="tx1"/>
                </a:solidFill>
                <a:latin typeface="Calibri (Body)"/>
              </a:rPr>
              <a:t>Developers work independently until the feature is complete.</a:t>
            </a:r>
          </a:p>
        </p:txBody>
      </p:sp>
      <p:sp>
        <p:nvSpPr>
          <p:cNvPr id="30" name="Rectangle 29">
            <a:extLst>
              <a:ext uri="{FF2B5EF4-FFF2-40B4-BE49-F238E27FC236}">
                <a16:creationId xmlns:a16="http://schemas.microsoft.com/office/drawing/2014/main" id="{8DB9E26C-134A-3C44-CCFA-C414711FA95C}"/>
              </a:ext>
            </a:extLst>
          </p:cNvPr>
          <p:cNvSpPr/>
          <p:nvPr/>
        </p:nvSpPr>
        <p:spPr>
          <a:xfrm>
            <a:off x="5525383" y="4225515"/>
            <a:ext cx="2940984" cy="590955"/>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When a set of features is ready for deployment, a release/ branch is created from develop.</a:t>
            </a:r>
          </a:p>
        </p:txBody>
      </p:sp>
      <p:sp>
        <p:nvSpPr>
          <p:cNvPr id="31" name="Rectangle 30">
            <a:extLst>
              <a:ext uri="{FF2B5EF4-FFF2-40B4-BE49-F238E27FC236}">
                <a16:creationId xmlns:a16="http://schemas.microsoft.com/office/drawing/2014/main" id="{6D704DF0-FC90-8EBB-6849-E4FEFD33EA35}"/>
              </a:ext>
            </a:extLst>
          </p:cNvPr>
          <p:cNvSpPr/>
          <p:nvPr/>
        </p:nvSpPr>
        <p:spPr>
          <a:xfrm>
            <a:off x="5525383" y="4925458"/>
            <a:ext cx="2940984" cy="773583"/>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The release branch is merged into main and tagged with a version number (v1.0).</a:t>
            </a:r>
          </a:p>
          <a:p>
            <a:pPr algn="just"/>
            <a:r>
              <a:rPr lang="en-US" sz="1200" dirty="0">
                <a:solidFill>
                  <a:schemeClr val="tx1"/>
                </a:solidFill>
                <a:latin typeface="Calibri (Body)"/>
              </a:rPr>
              <a:t>It is also merged back into develop to synchronize post-release changes.</a:t>
            </a:r>
          </a:p>
        </p:txBody>
      </p:sp>
      <p:sp>
        <p:nvSpPr>
          <p:cNvPr id="32" name="Rectangle 31">
            <a:extLst>
              <a:ext uri="{FF2B5EF4-FFF2-40B4-BE49-F238E27FC236}">
                <a16:creationId xmlns:a16="http://schemas.microsoft.com/office/drawing/2014/main" id="{869D5D16-08BC-5C70-BBE2-EECACB9FD1A4}"/>
              </a:ext>
            </a:extLst>
          </p:cNvPr>
          <p:cNvSpPr/>
          <p:nvPr/>
        </p:nvSpPr>
        <p:spPr>
          <a:xfrm>
            <a:off x="5525383" y="5808029"/>
            <a:ext cx="2940984" cy="85898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If a critical issue appears in production, a hotfix/ branch is created from main.</a:t>
            </a:r>
          </a:p>
          <a:p>
            <a:pPr algn="just"/>
            <a:r>
              <a:rPr lang="en-US" sz="1200" dirty="0">
                <a:solidFill>
                  <a:schemeClr val="tx1"/>
                </a:solidFill>
                <a:latin typeface="Calibri (Body)"/>
              </a:rPr>
              <a:t>Once fixed, it’s merged into both main and develop to keep them aligned.</a:t>
            </a:r>
          </a:p>
        </p:txBody>
      </p:sp>
    </p:spTree>
    <p:extLst>
      <p:ext uri="{BB962C8B-B14F-4D97-AF65-F5344CB8AC3E}">
        <p14:creationId xmlns:p14="http://schemas.microsoft.com/office/powerpoint/2010/main" val="3652192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3653087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6. </a:t>
            </a:r>
            <a:r>
              <a:rPr lang="en-US" dirty="0"/>
              <a:t>Branching Strategies | </a:t>
            </a:r>
            <a:r>
              <a:rPr lang="en-US" b="1" dirty="0"/>
              <a:t>Feature Branching</a:t>
            </a:r>
            <a:endParaRPr lang="en-BE" b="1" dirty="0"/>
          </a:p>
        </p:txBody>
      </p:sp>
      <p:grpSp>
        <p:nvGrpSpPr>
          <p:cNvPr id="3" name="Group 2">
            <a:extLst>
              <a:ext uri="{FF2B5EF4-FFF2-40B4-BE49-F238E27FC236}">
                <a16:creationId xmlns:a16="http://schemas.microsoft.com/office/drawing/2014/main" id="{5AD3F980-69AC-AB40-17D8-7567737986EC}"/>
              </a:ext>
            </a:extLst>
          </p:cNvPr>
          <p:cNvGrpSpPr/>
          <p:nvPr/>
        </p:nvGrpSpPr>
        <p:grpSpPr>
          <a:xfrm>
            <a:off x="553336" y="868345"/>
            <a:ext cx="11133386" cy="768874"/>
            <a:chOff x="553336" y="868345"/>
            <a:chExt cx="11133386" cy="768874"/>
          </a:xfrm>
        </p:grpSpPr>
        <p:sp>
          <p:nvSpPr>
            <p:cNvPr id="6" name="Rectangle 5">
              <a:extLst>
                <a:ext uri="{FF2B5EF4-FFF2-40B4-BE49-F238E27FC236}">
                  <a16:creationId xmlns:a16="http://schemas.microsoft.com/office/drawing/2014/main" id="{BF6B7B85-F9F6-4677-032E-05CA5186CBCD}"/>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Feature Branching provides safety and clarity through isolation, but only works efficiently when branches are short-lived and integration is frequent.</a:t>
              </a:r>
              <a:endParaRPr lang="en-BE" sz="1400" i="1" dirty="0">
                <a:solidFill>
                  <a:schemeClr val="tx1"/>
                </a:solidFill>
                <a:latin typeface="Calibri (Body)"/>
              </a:endParaRPr>
            </a:p>
          </p:txBody>
        </p:sp>
        <p:sp>
          <p:nvSpPr>
            <p:cNvPr id="11" name="TextBox 10">
              <a:extLst>
                <a:ext uri="{FF2B5EF4-FFF2-40B4-BE49-F238E27FC236}">
                  <a16:creationId xmlns:a16="http://schemas.microsoft.com/office/drawing/2014/main" id="{F85E4719-F6F0-27FE-ECC7-E836C57011A9}"/>
                </a:ext>
              </a:extLst>
            </p:cNvPr>
            <p:cNvSpPr txBox="1"/>
            <p:nvPr/>
          </p:nvSpPr>
          <p:spPr>
            <a:xfrm>
              <a:off x="635387" y="868345"/>
              <a:ext cx="1014304" cy="253916"/>
            </a:xfrm>
            <a:prstGeom prst="rect">
              <a:avLst/>
            </a:prstGeom>
            <a:solidFill>
              <a:schemeClr val="bg1"/>
            </a:solidFill>
          </p:spPr>
          <p:txBody>
            <a:bodyPr wrap="square">
              <a:spAutoFit/>
            </a:bodyPr>
            <a:lstStyle/>
            <a:p>
              <a:r>
                <a:rPr lang="en-US" sz="1050" i="1" dirty="0">
                  <a:latin typeface="Calibri (Body)"/>
                </a:rPr>
                <a:t>Summary</a:t>
              </a:r>
              <a:endParaRPr lang="en-BE" sz="1050" i="1" dirty="0">
                <a:latin typeface="Calibri (Body)"/>
              </a:endParaRPr>
            </a:p>
          </p:txBody>
        </p:sp>
      </p:grpSp>
      <p:sp>
        <p:nvSpPr>
          <p:cNvPr id="12" name="Rectangle 11">
            <a:extLst>
              <a:ext uri="{FF2B5EF4-FFF2-40B4-BE49-F238E27FC236}">
                <a16:creationId xmlns:a16="http://schemas.microsoft.com/office/drawing/2014/main" id="{AADA3CE8-EE49-4BD1-F9E8-E85D9469299D}"/>
              </a:ext>
            </a:extLst>
          </p:cNvPr>
          <p:cNvSpPr/>
          <p:nvPr/>
        </p:nvSpPr>
        <p:spPr>
          <a:xfrm>
            <a:off x="553336" y="1766032"/>
            <a:ext cx="4838424" cy="4900986"/>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28" name="Rectangle 27">
            <a:extLst>
              <a:ext uri="{FF2B5EF4-FFF2-40B4-BE49-F238E27FC236}">
                <a16:creationId xmlns:a16="http://schemas.microsoft.com/office/drawing/2014/main" id="{3AB25A5C-A6E8-DB4B-48D2-64C19195E81C}"/>
              </a:ext>
            </a:extLst>
          </p:cNvPr>
          <p:cNvSpPr/>
          <p:nvPr/>
        </p:nvSpPr>
        <p:spPr>
          <a:xfrm>
            <a:off x="5525383" y="2016396"/>
            <a:ext cx="2940984" cy="85899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Developers create a new branch for each new feature, bug fix, or enhancement.</a:t>
            </a:r>
          </a:p>
          <a:p>
            <a:pPr algn="just"/>
            <a:r>
              <a:rPr lang="en-US" sz="1200" dirty="0">
                <a:solidFill>
                  <a:schemeClr val="tx1"/>
                </a:solidFill>
                <a:latin typeface="Calibri (Body)"/>
              </a:rPr>
              <a:t>Convention: feature/feature-name (e.g. feature/login-page).</a:t>
            </a:r>
          </a:p>
        </p:txBody>
      </p:sp>
      <p:grpSp>
        <p:nvGrpSpPr>
          <p:cNvPr id="48" name="Group 47">
            <a:extLst>
              <a:ext uri="{FF2B5EF4-FFF2-40B4-BE49-F238E27FC236}">
                <a16:creationId xmlns:a16="http://schemas.microsoft.com/office/drawing/2014/main" id="{8DD7075E-FCD6-1F08-5A9D-1A17ED588AD5}"/>
              </a:ext>
            </a:extLst>
          </p:cNvPr>
          <p:cNvGrpSpPr/>
          <p:nvPr/>
        </p:nvGrpSpPr>
        <p:grpSpPr>
          <a:xfrm>
            <a:off x="5473810" y="1656519"/>
            <a:ext cx="2750930" cy="307777"/>
            <a:chOff x="7448309" y="802039"/>
            <a:chExt cx="2750930" cy="307777"/>
          </a:xfrm>
        </p:grpSpPr>
        <p:sp>
          <p:nvSpPr>
            <p:cNvPr id="49" name="TextBox 48">
              <a:extLst>
                <a:ext uri="{FF2B5EF4-FFF2-40B4-BE49-F238E27FC236}">
                  <a16:creationId xmlns:a16="http://schemas.microsoft.com/office/drawing/2014/main" id="{70AF5412-977B-44D9-FC80-4BBDAD73FFE1}"/>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Description</a:t>
              </a:r>
            </a:p>
          </p:txBody>
        </p:sp>
        <p:cxnSp>
          <p:nvCxnSpPr>
            <p:cNvPr id="50" name="Straight Connector 49">
              <a:extLst>
                <a:ext uri="{FF2B5EF4-FFF2-40B4-BE49-F238E27FC236}">
                  <a16:creationId xmlns:a16="http://schemas.microsoft.com/office/drawing/2014/main" id="{6792D452-8A6C-5BE2-12CD-16EFBFA8B4B9}"/>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E4FE8EB1-399D-1D73-9418-A168D0F61AB1}"/>
              </a:ext>
            </a:extLst>
          </p:cNvPr>
          <p:cNvGrpSpPr/>
          <p:nvPr/>
        </p:nvGrpSpPr>
        <p:grpSpPr>
          <a:xfrm>
            <a:off x="8599990" y="1656519"/>
            <a:ext cx="2750930" cy="307777"/>
            <a:chOff x="8599990" y="1656519"/>
            <a:chExt cx="2750930" cy="307777"/>
          </a:xfrm>
        </p:grpSpPr>
        <p:sp>
          <p:nvSpPr>
            <p:cNvPr id="58" name="TextBox 57">
              <a:extLst>
                <a:ext uri="{FF2B5EF4-FFF2-40B4-BE49-F238E27FC236}">
                  <a16:creationId xmlns:a16="http://schemas.microsoft.com/office/drawing/2014/main" id="{73A8C2ED-5CFA-B513-7F8B-5ECFE04A9383}"/>
                </a:ext>
              </a:extLst>
            </p:cNvPr>
            <p:cNvSpPr txBox="1"/>
            <p:nvPr/>
          </p:nvSpPr>
          <p:spPr>
            <a:xfrm>
              <a:off x="8599990" y="1656519"/>
              <a:ext cx="2750930" cy="307777"/>
            </a:xfrm>
            <a:prstGeom prst="rect">
              <a:avLst/>
            </a:prstGeom>
            <a:noFill/>
          </p:spPr>
          <p:txBody>
            <a:bodyPr wrap="square">
              <a:spAutoFit/>
            </a:bodyPr>
            <a:lstStyle/>
            <a:p>
              <a:r>
                <a:rPr lang="en-BE" sz="1400" b="1" dirty="0">
                  <a:latin typeface="Calibri (Body)"/>
                </a:rPr>
                <a:t>Pros</a:t>
              </a:r>
            </a:p>
          </p:txBody>
        </p:sp>
        <p:cxnSp>
          <p:nvCxnSpPr>
            <p:cNvPr id="59" name="Straight Connector 58">
              <a:extLst>
                <a:ext uri="{FF2B5EF4-FFF2-40B4-BE49-F238E27FC236}">
                  <a16:creationId xmlns:a16="http://schemas.microsoft.com/office/drawing/2014/main" id="{53DA4644-222A-1BA4-C407-226D59C5CCBD}"/>
                </a:ext>
              </a:extLst>
            </p:cNvPr>
            <p:cNvCxnSpPr>
              <a:cxnSpLocks/>
            </p:cNvCxnSpPr>
            <p:nvPr/>
          </p:nvCxnSpPr>
          <p:spPr>
            <a:xfrm>
              <a:off x="8708615" y="1928736"/>
              <a:ext cx="272825" cy="0"/>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grpSp>
      <p:sp>
        <p:nvSpPr>
          <p:cNvPr id="60" name="Rectangle 59">
            <a:extLst>
              <a:ext uri="{FF2B5EF4-FFF2-40B4-BE49-F238E27FC236}">
                <a16:creationId xmlns:a16="http://schemas.microsoft.com/office/drawing/2014/main" id="{FB387406-09D9-C69D-6FD3-8A7175C68976}"/>
              </a:ext>
            </a:extLst>
          </p:cNvPr>
          <p:cNvSpPr/>
          <p:nvPr/>
        </p:nvSpPr>
        <p:spPr>
          <a:xfrm>
            <a:off x="8668302" y="2129520"/>
            <a:ext cx="3001960" cy="1947362"/>
          </a:xfrm>
          <a:prstGeom prst="rect">
            <a:avLst/>
          </a:prstGeom>
          <a:no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Isolation: Each feature is independent — minimal risk of breaking the main code.</a:t>
            </a:r>
          </a:p>
          <a:p>
            <a:pPr marL="171450" indent="-171450" algn="just">
              <a:buFont typeface="Arial" panose="020B0604020202020204" pitchFamily="34" charset="0"/>
              <a:buChar char="•"/>
            </a:pPr>
            <a:r>
              <a:rPr lang="en-US" sz="1200" dirty="0">
                <a:solidFill>
                  <a:schemeClr val="tx1"/>
                </a:solidFill>
                <a:latin typeface="Calibri (Body)"/>
              </a:rPr>
              <a:t>Supports Code Review: Pull requests encourage collaboration and knowledge sharing.</a:t>
            </a:r>
          </a:p>
          <a:p>
            <a:pPr marL="171450" indent="-171450" algn="just">
              <a:buFont typeface="Arial" panose="020B0604020202020204" pitchFamily="34" charset="0"/>
              <a:buChar char="•"/>
            </a:pPr>
            <a:r>
              <a:rPr lang="en-US" sz="1200" dirty="0">
                <a:solidFill>
                  <a:schemeClr val="tx1"/>
                </a:solidFill>
                <a:latin typeface="Calibri (Body)"/>
              </a:rPr>
              <a:t>CI Integration: Each branch can trigger automated build/test pipelines.</a:t>
            </a:r>
          </a:p>
          <a:p>
            <a:pPr marL="171450" indent="-171450" algn="just">
              <a:buFont typeface="Arial" panose="020B0604020202020204" pitchFamily="34" charset="0"/>
              <a:buChar char="•"/>
            </a:pPr>
            <a:r>
              <a:rPr lang="en-US" sz="1200" dirty="0">
                <a:solidFill>
                  <a:schemeClr val="tx1"/>
                </a:solidFill>
                <a:latin typeface="Calibri (Body)"/>
              </a:rPr>
              <a:t>Simple and Intuitive: Easy to understand for new developers.</a:t>
            </a:r>
            <a:endParaRPr lang="en-BE" sz="1200" dirty="0">
              <a:solidFill>
                <a:schemeClr val="tx1"/>
              </a:solidFill>
              <a:latin typeface="Calibri (Body)"/>
            </a:endParaRPr>
          </a:p>
        </p:txBody>
      </p:sp>
      <p:grpSp>
        <p:nvGrpSpPr>
          <p:cNvPr id="68" name="Group 67">
            <a:extLst>
              <a:ext uri="{FF2B5EF4-FFF2-40B4-BE49-F238E27FC236}">
                <a16:creationId xmlns:a16="http://schemas.microsoft.com/office/drawing/2014/main" id="{077C8554-5ADC-C0E3-5215-F133C5DAE9DD}"/>
              </a:ext>
            </a:extLst>
          </p:cNvPr>
          <p:cNvGrpSpPr/>
          <p:nvPr/>
        </p:nvGrpSpPr>
        <p:grpSpPr>
          <a:xfrm>
            <a:off x="8599990" y="4196160"/>
            <a:ext cx="2750930" cy="307777"/>
            <a:chOff x="8599990" y="4256479"/>
            <a:chExt cx="2750930" cy="307777"/>
          </a:xfrm>
        </p:grpSpPr>
        <p:sp>
          <p:nvSpPr>
            <p:cNvPr id="63" name="TextBox 62">
              <a:extLst>
                <a:ext uri="{FF2B5EF4-FFF2-40B4-BE49-F238E27FC236}">
                  <a16:creationId xmlns:a16="http://schemas.microsoft.com/office/drawing/2014/main" id="{6670EE35-5165-652C-BC5D-32A70AFD5F61}"/>
                </a:ext>
              </a:extLst>
            </p:cNvPr>
            <p:cNvSpPr txBox="1"/>
            <p:nvPr/>
          </p:nvSpPr>
          <p:spPr>
            <a:xfrm>
              <a:off x="8599990" y="4256479"/>
              <a:ext cx="2750930" cy="307777"/>
            </a:xfrm>
            <a:prstGeom prst="rect">
              <a:avLst/>
            </a:prstGeom>
            <a:noFill/>
          </p:spPr>
          <p:txBody>
            <a:bodyPr wrap="square">
              <a:spAutoFit/>
            </a:bodyPr>
            <a:lstStyle/>
            <a:p>
              <a:r>
                <a:rPr lang="en-BE" sz="1400" b="1" dirty="0">
                  <a:latin typeface="Calibri (Body)"/>
                </a:rPr>
                <a:t>Cons</a:t>
              </a:r>
            </a:p>
          </p:txBody>
        </p:sp>
        <p:cxnSp>
          <p:nvCxnSpPr>
            <p:cNvPr id="64" name="Straight Connector 63">
              <a:extLst>
                <a:ext uri="{FF2B5EF4-FFF2-40B4-BE49-F238E27FC236}">
                  <a16:creationId xmlns:a16="http://schemas.microsoft.com/office/drawing/2014/main" id="{4981B142-5F5B-049B-0E71-9205A298A23C}"/>
                </a:ext>
              </a:extLst>
            </p:cNvPr>
            <p:cNvCxnSpPr>
              <a:cxnSpLocks/>
            </p:cNvCxnSpPr>
            <p:nvPr/>
          </p:nvCxnSpPr>
          <p:spPr>
            <a:xfrm>
              <a:off x="8708615" y="4528696"/>
              <a:ext cx="272825"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71" name="Rectangle 70">
            <a:extLst>
              <a:ext uri="{FF2B5EF4-FFF2-40B4-BE49-F238E27FC236}">
                <a16:creationId xmlns:a16="http://schemas.microsoft.com/office/drawing/2014/main" id="{B522AFBB-50EB-01A9-B3BE-B15F87BF8A75}"/>
              </a:ext>
            </a:extLst>
          </p:cNvPr>
          <p:cNvSpPr/>
          <p:nvPr/>
        </p:nvSpPr>
        <p:spPr>
          <a:xfrm>
            <a:off x="8682040" y="4581509"/>
            <a:ext cx="3001960" cy="2085509"/>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Merge Conflicts: If branches live too long, integration can be painful.</a:t>
            </a:r>
          </a:p>
          <a:p>
            <a:pPr marL="171450" indent="-171450" algn="just">
              <a:buFont typeface="Arial" panose="020B0604020202020204" pitchFamily="34" charset="0"/>
              <a:buChar char="•"/>
            </a:pPr>
            <a:r>
              <a:rPr lang="en-US" sz="1200" dirty="0">
                <a:solidFill>
                  <a:schemeClr val="tx1"/>
                </a:solidFill>
                <a:latin typeface="Calibri (Body)"/>
              </a:rPr>
              <a:t>Delayed Integration: Risk of “big bang” merges if developers don’t rebase often.</a:t>
            </a:r>
          </a:p>
          <a:p>
            <a:pPr marL="171450" indent="-171450" algn="just">
              <a:buFont typeface="Arial" panose="020B0604020202020204" pitchFamily="34" charset="0"/>
              <a:buChar char="•"/>
            </a:pPr>
            <a:r>
              <a:rPr lang="en-US" sz="1200" dirty="0">
                <a:solidFill>
                  <a:schemeClr val="tx1"/>
                </a:solidFill>
                <a:latin typeface="Calibri (Body)"/>
              </a:rPr>
              <a:t>Slower Feedback: Issues discovered late in the merge process.</a:t>
            </a:r>
            <a:endParaRPr lang="en-BE" sz="1200" dirty="0">
              <a:solidFill>
                <a:schemeClr val="tx1"/>
              </a:solidFill>
              <a:latin typeface="Calibri (Body)"/>
            </a:endParaRPr>
          </a:p>
          <a:p>
            <a:pPr marL="171450" indent="-171450" algn="just">
              <a:buFont typeface="Arial" panose="020B0604020202020204" pitchFamily="34" charset="0"/>
              <a:buChar char="•"/>
            </a:pPr>
            <a:r>
              <a:rPr lang="en-US" sz="1200" dirty="0">
                <a:solidFill>
                  <a:schemeClr val="tx1"/>
                </a:solidFill>
                <a:latin typeface="Calibri (Body)"/>
              </a:rPr>
              <a:t>Requires Discipline: Teams must commit and merge frequently to avoid drift.</a:t>
            </a:r>
            <a:endParaRPr lang="en-BE" sz="1200" dirty="0">
              <a:solidFill>
                <a:schemeClr val="tx1"/>
              </a:solidFill>
              <a:latin typeface="Calibri (Body)"/>
            </a:endParaRPr>
          </a:p>
        </p:txBody>
      </p:sp>
      <p:sp>
        <p:nvSpPr>
          <p:cNvPr id="25" name="Rectangle 24">
            <a:extLst>
              <a:ext uri="{FF2B5EF4-FFF2-40B4-BE49-F238E27FC236}">
                <a16:creationId xmlns:a16="http://schemas.microsoft.com/office/drawing/2014/main" id="{CE3B0A08-8877-8C06-C7B0-B900172C0254}"/>
              </a:ext>
            </a:extLst>
          </p:cNvPr>
          <p:cNvSpPr/>
          <p:nvPr/>
        </p:nvSpPr>
        <p:spPr>
          <a:xfrm>
            <a:off x="5525383" y="3022453"/>
            <a:ext cx="2940984" cy="85898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Work happens in isolation; developers can commit and test changes freely.</a:t>
            </a:r>
          </a:p>
          <a:p>
            <a:pPr algn="just"/>
            <a:r>
              <a:rPr lang="en-US" sz="1200" dirty="0">
                <a:solidFill>
                  <a:schemeClr val="tx1"/>
                </a:solidFill>
                <a:latin typeface="Calibri (Body)"/>
              </a:rPr>
              <a:t>The feature branch is regularly synced with main or develop to stay up to date.</a:t>
            </a:r>
          </a:p>
        </p:txBody>
      </p:sp>
      <p:sp>
        <p:nvSpPr>
          <p:cNvPr id="30" name="Rectangle 29">
            <a:extLst>
              <a:ext uri="{FF2B5EF4-FFF2-40B4-BE49-F238E27FC236}">
                <a16:creationId xmlns:a16="http://schemas.microsoft.com/office/drawing/2014/main" id="{8DB9E26C-134A-3C44-CCFA-C414711FA95C}"/>
              </a:ext>
            </a:extLst>
          </p:cNvPr>
          <p:cNvSpPr/>
          <p:nvPr/>
        </p:nvSpPr>
        <p:spPr>
          <a:xfrm>
            <a:off x="5525383" y="4028509"/>
            <a:ext cx="2940984" cy="793961"/>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When the feature is complete, the branch is pushed to the shared repository.</a:t>
            </a:r>
          </a:p>
          <a:p>
            <a:pPr algn="just"/>
            <a:r>
              <a:rPr lang="en-US" sz="1200" dirty="0">
                <a:solidFill>
                  <a:schemeClr val="tx1"/>
                </a:solidFill>
                <a:latin typeface="Calibri (Body)"/>
              </a:rPr>
              <a:t>A Pull Request (PR) is created for peer review</a:t>
            </a:r>
          </a:p>
        </p:txBody>
      </p:sp>
      <p:sp>
        <p:nvSpPr>
          <p:cNvPr id="31" name="Rectangle 30">
            <a:extLst>
              <a:ext uri="{FF2B5EF4-FFF2-40B4-BE49-F238E27FC236}">
                <a16:creationId xmlns:a16="http://schemas.microsoft.com/office/drawing/2014/main" id="{6D704DF0-FC90-8EBB-6849-E4FEFD33EA35}"/>
              </a:ext>
            </a:extLst>
          </p:cNvPr>
          <p:cNvSpPr/>
          <p:nvPr/>
        </p:nvSpPr>
        <p:spPr>
          <a:xfrm>
            <a:off x="5525383" y="4969537"/>
            <a:ext cx="2940984" cy="963687"/>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Code is reviewed, discussed, and approved by peers.</a:t>
            </a:r>
          </a:p>
          <a:p>
            <a:pPr algn="just"/>
            <a:r>
              <a:rPr lang="en-US" sz="1200" dirty="0">
                <a:solidFill>
                  <a:schemeClr val="tx1"/>
                </a:solidFill>
                <a:latin typeface="Calibri (Body)"/>
              </a:rPr>
              <a:t>CI tests must pass before merging into main or develop. After merge, the feature branch is deleted to keep the repo clean.</a:t>
            </a:r>
          </a:p>
        </p:txBody>
      </p:sp>
      <p:sp>
        <p:nvSpPr>
          <p:cNvPr id="32" name="Rectangle 31">
            <a:extLst>
              <a:ext uri="{FF2B5EF4-FFF2-40B4-BE49-F238E27FC236}">
                <a16:creationId xmlns:a16="http://schemas.microsoft.com/office/drawing/2014/main" id="{869D5D16-08BC-5C70-BBE2-EECACB9FD1A4}"/>
              </a:ext>
            </a:extLst>
          </p:cNvPr>
          <p:cNvSpPr/>
          <p:nvPr/>
        </p:nvSpPr>
        <p:spPr>
          <a:xfrm>
            <a:off x="5525383" y="6080289"/>
            <a:ext cx="2940984" cy="586729"/>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Some teams use CI/CD pipelines to deploy every merged branch automatically to a staging or test environment for validation.</a:t>
            </a:r>
          </a:p>
        </p:txBody>
      </p:sp>
      <p:pic>
        <p:nvPicPr>
          <p:cNvPr id="45" name="Picture 44">
            <a:extLst>
              <a:ext uri="{FF2B5EF4-FFF2-40B4-BE49-F238E27FC236}">
                <a16:creationId xmlns:a16="http://schemas.microsoft.com/office/drawing/2014/main" id="{C9CFD4BB-EA5F-2B1B-C338-0CE2BB41CFDC}"/>
              </a:ext>
            </a:extLst>
          </p:cNvPr>
          <p:cNvPicPr>
            <a:picLocks noChangeAspect="1"/>
          </p:cNvPicPr>
          <p:nvPr/>
        </p:nvPicPr>
        <p:blipFill>
          <a:blip r:embed="rId6"/>
          <a:stretch>
            <a:fillRect/>
          </a:stretch>
        </p:blipFill>
        <p:spPr>
          <a:xfrm>
            <a:off x="841080" y="3395130"/>
            <a:ext cx="4353568" cy="1642789"/>
          </a:xfrm>
          <a:prstGeom prst="rect">
            <a:avLst/>
          </a:prstGeom>
        </p:spPr>
      </p:pic>
    </p:spTree>
    <p:extLst>
      <p:ext uri="{BB962C8B-B14F-4D97-AF65-F5344CB8AC3E}">
        <p14:creationId xmlns:p14="http://schemas.microsoft.com/office/powerpoint/2010/main" val="16946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6. </a:t>
            </a:r>
            <a:r>
              <a:rPr lang="en-US" dirty="0"/>
              <a:t>Branching Strategies | </a:t>
            </a:r>
            <a:r>
              <a:rPr lang="en-US" b="1" dirty="0"/>
              <a:t>Trunk-Based Development</a:t>
            </a:r>
            <a:endParaRPr lang="en-BE" b="1" dirty="0"/>
          </a:p>
        </p:txBody>
      </p:sp>
      <p:grpSp>
        <p:nvGrpSpPr>
          <p:cNvPr id="3" name="Group 2">
            <a:extLst>
              <a:ext uri="{FF2B5EF4-FFF2-40B4-BE49-F238E27FC236}">
                <a16:creationId xmlns:a16="http://schemas.microsoft.com/office/drawing/2014/main" id="{5AD3F980-69AC-AB40-17D8-7567737986EC}"/>
              </a:ext>
            </a:extLst>
          </p:cNvPr>
          <p:cNvGrpSpPr/>
          <p:nvPr/>
        </p:nvGrpSpPr>
        <p:grpSpPr>
          <a:xfrm>
            <a:off x="553336" y="868345"/>
            <a:ext cx="11133386" cy="768874"/>
            <a:chOff x="553336" y="868345"/>
            <a:chExt cx="11133386" cy="768874"/>
          </a:xfrm>
        </p:grpSpPr>
        <p:sp>
          <p:nvSpPr>
            <p:cNvPr id="6" name="Rectangle 5">
              <a:extLst>
                <a:ext uri="{FF2B5EF4-FFF2-40B4-BE49-F238E27FC236}">
                  <a16:creationId xmlns:a16="http://schemas.microsoft.com/office/drawing/2014/main" id="{BF6B7B85-F9F6-4677-032E-05CA5186CBCD}"/>
                </a:ext>
              </a:extLst>
            </p:cNvPr>
            <p:cNvSpPr/>
            <p:nvPr/>
          </p:nvSpPr>
          <p:spPr>
            <a:xfrm>
              <a:off x="553336" y="1024359"/>
              <a:ext cx="11133386" cy="61286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Trunk-Based Development is the foundation of modern DevOps: fast, collaborative, and automation-driven, but demanding strong discipline and reliable testing.</a:t>
              </a:r>
              <a:endParaRPr lang="en-BE" sz="1400" i="1" dirty="0">
                <a:solidFill>
                  <a:schemeClr val="tx1"/>
                </a:solidFill>
                <a:latin typeface="Calibri (Body)"/>
              </a:endParaRPr>
            </a:p>
          </p:txBody>
        </p:sp>
        <p:sp>
          <p:nvSpPr>
            <p:cNvPr id="11" name="TextBox 10">
              <a:extLst>
                <a:ext uri="{FF2B5EF4-FFF2-40B4-BE49-F238E27FC236}">
                  <a16:creationId xmlns:a16="http://schemas.microsoft.com/office/drawing/2014/main" id="{F85E4719-F6F0-27FE-ECC7-E836C57011A9}"/>
                </a:ext>
              </a:extLst>
            </p:cNvPr>
            <p:cNvSpPr txBox="1"/>
            <p:nvPr/>
          </p:nvSpPr>
          <p:spPr>
            <a:xfrm>
              <a:off x="635387" y="868345"/>
              <a:ext cx="1014304" cy="253916"/>
            </a:xfrm>
            <a:prstGeom prst="rect">
              <a:avLst/>
            </a:prstGeom>
            <a:solidFill>
              <a:schemeClr val="bg1"/>
            </a:solidFill>
          </p:spPr>
          <p:txBody>
            <a:bodyPr wrap="square">
              <a:spAutoFit/>
            </a:bodyPr>
            <a:lstStyle/>
            <a:p>
              <a:r>
                <a:rPr lang="en-US" sz="1050" i="1" dirty="0">
                  <a:latin typeface="Calibri (Body)"/>
                </a:rPr>
                <a:t>Summary</a:t>
              </a:r>
              <a:endParaRPr lang="en-BE" sz="1050" i="1" dirty="0">
                <a:latin typeface="Calibri (Body)"/>
              </a:endParaRPr>
            </a:p>
          </p:txBody>
        </p:sp>
      </p:grpSp>
      <p:sp>
        <p:nvSpPr>
          <p:cNvPr id="12" name="Rectangle 11">
            <a:extLst>
              <a:ext uri="{FF2B5EF4-FFF2-40B4-BE49-F238E27FC236}">
                <a16:creationId xmlns:a16="http://schemas.microsoft.com/office/drawing/2014/main" id="{AADA3CE8-EE49-4BD1-F9E8-E85D9469299D}"/>
              </a:ext>
            </a:extLst>
          </p:cNvPr>
          <p:cNvSpPr/>
          <p:nvPr/>
        </p:nvSpPr>
        <p:spPr>
          <a:xfrm>
            <a:off x="553336" y="1766032"/>
            <a:ext cx="4838424" cy="4900986"/>
          </a:xfrm>
          <a:prstGeom prst="rect">
            <a:avLst/>
          </a:prstGeom>
          <a:noFill/>
          <a:ln>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latin typeface="Calibri (Body)"/>
            </a:endParaRPr>
          </a:p>
        </p:txBody>
      </p:sp>
      <p:sp>
        <p:nvSpPr>
          <p:cNvPr id="28" name="Rectangle 27">
            <a:extLst>
              <a:ext uri="{FF2B5EF4-FFF2-40B4-BE49-F238E27FC236}">
                <a16:creationId xmlns:a16="http://schemas.microsoft.com/office/drawing/2014/main" id="{3AB25A5C-A6E8-DB4B-48D2-64C19195E81C}"/>
              </a:ext>
            </a:extLst>
          </p:cNvPr>
          <p:cNvSpPr/>
          <p:nvPr/>
        </p:nvSpPr>
        <p:spPr>
          <a:xfrm>
            <a:off x="5525383" y="2016396"/>
            <a:ext cx="2940984" cy="858990"/>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The repository maintains one main branch, often called main or master.</a:t>
            </a:r>
          </a:p>
          <a:p>
            <a:pPr algn="just"/>
            <a:r>
              <a:rPr lang="en-US" sz="1200" dirty="0">
                <a:solidFill>
                  <a:schemeClr val="tx1"/>
                </a:solidFill>
                <a:latin typeface="Calibri (Body)"/>
              </a:rPr>
              <a:t>All production-ready code lives here.</a:t>
            </a:r>
          </a:p>
          <a:p>
            <a:pPr algn="just"/>
            <a:r>
              <a:rPr lang="en-US" sz="1200" dirty="0">
                <a:solidFill>
                  <a:schemeClr val="tx1"/>
                </a:solidFill>
                <a:latin typeface="Calibri (Body)"/>
              </a:rPr>
              <a:t>There are no long-lived feature branches.</a:t>
            </a:r>
          </a:p>
        </p:txBody>
      </p:sp>
      <p:grpSp>
        <p:nvGrpSpPr>
          <p:cNvPr id="48" name="Group 47">
            <a:extLst>
              <a:ext uri="{FF2B5EF4-FFF2-40B4-BE49-F238E27FC236}">
                <a16:creationId xmlns:a16="http://schemas.microsoft.com/office/drawing/2014/main" id="{8DD7075E-FCD6-1F08-5A9D-1A17ED588AD5}"/>
              </a:ext>
            </a:extLst>
          </p:cNvPr>
          <p:cNvGrpSpPr/>
          <p:nvPr/>
        </p:nvGrpSpPr>
        <p:grpSpPr>
          <a:xfrm>
            <a:off x="5473810" y="1656519"/>
            <a:ext cx="2750930" cy="307777"/>
            <a:chOff x="7448309" y="802039"/>
            <a:chExt cx="2750930" cy="307777"/>
          </a:xfrm>
        </p:grpSpPr>
        <p:sp>
          <p:nvSpPr>
            <p:cNvPr id="49" name="TextBox 48">
              <a:extLst>
                <a:ext uri="{FF2B5EF4-FFF2-40B4-BE49-F238E27FC236}">
                  <a16:creationId xmlns:a16="http://schemas.microsoft.com/office/drawing/2014/main" id="{70AF5412-977B-44D9-FC80-4BBDAD73FFE1}"/>
                </a:ext>
              </a:extLst>
            </p:cNvPr>
            <p:cNvSpPr txBox="1"/>
            <p:nvPr/>
          </p:nvSpPr>
          <p:spPr>
            <a:xfrm>
              <a:off x="7448309" y="802039"/>
              <a:ext cx="2750930" cy="307777"/>
            </a:xfrm>
            <a:prstGeom prst="rect">
              <a:avLst/>
            </a:prstGeom>
            <a:noFill/>
          </p:spPr>
          <p:txBody>
            <a:bodyPr wrap="square">
              <a:spAutoFit/>
            </a:bodyPr>
            <a:lstStyle/>
            <a:p>
              <a:r>
                <a:rPr lang="en-BE" sz="1400" b="1" dirty="0">
                  <a:latin typeface="Calibri (Body)"/>
                </a:rPr>
                <a:t>Description</a:t>
              </a:r>
            </a:p>
          </p:txBody>
        </p:sp>
        <p:cxnSp>
          <p:nvCxnSpPr>
            <p:cNvPr id="50" name="Straight Connector 49">
              <a:extLst>
                <a:ext uri="{FF2B5EF4-FFF2-40B4-BE49-F238E27FC236}">
                  <a16:creationId xmlns:a16="http://schemas.microsoft.com/office/drawing/2014/main" id="{6792D452-8A6C-5BE2-12CD-16EFBFA8B4B9}"/>
                </a:ext>
              </a:extLst>
            </p:cNvPr>
            <p:cNvCxnSpPr/>
            <p:nvPr/>
          </p:nvCxnSpPr>
          <p:spPr>
            <a:xfrm>
              <a:off x="7556934" y="1074256"/>
              <a:ext cx="687579" cy="0"/>
            </a:xfrm>
            <a:prstGeom prst="line">
              <a:avLst/>
            </a:prstGeom>
            <a:ln w="25400"/>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E4FE8EB1-399D-1D73-9418-A168D0F61AB1}"/>
              </a:ext>
            </a:extLst>
          </p:cNvPr>
          <p:cNvGrpSpPr/>
          <p:nvPr/>
        </p:nvGrpSpPr>
        <p:grpSpPr>
          <a:xfrm>
            <a:off x="8599990" y="1656519"/>
            <a:ext cx="2750930" cy="307777"/>
            <a:chOff x="8599990" y="1656519"/>
            <a:chExt cx="2750930" cy="307777"/>
          </a:xfrm>
        </p:grpSpPr>
        <p:sp>
          <p:nvSpPr>
            <p:cNvPr id="58" name="TextBox 57">
              <a:extLst>
                <a:ext uri="{FF2B5EF4-FFF2-40B4-BE49-F238E27FC236}">
                  <a16:creationId xmlns:a16="http://schemas.microsoft.com/office/drawing/2014/main" id="{73A8C2ED-5CFA-B513-7F8B-5ECFE04A9383}"/>
                </a:ext>
              </a:extLst>
            </p:cNvPr>
            <p:cNvSpPr txBox="1"/>
            <p:nvPr/>
          </p:nvSpPr>
          <p:spPr>
            <a:xfrm>
              <a:off x="8599990" y="1656519"/>
              <a:ext cx="2750930" cy="307777"/>
            </a:xfrm>
            <a:prstGeom prst="rect">
              <a:avLst/>
            </a:prstGeom>
            <a:noFill/>
          </p:spPr>
          <p:txBody>
            <a:bodyPr wrap="square">
              <a:spAutoFit/>
            </a:bodyPr>
            <a:lstStyle/>
            <a:p>
              <a:r>
                <a:rPr lang="en-BE" sz="1400" b="1" dirty="0">
                  <a:latin typeface="Calibri (Body)"/>
                </a:rPr>
                <a:t>Pros</a:t>
              </a:r>
            </a:p>
          </p:txBody>
        </p:sp>
        <p:cxnSp>
          <p:nvCxnSpPr>
            <p:cNvPr id="59" name="Straight Connector 58">
              <a:extLst>
                <a:ext uri="{FF2B5EF4-FFF2-40B4-BE49-F238E27FC236}">
                  <a16:creationId xmlns:a16="http://schemas.microsoft.com/office/drawing/2014/main" id="{53DA4644-222A-1BA4-C407-226D59C5CCBD}"/>
                </a:ext>
              </a:extLst>
            </p:cNvPr>
            <p:cNvCxnSpPr>
              <a:cxnSpLocks/>
            </p:cNvCxnSpPr>
            <p:nvPr/>
          </p:nvCxnSpPr>
          <p:spPr>
            <a:xfrm>
              <a:off x="8708615" y="1928736"/>
              <a:ext cx="272825" cy="0"/>
            </a:xfrm>
            <a:prstGeom prst="line">
              <a:avLst/>
            </a:prstGeom>
            <a:ln w="25400">
              <a:solidFill>
                <a:srgbClr val="00B050"/>
              </a:solidFill>
            </a:ln>
          </p:spPr>
          <p:style>
            <a:lnRef idx="2">
              <a:schemeClr val="accent1"/>
            </a:lnRef>
            <a:fillRef idx="0">
              <a:schemeClr val="accent1"/>
            </a:fillRef>
            <a:effectRef idx="1">
              <a:schemeClr val="accent1"/>
            </a:effectRef>
            <a:fontRef idx="minor">
              <a:schemeClr val="tx1"/>
            </a:fontRef>
          </p:style>
        </p:cxnSp>
      </p:grpSp>
      <p:sp>
        <p:nvSpPr>
          <p:cNvPr id="60" name="Rectangle 59">
            <a:extLst>
              <a:ext uri="{FF2B5EF4-FFF2-40B4-BE49-F238E27FC236}">
                <a16:creationId xmlns:a16="http://schemas.microsoft.com/office/drawing/2014/main" id="{FB387406-09D9-C69D-6FD3-8A7175C68976}"/>
              </a:ext>
            </a:extLst>
          </p:cNvPr>
          <p:cNvSpPr/>
          <p:nvPr/>
        </p:nvSpPr>
        <p:spPr>
          <a:xfrm>
            <a:off x="8668302" y="2129520"/>
            <a:ext cx="3001960" cy="1947362"/>
          </a:xfrm>
          <a:prstGeom prst="rect">
            <a:avLst/>
          </a:prstGeom>
          <a:no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True Continuous Integration: Every commit is validated and integrated immediately.</a:t>
            </a:r>
          </a:p>
          <a:p>
            <a:pPr marL="171450" indent="-171450" algn="just">
              <a:buFont typeface="Arial" panose="020B0604020202020204" pitchFamily="34" charset="0"/>
              <a:buChar char="•"/>
            </a:pPr>
            <a:r>
              <a:rPr lang="en-US" sz="1200" dirty="0">
                <a:solidFill>
                  <a:schemeClr val="tx1"/>
                </a:solidFill>
                <a:latin typeface="Calibri (Body)"/>
              </a:rPr>
              <a:t>Fast Delivery: Enables real-time deployment and quick feedback.</a:t>
            </a:r>
          </a:p>
          <a:p>
            <a:pPr marL="171450" indent="-171450" algn="just">
              <a:buFont typeface="Arial" panose="020B0604020202020204" pitchFamily="34" charset="0"/>
              <a:buChar char="•"/>
            </a:pPr>
            <a:r>
              <a:rPr lang="en-US" sz="1200" dirty="0">
                <a:solidFill>
                  <a:schemeClr val="tx1"/>
                </a:solidFill>
                <a:latin typeface="Calibri (Body)"/>
              </a:rPr>
              <a:t>Reduced Merge Conflicts: Frequent merges mean fewer integration headaches.</a:t>
            </a:r>
          </a:p>
          <a:p>
            <a:pPr marL="171450" indent="-171450" algn="just">
              <a:buFont typeface="Arial" panose="020B0604020202020204" pitchFamily="34" charset="0"/>
              <a:buChar char="•"/>
            </a:pPr>
            <a:r>
              <a:rPr lang="en-US" sz="1200" dirty="0">
                <a:solidFill>
                  <a:schemeClr val="tx1"/>
                </a:solidFill>
                <a:latin typeface="Calibri (Body)"/>
              </a:rPr>
              <a:t>Simple Branching Model: Minimal Git complexity; easy to visualize and manage.</a:t>
            </a:r>
            <a:endParaRPr lang="en-BE" sz="1200" dirty="0">
              <a:solidFill>
                <a:schemeClr val="tx1"/>
              </a:solidFill>
              <a:latin typeface="Calibri (Body)"/>
            </a:endParaRPr>
          </a:p>
        </p:txBody>
      </p:sp>
      <p:grpSp>
        <p:nvGrpSpPr>
          <p:cNvPr id="68" name="Group 67">
            <a:extLst>
              <a:ext uri="{FF2B5EF4-FFF2-40B4-BE49-F238E27FC236}">
                <a16:creationId xmlns:a16="http://schemas.microsoft.com/office/drawing/2014/main" id="{077C8554-5ADC-C0E3-5215-F133C5DAE9DD}"/>
              </a:ext>
            </a:extLst>
          </p:cNvPr>
          <p:cNvGrpSpPr/>
          <p:nvPr/>
        </p:nvGrpSpPr>
        <p:grpSpPr>
          <a:xfrm>
            <a:off x="8599990" y="4196160"/>
            <a:ext cx="2750930" cy="307777"/>
            <a:chOff x="8599990" y="4256479"/>
            <a:chExt cx="2750930" cy="307777"/>
          </a:xfrm>
        </p:grpSpPr>
        <p:sp>
          <p:nvSpPr>
            <p:cNvPr id="63" name="TextBox 62">
              <a:extLst>
                <a:ext uri="{FF2B5EF4-FFF2-40B4-BE49-F238E27FC236}">
                  <a16:creationId xmlns:a16="http://schemas.microsoft.com/office/drawing/2014/main" id="{6670EE35-5165-652C-BC5D-32A70AFD5F61}"/>
                </a:ext>
              </a:extLst>
            </p:cNvPr>
            <p:cNvSpPr txBox="1"/>
            <p:nvPr/>
          </p:nvSpPr>
          <p:spPr>
            <a:xfrm>
              <a:off x="8599990" y="4256479"/>
              <a:ext cx="2750930" cy="307777"/>
            </a:xfrm>
            <a:prstGeom prst="rect">
              <a:avLst/>
            </a:prstGeom>
            <a:noFill/>
          </p:spPr>
          <p:txBody>
            <a:bodyPr wrap="square">
              <a:spAutoFit/>
            </a:bodyPr>
            <a:lstStyle/>
            <a:p>
              <a:r>
                <a:rPr lang="en-BE" sz="1400" b="1" dirty="0">
                  <a:latin typeface="Calibri (Body)"/>
                </a:rPr>
                <a:t>Cons</a:t>
              </a:r>
            </a:p>
          </p:txBody>
        </p:sp>
        <p:cxnSp>
          <p:nvCxnSpPr>
            <p:cNvPr id="64" name="Straight Connector 63">
              <a:extLst>
                <a:ext uri="{FF2B5EF4-FFF2-40B4-BE49-F238E27FC236}">
                  <a16:creationId xmlns:a16="http://schemas.microsoft.com/office/drawing/2014/main" id="{4981B142-5F5B-049B-0E71-9205A298A23C}"/>
                </a:ext>
              </a:extLst>
            </p:cNvPr>
            <p:cNvCxnSpPr>
              <a:cxnSpLocks/>
            </p:cNvCxnSpPr>
            <p:nvPr/>
          </p:nvCxnSpPr>
          <p:spPr>
            <a:xfrm>
              <a:off x="8708615" y="4528696"/>
              <a:ext cx="272825" cy="0"/>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71" name="Rectangle 70">
            <a:extLst>
              <a:ext uri="{FF2B5EF4-FFF2-40B4-BE49-F238E27FC236}">
                <a16:creationId xmlns:a16="http://schemas.microsoft.com/office/drawing/2014/main" id="{B522AFBB-50EB-01A9-B3BE-B15F87BF8A75}"/>
              </a:ext>
            </a:extLst>
          </p:cNvPr>
          <p:cNvSpPr/>
          <p:nvPr/>
        </p:nvSpPr>
        <p:spPr>
          <a:xfrm>
            <a:off x="8682040" y="4581509"/>
            <a:ext cx="3001960" cy="2085509"/>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latin typeface="Calibri (Body)"/>
              </a:rPr>
              <a:t>Requires Strong CI/CD: Must have reliable automated builds and tests to prevent breakage.</a:t>
            </a:r>
          </a:p>
          <a:p>
            <a:pPr marL="171450" indent="-171450" algn="just">
              <a:buFont typeface="Arial" panose="020B0604020202020204" pitchFamily="34" charset="0"/>
              <a:buChar char="•"/>
            </a:pPr>
            <a:r>
              <a:rPr lang="en-US" sz="1200" dirty="0">
                <a:solidFill>
                  <a:schemeClr val="tx1"/>
                </a:solidFill>
                <a:latin typeface="Calibri (Body)"/>
              </a:rPr>
              <a:t>Higher Discipline Needed: Poor commits can break the main branch quickly.</a:t>
            </a:r>
          </a:p>
          <a:p>
            <a:pPr marL="171450" indent="-171450" algn="just">
              <a:buFont typeface="Arial" panose="020B0604020202020204" pitchFamily="34" charset="0"/>
              <a:buChar char="•"/>
            </a:pPr>
            <a:r>
              <a:rPr lang="en-US" sz="1200" dirty="0">
                <a:solidFill>
                  <a:schemeClr val="tx1"/>
                </a:solidFill>
                <a:latin typeface="Calibri (Body)"/>
              </a:rPr>
              <a:t>Feature Toggles Add Complexity: Managing flags and toggled code paths can become messy.</a:t>
            </a:r>
            <a:endParaRPr lang="en-BE" sz="1200" dirty="0">
              <a:solidFill>
                <a:schemeClr val="tx1"/>
              </a:solidFill>
              <a:latin typeface="Calibri (Body)"/>
            </a:endParaRPr>
          </a:p>
          <a:p>
            <a:pPr marL="171450" indent="-171450" algn="just">
              <a:buFont typeface="Arial" panose="020B0604020202020204" pitchFamily="34" charset="0"/>
              <a:buChar char="•"/>
            </a:pPr>
            <a:r>
              <a:rPr lang="en-US" sz="1200" dirty="0">
                <a:solidFill>
                  <a:schemeClr val="tx1"/>
                </a:solidFill>
                <a:latin typeface="Calibri (Body)"/>
              </a:rPr>
              <a:t>Less Isolation: Riskier for experimental or long-running features.</a:t>
            </a:r>
            <a:endParaRPr lang="en-BE" sz="1200" dirty="0">
              <a:solidFill>
                <a:schemeClr val="tx1"/>
              </a:solidFill>
              <a:latin typeface="Calibri (Body)"/>
            </a:endParaRPr>
          </a:p>
        </p:txBody>
      </p:sp>
      <p:sp>
        <p:nvSpPr>
          <p:cNvPr id="25" name="Rectangle 24">
            <a:extLst>
              <a:ext uri="{FF2B5EF4-FFF2-40B4-BE49-F238E27FC236}">
                <a16:creationId xmlns:a16="http://schemas.microsoft.com/office/drawing/2014/main" id="{CE3B0A08-8877-8C06-C7B0-B900172C0254}"/>
              </a:ext>
            </a:extLst>
          </p:cNvPr>
          <p:cNvSpPr/>
          <p:nvPr/>
        </p:nvSpPr>
        <p:spPr>
          <a:xfrm>
            <a:off x="5525383" y="2967878"/>
            <a:ext cx="2940984" cy="760494"/>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Developers may create a temporary branch for a small change.</a:t>
            </a:r>
          </a:p>
          <a:p>
            <a:pPr algn="just"/>
            <a:r>
              <a:rPr lang="en-US" sz="1200" dirty="0">
                <a:solidFill>
                  <a:schemeClr val="tx1"/>
                </a:solidFill>
                <a:latin typeface="Calibri (Body)"/>
              </a:rPr>
              <a:t>These branches live for only a few hours or a day, and are merged back quickly.</a:t>
            </a:r>
          </a:p>
        </p:txBody>
      </p:sp>
      <p:sp>
        <p:nvSpPr>
          <p:cNvPr id="30" name="Rectangle 29">
            <a:extLst>
              <a:ext uri="{FF2B5EF4-FFF2-40B4-BE49-F238E27FC236}">
                <a16:creationId xmlns:a16="http://schemas.microsoft.com/office/drawing/2014/main" id="{8DB9E26C-134A-3C44-CCFA-C414711FA95C}"/>
              </a:ext>
            </a:extLst>
          </p:cNvPr>
          <p:cNvSpPr/>
          <p:nvPr/>
        </p:nvSpPr>
        <p:spPr>
          <a:xfrm>
            <a:off x="5525383" y="3820865"/>
            <a:ext cx="2940984" cy="963687"/>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Everyone commits directly (or merges) into main multiple times a day.</a:t>
            </a:r>
          </a:p>
          <a:p>
            <a:pPr algn="just"/>
            <a:r>
              <a:rPr lang="en-US" sz="1200" dirty="0">
                <a:solidFill>
                  <a:schemeClr val="tx1"/>
                </a:solidFill>
                <a:latin typeface="Calibri (Body)"/>
              </a:rPr>
              <a:t>Each commit triggers the CI pipeline.</a:t>
            </a:r>
          </a:p>
          <a:p>
            <a:pPr algn="just"/>
            <a:r>
              <a:rPr lang="en-US" sz="1200" dirty="0">
                <a:solidFill>
                  <a:schemeClr val="tx1"/>
                </a:solidFill>
                <a:latin typeface="Calibri (Body)"/>
              </a:rPr>
              <a:t>Any failed build stops further merges until fixed.</a:t>
            </a:r>
          </a:p>
        </p:txBody>
      </p:sp>
      <p:sp>
        <p:nvSpPr>
          <p:cNvPr id="31" name="Rectangle 30">
            <a:extLst>
              <a:ext uri="{FF2B5EF4-FFF2-40B4-BE49-F238E27FC236}">
                <a16:creationId xmlns:a16="http://schemas.microsoft.com/office/drawing/2014/main" id="{6D704DF0-FC90-8EBB-6849-E4FEFD33EA35}"/>
              </a:ext>
            </a:extLst>
          </p:cNvPr>
          <p:cNvSpPr/>
          <p:nvPr/>
        </p:nvSpPr>
        <p:spPr>
          <a:xfrm>
            <a:off x="5525383" y="4877045"/>
            <a:ext cx="2940984" cy="963688"/>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Unfinished features are hidden behind feature flags/toggles.</a:t>
            </a:r>
          </a:p>
          <a:p>
            <a:pPr algn="just"/>
            <a:r>
              <a:rPr lang="en-US" sz="1200" dirty="0">
                <a:solidFill>
                  <a:schemeClr val="tx1"/>
                </a:solidFill>
                <a:latin typeface="Calibri (Body)"/>
              </a:rPr>
              <a:t>Code can be merged safely even if not yet user-facing. This avoids long-running branches while keeping production stable.</a:t>
            </a:r>
          </a:p>
        </p:txBody>
      </p:sp>
      <p:sp>
        <p:nvSpPr>
          <p:cNvPr id="32" name="Rectangle 31">
            <a:extLst>
              <a:ext uri="{FF2B5EF4-FFF2-40B4-BE49-F238E27FC236}">
                <a16:creationId xmlns:a16="http://schemas.microsoft.com/office/drawing/2014/main" id="{869D5D16-08BC-5C70-BBE2-EECACB9FD1A4}"/>
              </a:ext>
            </a:extLst>
          </p:cNvPr>
          <p:cNvSpPr/>
          <p:nvPr/>
        </p:nvSpPr>
        <p:spPr>
          <a:xfrm>
            <a:off x="5525383" y="5933225"/>
            <a:ext cx="2940984" cy="733793"/>
          </a:xfrm>
          <a:prstGeom prst="rect">
            <a:avLst/>
          </a:prstGeom>
          <a:noFill/>
          <a:ln w="12700">
            <a:solidFill>
              <a:srgbClr val="15608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Calibri (Body)"/>
              </a:rPr>
              <a:t>Successful builds can automatically deploy to staging or production through </a:t>
            </a:r>
            <a:r>
              <a:rPr lang="en-US" sz="1200">
                <a:solidFill>
                  <a:schemeClr val="tx1"/>
                </a:solidFill>
                <a:latin typeface="Calibri (Body)"/>
              </a:rPr>
              <a:t>CD pipelines. </a:t>
            </a:r>
            <a:r>
              <a:rPr lang="en-US" sz="1200" dirty="0">
                <a:solidFill>
                  <a:schemeClr val="tx1"/>
                </a:solidFill>
                <a:latin typeface="Calibri (Body)"/>
              </a:rPr>
              <a:t>The system stays always in a deployable state.</a:t>
            </a:r>
          </a:p>
        </p:txBody>
      </p:sp>
      <p:pic>
        <p:nvPicPr>
          <p:cNvPr id="4" name="Picture 2" descr="Trunk-based development vs feature-branch | by Yan Soares | Fretebras Tech  | Medium">
            <a:extLst>
              <a:ext uri="{FF2B5EF4-FFF2-40B4-BE49-F238E27FC236}">
                <a16:creationId xmlns:a16="http://schemas.microsoft.com/office/drawing/2014/main" id="{610FF2D8-94CA-57D5-C540-3292830D87D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933" r="7595"/>
          <a:stretch/>
        </p:blipFill>
        <p:spPr bwMode="auto">
          <a:xfrm>
            <a:off x="635387" y="2970816"/>
            <a:ext cx="4723910" cy="2450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035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5" progId="TCLayout.ActiveDocument.1">
                  <p:embed/>
                </p:oleObj>
              </mc:Choice>
              <mc:Fallback>
                <p:oleObj name="think-cell Slide" r:id="rId4"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6. </a:t>
            </a:r>
            <a:r>
              <a:rPr lang="en-US" dirty="0"/>
              <a:t>Branching Strategies | Comparison</a:t>
            </a:r>
            <a:endParaRPr lang="en-BE" dirty="0"/>
          </a:p>
        </p:txBody>
      </p:sp>
      <p:sp>
        <p:nvSpPr>
          <p:cNvPr id="7" name="Rectangle 6">
            <a:extLst>
              <a:ext uri="{FF2B5EF4-FFF2-40B4-BE49-F238E27FC236}">
                <a16:creationId xmlns:a16="http://schemas.microsoft.com/office/drawing/2014/main" id="{B6299A67-1BA1-9F43-E004-1BA3BD449D84}"/>
              </a:ext>
            </a:extLst>
          </p:cNvPr>
          <p:cNvSpPr/>
          <p:nvPr/>
        </p:nvSpPr>
        <p:spPr>
          <a:xfrm>
            <a:off x="3078480" y="1332426"/>
            <a:ext cx="2570480"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Git Flow Workflow</a:t>
            </a:r>
            <a:endParaRPr lang="en-BE" sz="1200" b="1" dirty="0">
              <a:latin typeface="Calibri (Body)"/>
            </a:endParaRPr>
          </a:p>
        </p:txBody>
      </p:sp>
      <p:sp>
        <p:nvSpPr>
          <p:cNvPr id="8" name="Rectangle 7">
            <a:extLst>
              <a:ext uri="{FF2B5EF4-FFF2-40B4-BE49-F238E27FC236}">
                <a16:creationId xmlns:a16="http://schemas.microsoft.com/office/drawing/2014/main" id="{814BBAFF-8AF9-B55B-7686-DB6196E6FBEF}"/>
              </a:ext>
            </a:extLst>
          </p:cNvPr>
          <p:cNvSpPr/>
          <p:nvPr/>
        </p:nvSpPr>
        <p:spPr>
          <a:xfrm>
            <a:off x="6096000" y="1332426"/>
            <a:ext cx="2570480"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Feature Branching</a:t>
            </a:r>
            <a:endParaRPr lang="en-BE" sz="1200" b="1" dirty="0">
              <a:latin typeface="Calibri (Body)"/>
            </a:endParaRPr>
          </a:p>
        </p:txBody>
      </p:sp>
      <p:sp>
        <p:nvSpPr>
          <p:cNvPr id="9" name="Rectangle 8">
            <a:extLst>
              <a:ext uri="{FF2B5EF4-FFF2-40B4-BE49-F238E27FC236}">
                <a16:creationId xmlns:a16="http://schemas.microsoft.com/office/drawing/2014/main" id="{64EC54E3-A8B6-6F38-301F-3EB1E9EFC22E}"/>
              </a:ext>
            </a:extLst>
          </p:cNvPr>
          <p:cNvSpPr/>
          <p:nvPr/>
        </p:nvSpPr>
        <p:spPr>
          <a:xfrm>
            <a:off x="9113520" y="1332426"/>
            <a:ext cx="2570480" cy="3791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Body)"/>
              </a:rPr>
              <a:t>Trunk-Based Development</a:t>
            </a:r>
            <a:endParaRPr lang="en-BE" sz="1200" b="1" dirty="0">
              <a:latin typeface="Calibri (Body)"/>
            </a:endParaRPr>
          </a:p>
        </p:txBody>
      </p:sp>
      <p:grpSp>
        <p:nvGrpSpPr>
          <p:cNvPr id="87" name="Group 86">
            <a:extLst>
              <a:ext uri="{FF2B5EF4-FFF2-40B4-BE49-F238E27FC236}">
                <a16:creationId xmlns:a16="http://schemas.microsoft.com/office/drawing/2014/main" id="{B19F3D19-DCD8-EA60-5990-1B99880DC3E0}"/>
              </a:ext>
            </a:extLst>
          </p:cNvPr>
          <p:cNvGrpSpPr/>
          <p:nvPr/>
        </p:nvGrpSpPr>
        <p:grpSpPr>
          <a:xfrm>
            <a:off x="508000" y="1768914"/>
            <a:ext cx="11176000" cy="694706"/>
            <a:chOff x="508000" y="2074393"/>
            <a:chExt cx="11176000" cy="694706"/>
          </a:xfrm>
        </p:grpSpPr>
        <p:sp>
          <p:nvSpPr>
            <p:cNvPr id="17" name="Rectangle 16">
              <a:extLst>
                <a:ext uri="{FF2B5EF4-FFF2-40B4-BE49-F238E27FC236}">
                  <a16:creationId xmlns:a16="http://schemas.microsoft.com/office/drawing/2014/main" id="{02CD98D7-382A-0342-F4D7-8FC905742094}"/>
                </a:ext>
              </a:extLst>
            </p:cNvPr>
            <p:cNvSpPr/>
            <p:nvPr/>
          </p:nvSpPr>
          <p:spPr>
            <a:xfrm>
              <a:off x="3078480" y="2074393"/>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Low</a:t>
              </a:r>
              <a:r>
                <a:rPr lang="en-US" sz="1200" dirty="0">
                  <a:solidFill>
                    <a:schemeClr val="tx1"/>
                  </a:solidFill>
                  <a:latin typeface="Calibri (Body)"/>
                </a:rPr>
                <a:t>: code integrated only after full features or releases.</a:t>
              </a:r>
            </a:p>
          </p:txBody>
        </p:sp>
        <p:sp>
          <p:nvSpPr>
            <p:cNvPr id="18" name="Rectangle 17">
              <a:extLst>
                <a:ext uri="{FF2B5EF4-FFF2-40B4-BE49-F238E27FC236}">
                  <a16:creationId xmlns:a16="http://schemas.microsoft.com/office/drawing/2014/main" id="{C85CB1BA-0758-2559-4916-0DD708058162}"/>
                </a:ext>
              </a:extLst>
            </p:cNvPr>
            <p:cNvSpPr/>
            <p:nvPr/>
          </p:nvSpPr>
          <p:spPr>
            <a:xfrm>
              <a:off x="6106160" y="2074393"/>
              <a:ext cx="256032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Medium</a:t>
              </a:r>
              <a:r>
                <a:rPr lang="en-US" sz="1200" dirty="0">
                  <a:solidFill>
                    <a:schemeClr val="tx1"/>
                  </a:solidFill>
                  <a:latin typeface="Calibri (Body)"/>
                </a:rPr>
                <a:t>: code merged after each completed feature.</a:t>
              </a:r>
            </a:p>
          </p:txBody>
        </p:sp>
        <p:sp>
          <p:nvSpPr>
            <p:cNvPr id="19" name="Rectangle 18">
              <a:extLst>
                <a:ext uri="{FF2B5EF4-FFF2-40B4-BE49-F238E27FC236}">
                  <a16:creationId xmlns:a16="http://schemas.microsoft.com/office/drawing/2014/main" id="{5ACE07B7-36DF-998D-D93D-7713403A112B}"/>
                </a:ext>
              </a:extLst>
            </p:cNvPr>
            <p:cNvSpPr/>
            <p:nvPr/>
          </p:nvSpPr>
          <p:spPr>
            <a:xfrm>
              <a:off x="9113520" y="2074393"/>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High</a:t>
              </a:r>
              <a:r>
                <a:rPr lang="en-US" sz="1200" dirty="0">
                  <a:solidFill>
                    <a:schemeClr val="tx1"/>
                  </a:solidFill>
                  <a:latin typeface="Calibri (Body)"/>
                </a:rPr>
                <a:t>: frequent, small integrations multiple times per day.</a:t>
              </a:r>
            </a:p>
          </p:txBody>
        </p:sp>
        <p:grpSp>
          <p:nvGrpSpPr>
            <p:cNvPr id="82" name="Group 81">
              <a:extLst>
                <a:ext uri="{FF2B5EF4-FFF2-40B4-BE49-F238E27FC236}">
                  <a16:creationId xmlns:a16="http://schemas.microsoft.com/office/drawing/2014/main" id="{B2F0C171-8825-CD2E-451A-F5F465DB68B7}"/>
                </a:ext>
              </a:extLst>
            </p:cNvPr>
            <p:cNvGrpSpPr/>
            <p:nvPr/>
          </p:nvGrpSpPr>
          <p:grpSpPr>
            <a:xfrm>
              <a:off x="508000" y="2156535"/>
              <a:ext cx="2175929" cy="530422"/>
              <a:chOff x="508000" y="2238677"/>
              <a:chExt cx="2175929" cy="530422"/>
            </a:xfrm>
          </p:grpSpPr>
          <p:sp>
            <p:nvSpPr>
              <p:cNvPr id="10" name="Rectangle 9">
                <a:extLst>
                  <a:ext uri="{FF2B5EF4-FFF2-40B4-BE49-F238E27FC236}">
                    <a16:creationId xmlns:a16="http://schemas.microsoft.com/office/drawing/2014/main" id="{A417784A-DC81-ACF8-146D-47243CAD40F4}"/>
                  </a:ext>
                </a:extLst>
              </p:cNvPr>
              <p:cNvSpPr/>
              <p:nvPr/>
            </p:nvSpPr>
            <p:spPr>
              <a:xfrm>
                <a:off x="933231" y="2238677"/>
                <a:ext cx="1750698" cy="53042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Calibri (Body)"/>
                  </a:rPr>
                  <a:t>Integration Frequency</a:t>
                </a:r>
                <a:endParaRPr lang="en-BE" sz="1200" b="1" dirty="0">
                  <a:solidFill>
                    <a:schemeClr val="tx1"/>
                  </a:solidFill>
                  <a:latin typeface="Calibri (Body)"/>
                </a:endParaRPr>
              </a:p>
            </p:txBody>
          </p:sp>
          <p:grpSp>
            <p:nvGrpSpPr>
              <p:cNvPr id="46" name="Group 45">
                <a:extLst>
                  <a:ext uri="{FF2B5EF4-FFF2-40B4-BE49-F238E27FC236}">
                    <a16:creationId xmlns:a16="http://schemas.microsoft.com/office/drawing/2014/main" id="{41CCB694-CCB9-48C9-4191-647AE374E57B}"/>
                  </a:ext>
                </a:extLst>
              </p:cNvPr>
              <p:cNvGrpSpPr>
                <a:grpSpLocks noChangeAspect="1"/>
              </p:cNvGrpSpPr>
              <p:nvPr/>
            </p:nvGrpSpPr>
            <p:grpSpPr>
              <a:xfrm>
                <a:off x="508000" y="2317799"/>
                <a:ext cx="360000" cy="360000"/>
                <a:chOff x="1348536" y="1256243"/>
                <a:chExt cx="720000" cy="720000"/>
              </a:xfrm>
            </p:grpSpPr>
            <p:sp>
              <p:nvSpPr>
                <p:cNvPr id="45" name="Oval 44">
                  <a:extLst>
                    <a:ext uri="{FF2B5EF4-FFF2-40B4-BE49-F238E27FC236}">
                      <a16:creationId xmlns:a16="http://schemas.microsoft.com/office/drawing/2014/main" id="{5313274D-0A71-44E3-30CA-3282A55805C0}"/>
                    </a:ext>
                  </a:extLst>
                </p:cNvPr>
                <p:cNvSpPr>
                  <a:spLocks noChangeAspect="1"/>
                </p:cNvSpPr>
                <p:nvPr/>
              </p:nvSpPr>
              <p:spPr>
                <a:xfrm>
                  <a:off x="1348536" y="1256243"/>
                  <a:ext cx="720000" cy="72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44" name="Graphic 43" descr="Repeat with solid fill">
                  <a:extLst>
                    <a:ext uri="{FF2B5EF4-FFF2-40B4-BE49-F238E27FC236}">
                      <a16:creationId xmlns:a16="http://schemas.microsoft.com/office/drawing/2014/main" id="{77886C45-EA78-F6F6-D460-E99D569391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01472" y="1309179"/>
                  <a:ext cx="614128" cy="614128"/>
                </a:xfrm>
                <a:prstGeom prst="rect">
                  <a:avLst/>
                </a:prstGeom>
              </p:spPr>
            </p:pic>
          </p:grpSp>
        </p:grpSp>
      </p:grpSp>
      <p:grpSp>
        <p:nvGrpSpPr>
          <p:cNvPr id="102" name="Group 101">
            <a:extLst>
              <a:ext uri="{FF2B5EF4-FFF2-40B4-BE49-F238E27FC236}">
                <a16:creationId xmlns:a16="http://schemas.microsoft.com/office/drawing/2014/main" id="{2966C5AF-9131-4707-0652-BA2A130026EB}"/>
              </a:ext>
            </a:extLst>
          </p:cNvPr>
          <p:cNvGrpSpPr/>
          <p:nvPr/>
        </p:nvGrpSpPr>
        <p:grpSpPr>
          <a:xfrm>
            <a:off x="50800" y="2463620"/>
            <a:ext cx="12141200" cy="970463"/>
            <a:chOff x="50800" y="2463620"/>
            <a:chExt cx="12141200" cy="970463"/>
          </a:xfrm>
        </p:grpSpPr>
        <p:sp>
          <p:nvSpPr>
            <p:cNvPr id="99" name="Rectangle 98">
              <a:extLst>
                <a:ext uri="{FF2B5EF4-FFF2-40B4-BE49-F238E27FC236}">
                  <a16:creationId xmlns:a16="http://schemas.microsoft.com/office/drawing/2014/main" id="{7C5B7901-9FE9-8658-5AEE-1F5BDE3FC5B5}"/>
                </a:ext>
              </a:extLst>
            </p:cNvPr>
            <p:cNvSpPr/>
            <p:nvPr/>
          </p:nvSpPr>
          <p:spPr>
            <a:xfrm>
              <a:off x="50800" y="2463620"/>
              <a:ext cx="12141200" cy="9704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1200" b="1" dirty="0">
                <a:latin typeface="Calibri (Body)"/>
              </a:endParaRPr>
            </a:p>
          </p:txBody>
        </p:sp>
        <p:grpSp>
          <p:nvGrpSpPr>
            <p:cNvPr id="88" name="Group 87">
              <a:extLst>
                <a:ext uri="{FF2B5EF4-FFF2-40B4-BE49-F238E27FC236}">
                  <a16:creationId xmlns:a16="http://schemas.microsoft.com/office/drawing/2014/main" id="{5C5944AB-59A4-AB8D-AC8A-19BA9E8E5867}"/>
                </a:ext>
              </a:extLst>
            </p:cNvPr>
            <p:cNvGrpSpPr/>
            <p:nvPr/>
          </p:nvGrpSpPr>
          <p:grpSpPr>
            <a:xfrm>
              <a:off x="508000" y="2572024"/>
              <a:ext cx="11176000" cy="694706"/>
              <a:chOff x="508000" y="2917673"/>
              <a:chExt cx="11176000" cy="694706"/>
            </a:xfrm>
          </p:grpSpPr>
          <p:sp>
            <p:nvSpPr>
              <p:cNvPr id="27" name="Rectangle 26">
                <a:extLst>
                  <a:ext uri="{FF2B5EF4-FFF2-40B4-BE49-F238E27FC236}">
                    <a16:creationId xmlns:a16="http://schemas.microsoft.com/office/drawing/2014/main" id="{824BFD1F-FD79-BA57-A98A-9E3B2280AA6C}"/>
                  </a:ext>
                </a:extLst>
              </p:cNvPr>
              <p:cNvSpPr/>
              <p:nvPr/>
            </p:nvSpPr>
            <p:spPr>
              <a:xfrm>
                <a:off x="3078480" y="2917673"/>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Long</a:t>
                </a:r>
                <a:r>
                  <a:rPr lang="en-US" sz="1200" dirty="0">
                    <a:solidFill>
                      <a:schemeClr val="tx1"/>
                    </a:solidFill>
                    <a:latin typeface="Calibri (Body)"/>
                  </a:rPr>
                  <a:t>: weeks or months for develop/release branches.</a:t>
                </a:r>
              </a:p>
            </p:txBody>
          </p:sp>
          <p:sp>
            <p:nvSpPr>
              <p:cNvPr id="29" name="Rectangle 28">
                <a:extLst>
                  <a:ext uri="{FF2B5EF4-FFF2-40B4-BE49-F238E27FC236}">
                    <a16:creationId xmlns:a16="http://schemas.microsoft.com/office/drawing/2014/main" id="{99772823-BB63-8452-C800-2E0774779BEA}"/>
                  </a:ext>
                </a:extLst>
              </p:cNvPr>
              <p:cNvSpPr/>
              <p:nvPr/>
            </p:nvSpPr>
            <p:spPr>
              <a:xfrm>
                <a:off x="6106160" y="2917673"/>
                <a:ext cx="256032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Short</a:t>
                </a:r>
                <a:r>
                  <a:rPr lang="en-US" sz="1200" dirty="0">
                    <a:solidFill>
                      <a:schemeClr val="tx1"/>
                    </a:solidFill>
                    <a:latin typeface="Calibri (Body)"/>
                  </a:rPr>
                  <a:t>: branches last a few days.</a:t>
                </a:r>
              </a:p>
            </p:txBody>
          </p:sp>
          <p:sp>
            <p:nvSpPr>
              <p:cNvPr id="33" name="Rectangle 32">
                <a:extLst>
                  <a:ext uri="{FF2B5EF4-FFF2-40B4-BE49-F238E27FC236}">
                    <a16:creationId xmlns:a16="http://schemas.microsoft.com/office/drawing/2014/main" id="{56848B53-95F3-4AE5-F162-8EE253DAF9EC}"/>
                  </a:ext>
                </a:extLst>
              </p:cNvPr>
              <p:cNvSpPr/>
              <p:nvPr/>
            </p:nvSpPr>
            <p:spPr>
              <a:xfrm>
                <a:off x="9113520" y="2917673"/>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Very short</a:t>
                </a:r>
                <a:r>
                  <a:rPr lang="en-US" sz="1200" dirty="0">
                    <a:solidFill>
                      <a:schemeClr val="tx1"/>
                    </a:solidFill>
                    <a:latin typeface="Calibri (Body)"/>
                  </a:rPr>
                  <a:t>: hours or direct commits to main.</a:t>
                </a:r>
              </a:p>
            </p:txBody>
          </p:sp>
          <p:grpSp>
            <p:nvGrpSpPr>
              <p:cNvPr id="83" name="Group 82">
                <a:extLst>
                  <a:ext uri="{FF2B5EF4-FFF2-40B4-BE49-F238E27FC236}">
                    <a16:creationId xmlns:a16="http://schemas.microsoft.com/office/drawing/2014/main" id="{2AD78650-D8F2-D9FD-86F2-E3AA7D885D53}"/>
                  </a:ext>
                </a:extLst>
              </p:cNvPr>
              <p:cNvGrpSpPr/>
              <p:nvPr/>
            </p:nvGrpSpPr>
            <p:grpSpPr>
              <a:xfrm>
                <a:off x="508000" y="3048186"/>
                <a:ext cx="2175929" cy="530422"/>
                <a:chOff x="508000" y="3391533"/>
                <a:chExt cx="2175929" cy="530422"/>
              </a:xfrm>
            </p:grpSpPr>
            <p:sp>
              <p:nvSpPr>
                <p:cNvPr id="13" name="Rectangle 12">
                  <a:extLst>
                    <a:ext uri="{FF2B5EF4-FFF2-40B4-BE49-F238E27FC236}">
                      <a16:creationId xmlns:a16="http://schemas.microsoft.com/office/drawing/2014/main" id="{061BD98E-2ACE-0FEE-E9AF-61EECC5AD3B3}"/>
                    </a:ext>
                  </a:extLst>
                </p:cNvPr>
                <p:cNvSpPr/>
                <p:nvPr/>
              </p:nvSpPr>
              <p:spPr>
                <a:xfrm>
                  <a:off x="933231" y="3391533"/>
                  <a:ext cx="1750698" cy="53042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Calibri (Body)"/>
                    </a:rPr>
                    <a:t>Branch Lifespan</a:t>
                  </a:r>
                  <a:endParaRPr lang="en-BE" sz="1200" b="1" dirty="0">
                    <a:solidFill>
                      <a:schemeClr val="tx1"/>
                    </a:solidFill>
                    <a:latin typeface="Calibri (Body)"/>
                  </a:endParaRPr>
                </a:p>
              </p:txBody>
            </p:sp>
            <p:grpSp>
              <p:nvGrpSpPr>
                <p:cNvPr id="81" name="Group 80">
                  <a:extLst>
                    <a:ext uri="{FF2B5EF4-FFF2-40B4-BE49-F238E27FC236}">
                      <a16:creationId xmlns:a16="http://schemas.microsoft.com/office/drawing/2014/main" id="{2BC90197-6CA9-430A-2F7C-56A3DF821507}"/>
                    </a:ext>
                  </a:extLst>
                </p:cNvPr>
                <p:cNvGrpSpPr/>
                <p:nvPr/>
              </p:nvGrpSpPr>
              <p:grpSpPr>
                <a:xfrm>
                  <a:off x="508000" y="3477893"/>
                  <a:ext cx="360000" cy="360000"/>
                  <a:chOff x="508000" y="3477893"/>
                  <a:chExt cx="360000" cy="360000"/>
                </a:xfrm>
              </p:grpSpPr>
              <p:sp>
                <p:nvSpPr>
                  <p:cNvPr id="51" name="Oval 50">
                    <a:extLst>
                      <a:ext uri="{FF2B5EF4-FFF2-40B4-BE49-F238E27FC236}">
                        <a16:creationId xmlns:a16="http://schemas.microsoft.com/office/drawing/2014/main" id="{B4721CF4-23E3-5BC2-05CF-8F6B3B027785}"/>
                      </a:ext>
                    </a:extLst>
                  </p:cNvPr>
                  <p:cNvSpPr>
                    <a:spLocks noChangeAspect="1"/>
                  </p:cNvSpPr>
                  <p:nvPr/>
                </p:nvSpPr>
                <p:spPr>
                  <a:xfrm>
                    <a:off x="508000" y="3477893"/>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70" name="Graphic 69" descr="Branching diagram with solid fill">
                    <a:extLst>
                      <a:ext uri="{FF2B5EF4-FFF2-40B4-BE49-F238E27FC236}">
                        <a16:creationId xmlns:a16="http://schemas.microsoft.com/office/drawing/2014/main" id="{57004BBF-CDF5-0AE6-A96D-58B098AF3C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0840" y="3528955"/>
                    <a:ext cx="285660" cy="285660"/>
                  </a:xfrm>
                  <a:prstGeom prst="rect">
                    <a:avLst/>
                  </a:prstGeom>
                </p:spPr>
              </p:pic>
            </p:grpSp>
          </p:grpSp>
        </p:grpSp>
      </p:grpSp>
      <p:grpSp>
        <p:nvGrpSpPr>
          <p:cNvPr id="89" name="Group 88">
            <a:extLst>
              <a:ext uri="{FF2B5EF4-FFF2-40B4-BE49-F238E27FC236}">
                <a16:creationId xmlns:a16="http://schemas.microsoft.com/office/drawing/2014/main" id="{EEAF6A35-0378-DFB0-549C-6142B7F805D6}"/>
              </a:ext>
            </a:extLst>
          </p:cNvPr>
          <p:cNvGrpSpPr/>
          <p:nvPr/>
        </p:nvGrpSpPr>
        <p:grpSpPr>
          <a:xfrm>
            <a:off x="508000" y="3375134"/>
            <a:ext cx="11176000" cy="694706"/>
            <a:chOff x="508000" y="3741549"/>
            <a:chExt cx="11176000" cy="694706"/>
          </a:xfrm>
        </p:grpSpPr>
        <p:sp>
          <p:nvSpPr>
            <p:cNvPr id="34" name="Rectangle 33">
              <a:extLst>
                <a:ext uri="{FF2B5EF4-FFF2-40B4-BE49-F238E27FC236}">
                  <a16:creationId xmlns:a16="http://schemas.microsoft.com/office/drawing/2014/main" id="{F1A8B765-CFB4-0C7B-DE70-542FAA478706}"/>
                </a:ext>
              </a:extLst>
            </p:cNvPr>
            <p:cNvSpPr/>
            <p:nvPr/>
          </p:nvSpPr>
          <p:spPr>
            <a:xfrm>
              <a:off x="3078480" y="3741549"/>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High</a:t>
              </a:r>
              <a:r>
                <a:rPr lang="en-US" sz="1200" dirty="0">
                  <a:solidFill>
                    <a:schemeClr val="tx1"/>
                  </a:solidFill>
                  <a:latin typeface="Calibri (Body)"/>
                </a:rPr>
                <a:t>: many branches, frequent merges, overhead.</a:t>
              </a:r>
            </a:p>
          </p:txBody>
        </p:sp>
        <p:sp>
          <p:nvSpPr>
            <p:cNvPr id="35" name="Rectangle 34">
              <a:extLst>
                <a:ext uri="{FF2B5EF4-FFF2-40B4-BE49-F238E27FC236}">
                  <a16:creationId xmlns:a16="http://schemas.microsoft.com/office/drawing/2014/main" id="{805F83DE-9BB1-631A-0B53-4CA765417F63}"/>
                </a:ext>
              </a:extLst>
            </p:cNvPr>
            <p:cNvSpPr/>
            <p:nvPr/>
          </p:nvSpPr>
          <p:spPr>
            <a:xfrm>
              <a:off x="6106160" y="3741549"/>
              <a:ext cx="256032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Moderate</a:t>
              </a:r>
              <a:r>
                <a:rPr lang="en-US" sz="1200" dirty="0">
                  <a:solidFill>
                    <a:schemeClr val="tx1"/>
                  </a:solidFill>
                  <a:latin typeface="Calibri (Body)"/>
                </a:rPr>
                <a:t>: manageable structure, some merge coordination.</a:t>
              </a:r>
            </a:p>
          </p:txBody>
        </p:sp>
        <p:sp>
          <p:nvSpPr>
            <p:cNvPr id="36" name="Rectangle 35">
              <a:extLst>
                <a:ext uri="{FF2B5EF4-FFF2-40B4-BE49-F238E27FC236}">
                  <a16:creationId xmlns:a16="http://schemas.microsoft.com/office/drawing/2014/main" id="{F4352788-4102-0390-ADE2-5C77559473C6}"/>
                </a:ext>
              </a:extLst>
            </p:cNvPr>
            <p:cNvSpPr/>
            <p:nvPr/>
          </p:nvSpPr>
          <p:spPr>
            <a:xfrm>
              <a:off x="9113520" y="3741549"/>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Low</a:t>
              </a:r>
              <a:r>
                <a:rPr lang="en-US" sz="1200" dirty="0">
                  <a:solidFill>
                    <a:schemeClr val="tx1"/>
                  </a:solidFill>
                  <a:latin typeface="Calibri (Body)"/>
                </a:rPr>
                <a:t>: minimal branching, simpler process, relies on automation</a:t>
              </a:r>
            </a:p>
          </p:txBody>
        </p:sp>
        <p:grpSp>
          <p:nvGrpSpPr>
            <p:cNvPr id="84" name="Group 83">
              <a:extLst>
                <a:ext uri="{FF2B5EF4-FFF2-40B4-BE49-F238E27FC236}">
                  <a16:creationId xmlns:a16="http://schemas.microsoft.com/office/drawing/2014/main" id="{9ACBBD8A-C716-E904-A7E0-332573AF8AD1}"/>
                </a:ext>
              </a:extLst>
            </p:cNvPr>
            <p:cNvGrpSpPr/>
            <p:nvPr/>
          </p:nvGrpSpPr>
          <p:grpSpPr>
            <a:xfrm>
              <a:off x="508000" y="3823691"/>
              <a:ext cx="2175929" cy="530422"/>
              <a:chOff x="508000" y="4112231"/>
              <a:chExt cx="2175929" cy="530422"/>
            </a:xfrm>
          </p:grpSpPr>
          <p:sp>
            <p:nvSpPr>
              <p:cNvPr id="14" name="Rectangle 13">
                <a:extLst>
                  <a:ext uri="{FF2B5EF4-FFF2-40B4-BE49-F238E27FC236}">
                    <a16:creationId xmlns:a16="http://schemas.microsoft.com/office/drawing/2014/main" id="{E9945000-C235-BD32-6347-EE948CFDE131}"/>
                  </a:ext>
                </a:extLst>
              </p:cNvPr>
              <p:cNvSpPr/>
              <p:nvPr/>
            </p:nvSpPr>
            <p:spPr>
              <a:xfrm>
                <a:off x="933231" y="4112231"/>
                <a:ext cx="1750698" cy="53042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Calibri (Body)"/>
                  </a:rPr>
                  <a:t>Complexity</a:t>
                </a:r>
                <a:endParaRPr lang="en-BE" sz="1200" b="1" dirty="0">
                  <a:solidFill>
                    <a:schemeClr val="tx1"/>
                  </a:solidFill>
                  <a:latin typeface="Calibri (Body)"/>
                </a:endParaRPr>
              </a:p>
            </p:txBody>
          </p:sp>
          <p:grpSp>
            <p:nvGrpSpPr>
              <p:cNvPr id="80" name="Group 79">
                <a:extLst>
                  <a:ext uri="{FF2B5EF4-FFF2-40B4-BE49-F238E27FC236}">
                    <a16:creationId xmlns:a16="http://schemas.microsoft.com/office/drawing/2014/main" id="{DEC37EC0-4FE8-794F-3EAD-B2F0777D46C2}"/>
                  </a:ext>
                </a:extLst>
              </p:cNvPr>
              <p:cNvGrpSpPr/>
              <p:nvPr/>
            </p:nvGrpSpPr>
            <p:grpSpPr>
              <a:xfrm>
                <a:off x="508000" y="4197442"/>
                <a:ext cx="360000" cy="360000"/>
                <a:chOff x="508000" y="4197442"/>
                <a:chExt cx="360000" cy="360000"/>
              </a:xfrm>
            </p:grpSpPr>
            <p:sp>
              <p:nvSpPr>
                <p:cNvPr id="54" name="Oval 53">
                  <a:extLst>
                    <a:ext uri="{FF2B5EF4-FFF2-40B4-BE49-F238E27FC236}">
                      <a16:creationId xmlns:a16="http://schemas.microsoft.com/office/drawing/2014/main" id="{03C38F3A-980F-34F5-24C3-9B06D258D1D7}"/>
                    </a:ext>
                  </a:extLst>
                </p:cNvPr>
                <p:cNvSpPr>
                  <a:spLocks noChangeAspect="1"/>
                </p:cNvSpPr>
                <p:nvPr/>
              </p:nvSpPr>
              <p:spPr>
                <a:xfrm>
                  <a:off x="508000" y="4197442"/>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73" name="Graphic 72" descr="Thought with solid fill">
                  <a:extLst>
                    <a:ext uri="{FF2B5EF4-FFF2-40B4-BE49-F238E27FC236}">
                      <a16:creationId xmlns:a16="http://schemas.microsoft.com/office/drawing/2014/main" id="{319DDDAE-0056-FCBB-7E57-4F54F633CCE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3231" y="4244340"/>
                  <a:ext cx="239466" cy="239466"/>
                </a:xfrm>
                <a:prstGeom prst="rect">
                  <a:avLst/>
                </a:prstGeom>
              </p:spPr>
            </p:pic>
          </p:grpSp>
        </p:grpSp>
      </p:grpSp>
      <p:grpSp>
        <p:nvGrpSpPr>
          <p:cNvPr id="103" name="Group 102">
            <a:extLst>
              <a:ext uri="{FF2B5EF4-FFF2-40B4-BE49-F238E27FC236}">
                <a16:creationId xmlns:a16="http://schemas.microsoft.com/office/drawing/2014/main" id="{AA72BE33-D04A-0A84-A48F-B9B9B2656D70}"/>
              </a:ext>
            </a:extLst>
          </p:cNvPr>
          <p:cNvGrpSpPr/>
          <p:nvPr/>
        </p:nvGrpSpPr>
        <p:grpSpPr>
          <a:xfrm>
            <a:off x="50800" y="4036833"/>
            <a:ext cx="12141200" cy="970463"/>
            <a:chOff x="50800" y="4036833"/>
            <a:chExt cx="12141200" cy="970463"/>
          </a:xfrm>
        </p:grpSpPr>
        <p:sp>
          <p:nvSpPr>
            <p:cNvPr id="100" name="Rectangle 99">
              <a:extLst>
                <a:ext uri="{FF2B5EF4-FFF2-40B4-BE49-F238E27FC236}">
                  <a16:creationId xmlns:a16="http://schemas.microsoft.com/office/drawing/2014/main" id="{E75B9214-D1DF-091B-18CE-C3FF4B0D0294}"/>
                </a:ext>
              </a:extLst>
            </p:cNvPr>
            <p:cNvSpPr/>
            <p:nvPr/>
          </p:nvSpPr>
          <p:spPr>
            <a:xfrm>
              <a:off x="50800" y="4036833"/>
              <a:ext cx="12141200" cy="97046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1200" b="1" dirty="0">
                <a:latin typeface="Calibri (Body)"/>
              </a:endParaRPr>
            </a:p>
          </p:txBody>
        </p:sp>
        <p:grpSp>
          <p:nvGrpSpPr>
            <p:cNvPr id="90" name="Group 89">
              <a:extLst>
                <a:ext uri="{FF2B5EF4-FFF2-40B4-BE49-F238E27FC236}">
                  <a16:creationId xmlns:a16="http://schemas.microsoft.com/office/drawing/2014/main" id="{10BB6031-7C5E-9214-0E00-81FC03B9A68E}"/>
                </a:ext>
              </a:extLst>
            </p:cNvPr>
            <p:cNvGrpSpPr/>
            <p:nvPr/>
          </p:nvGrpSpPr>
          <p:grpSpPr>
            <a:xfrm>
              <a:off x="508000" y="4178244"/>
              <a:ext cx="11176000" cy="694706"/>
              <a:chOff x="508000" y="4592240"/>
              <a:chExt cx="11176000" cy="694706"/>
            </a:xfrm>
          </p:grpSpPr>
          <p:sp>
            <p:nvSpPr>
              <p:cNvPr id="37" name="Rectangle 36">
                <a:extLst>
                  <a:ext uri="{FF2B5EF4-FFF2-40B4-BE49-F238E27FC236}">
                    <a16:creationId xmlns:a16="http://schemas.microsoft.com/office/drawing/2014/main" id="{F2320B90-58F3-50BD-D112-15DCB751BC6F}"/>
                  </a:ext>
                </a:extLst>
              </p:cNvPr>
              <p:cNvSpPr/>
              <p:nvPr/>
            </p:nvSpPr>
            <p:spPr>
              <a:xfrm>
                <a:off x="3078480" y="4592240"/>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Structured</a:t>
                </a:r>
                <a:r>
                  <a:rPr lang="en-US" sz="1200" dirty="0">
                    <a:solidFill>
                      <a:schemeClr val="tx1"/>
                    </a:solidFill>
                    <a:latin typeface="Calibri (Body)"/>
                  </a:rPr>
                  <a:t>: clear ownership but slower collaboration.</a:t>
                </a:r>
              </a:p>
            </p:txBody>
          </p:sp>
          <p:sp>
            <p:nvSpPr>
              <p:cNvPr id="38" name="Rectangle 37">
                <a:extLst>
                  <a:ext uri="{FF2B5EF4-FFF2-40B4-BE49-F238E27FC236}">
                    <a16:creationId xmlns:a16="http://schemas.microsoft.com/office/drawing/2014/main" id="{33F66FF9-3EA7-4C13-669D-CD5D8358F00E}"/>
                  </a:ext>
                </a:extLst>
              </p:cNvPr>
              <p:cNvSpPr/>
              <p:nvPr/>
            </p:nvSpPr>
            <p:spPr>
              <a:xfrm>
                <a:off x="6106160" y="4592240"/>
                <a:ext cx="256032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Collaborative</a:t>
                </a:r>
                <a:r>
                  <a:rPr lang="en-US" sz="1200" dirty="0">
                    <a:solidFill>
                      <a:schemeClr val="tx1"/>
                    </a:solidFill>
                    <a:latin typeface="Calibri (Body)"/>
                  </a:rPr>
                  <a:t>: teams work independently with regular reviews.</a:t>
                </a:r>
              </a:p>
            </p:txBody>
          </p:sp>
          <p:sp>
            <p:nvSpPr>
              <p:cNvPr id="39" name="Rectangle 38">
                <a:extLst>
                  <a:ext uri="{FF2B5EF4-FFF2-40B4-BE49-F238E27FC236}">
                    <a16:creationId xmlns:a16="http://schemas.microsoft.com/office/drawing/2014/main" id="{76E58889-CEB4-93D2-0FD5-D4EF463D37AF}"/>
                  </a:ext>
                </a:extLst>
              </p:cNvPr>
              <p:cNvSpPr/>
              <p:nvPr/>
            </p:nvSpPr>
            <p:spPr>
              <a:xfrm>
                <a:off x="9113520" y="4592240"/>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Highly collaborative</a:t>
                </a:r>
                <a:r>
                  <a:rPr lang="en-US" sz="1200" dirty="0">
                    <a:solidFill>
                      <a:schemeClr val="tx1"/>
                    </a:solidFill>
                    <a:latin typeface="Calibri (Body)"/>
                  </a:rPr>
                  <a:t>: constant communication, shared ownership.</a:t>
                </a:r>
              </a:p>
            </p:txBody>
          </p:sp>
          <p:grpSp>
            <p:nvGrpSpPr>
              <p:cNvPr id="85" name="Group 84">
                <a:extLst>
                  <a:ext uri="{FF2B5EF4-FFF2-40B4-BE49-F238E27FC236}">
                    <a16:creationId xmlns:a16="http://schemas.microsoft.com/office/drawing/2014/main" id="{9A5BE98A-CB6B-8E54-6380-1E9E0A599D4D}"/>
                  </a:ext>
                </a:extLst>
              </p:cNvPr>
              <p:cNvGrpSpPr/>
              <p:nvPr/>
            </p:nvGrpSpPr>
            <p:grpSpPr>
              <a:xfrm>
                <a:off x="508000" y="4674073"/>
                <a:ext cx="2175929" cy="530422"/>
                <a:chOff x="508000" y="4711335"/>
                <a:chExt cx="2175929" cy="530422"/>
              </a:xfrm>
            </p:grpSpPr>
            <p:sp>
              <p:nvSpPr>
                <p:cNvPr id="15" name="Rectangle 14">
                  <a:extLst>
                    <a:ext uri="{FF2B5EF4-FFF2-40B4-BE49-F238E27FC236}">
                      <a16:creationId xmlns:a16="http://schemas.microsoft.com/office/drawing/2014/main" id="{2B0D8467-8904-07B3-88DA-1A33E21827FB}"/>
                    </a:ext>
                  </a:extLst>
                </p:cNvPr>
                <p:cNvSpPr/>
                <p:nvPr/>
              </p:nvSpPr>
              <p:spPr>
                <a:xfrm>
                  <a:off x="933231" y="4711335"/>
                  <a:ext cx="1750698" cy="53042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Calibri (Body)"/>
                    </a:rPr>
                    <a:t>Team Coordination</a:t>
                  </a:r>
                  <a:endParaRPr lang="en-BE" sz="1200" b="1" dirty="0">
                    <a:solidFill>
                      <a:schemeClr val="tx1"/>
                    </a:solidFill>
                    <a:latin typeface="Calibri (Body)"/>
                  </a:endParaRPr>
                </a:p>
              </p:txBody>
            </p:sp>
            <p:grpSp>
              <p:nvGrpSpPr>
                <p:cNvPr id="79" name="Group 78">
                  <a:extLst>
                    <a:ext uri="{FF2B5EF4-FFF2-40B4-BE49-F238E27FC236}">
                      <a16:creationId xmlns:a16="http://schemas.microsoft.com/office/drawing/2014/main" id="{D80DEE97-7BCA-76AF-C701-01B8876FE060}"/>
                    </a:ext>
                  </a:extLst>
                </p:cNvPr>
                <p:cNvGrpSpPr/>
                <p:nvPr/>
              </p:nvGrpSpPr>
              <p:grpSpPr>
                <a:xfrm>
                  <a:off x="508000" y="4796546"/>
                  <a:ext cx="360000" cy="360000"/>
                  <a:chOff x="508000" y="4796546"/>
                  <a:chExt cx="360000" cy="360000"/>
                </a:xfrm>
              </p:grpSpPr>
              <p:sp>
                <p:nvSpPr>
                  <p:cNvPr id="57" name="Oval 56">
                    <a:extLst>
                      <a:ext uri="{FF2B5EF4-FFF2-40B4-BE49-F238E27FC236}">
                        <a16:creationId xmlns:a16="http://schemas.microsoft.com/office/drawing/2014/main" id="{A7701F47-13C0-ACF1-98F5-584E74463476}"/>
                      </a:ext>
                    </a:extLst>
                  </p:cNvPr>
                  <p:cNvSpPr>
                    <a:spLocks noChangeAspect="1"/>
                  </p:cNvSpPr>
                  <p:nvPr/>
                </p:nvSpPr>
                <p:spPr>
                  <a:xfrm>
                    <a:off x="508000" y="4796546"/>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75" name="Graphic 74" descr="Users with solid fill">
                    <a:extLst>
                      <a:ext uri="{FF2B5EF4-FFF2-40B4-BE49-F238E27FC236}">
                        <a16:creationId xmlns:a16="http://schemas.microsoft.com/office/drawing/2014/main" id="{84AA8ACC-6388-5848-7769-C5318305BE0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0124" y="4828358"/>
                    <a:ext cx="296376" cy="296376"/>
                  </a:xfrm>
                  <a:prstGeom prst="rect">
                    <a:avLst/>
                  </a:prstGeom>
                </p:spPr>
              </p:pic>
            </p:grpSp>
          </p:grpSp>
        </p:grpSp>
      </p:grpSp>
      <p:grpSp>
        <p:nvGrpSpPr>
          <p:cNvPr id="98" name="Group 97">
            <a:extLst>
              <a:ext uri="{FF2B5EF4-FFF2-40B4-BE49-F238E27FC236}">
                <a16:creationId xmlns:a16="http://schemas.microsoft.com/office/drawing/2014/main" id="{700517D1-B229-5DB3-5882-CE71B4FFFADC}"/>
              </a:ext>
            </a:extLst>
          </p:cNvPr>
          <p:cNvGrpSpPr/>
          <p:nvPr/>
        </p:nvGrpSpPr>
        <p:grpSpPr>
          <a:xfrm>
            <a:off x="508000" y="4981353"/>
            <a:ext cx="11176000" cy="694706"/>
            <a:chOff x="508000" y="5426357"/>
            <a:chExt cx="11176000" cy="694706"/>
          </a:xfrm>
        </p:grpSpPr>
        <p:sp>
          <p:nvSpPr>
            <p:cNvPr id="40" name="Rectangle 39">
              <a:extLst>
                <a:ext uri="{FF2B5EF4-FFF2-40B4-BE49-F238E27FC236}">
                  <a16:creationId xmlns:a16="http://schemas.microsoft.com/office/drawing/2014/main" id="{F347A6DE-6315-5861-9FF2-2B8A78C37970}"/>
                </a:ext>
              </a:extLst>
            </p:cNvPr>
            <p:cNvSpPr/>
            <p:nvPr/>
          </p:nvSpPr>
          <p:spPr>
            <a:xfrm>
              <a:off x="3078480" y="5426357"/>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Enterprise projects</a:t>
              </a:r>
              <a:r>
                <a:rPr lang="en-US" sz="1200" dirty="0">
                  <a:solidFill>
                    <a:schemeClr val="tx1"/>
                  </a:solidFill>
                  <a:latin typeface="Calibri (Body)"/>
                </a:rPr>
                <a:t>: planned releases, multiple versions.</a:t>
              </a:r>
            </a:p>
          </p:txBody>
        </p:sp>
        <p:sp>
          <p:nvSpPr>
            <p:cNvPr id="41" name="Rectangle 40">
              <a:extLst>
                <a:ext uri="{FF2B5EF4-FFF2-40B4-BE49-F238E27FC236}">
                  <a16:creationId xmlns:a16="http://schemas.microsoft.com/office/drawing/2014/main" id="{A5989665-EC79-FFBB-08C5-3D6B500FD37A}"/>
                </a:ext>
              </a:extLst>
            </p:cNvPr>
            <p:cNvSpPr/>
            <p:nvPr/>
          </p:nvSpPr>
          <p:spPr>
            <a:xfrm>
              <a:off x="6106160" y="5426357"/>
              <a:ext cx="256032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Standard CI teams: </a:t>
              </a:r>
              <a:r>
                <a:rPr lang="en-US" sz="1200" dirty="0">
                  <a:solidFill>
                    <a:schemeClr val="tx1"/>
                  </a:solidFill>
                  <a:latin typeface="Calibri (Body)"/>
                </a:rPr>
                <a:t>regular feature delivery and reviews.</a:t>
              </a:r>
            </a:p>
          </p:txBody>
        </p:sp>
        <p:sp>
          <p:nvSpPr>
            <p:cNvPr id="42" name="Rectangle 41">
              <a:extLst>
                <a:ext uri="{FF2B5EF4-FFF2-40B4-BE49-F238E27FC236}">
                  <a16:creationId xmlns:a16="http://schemas.microsoft.com/office/drawing/2014/main" id="{AF728ED1-1090-3345-A64E-10C66DE14466}"/>
                </a:ext>
              </a:extLst>
            </p:cNvPr>
            <p:cNvSpPr/>
            <p:nvPr/>
          </p:nvSpPr>
          <p:spPr>
            <a:xfrm>
              <a:off x="9113520" y="5426357"/>
              <a:ext cx="2570480" cy="694706"/>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solidFill>
                    <a:schemeClr val="tx1"/>
                  </a:solidFill>
                  <a:latin typeface="Calibri (Body)"/>
                </a:rPr>
                <a:t>DevOps / Microservices</a:t>
              </a:r>
              <a:r>
                <a:rPr lang="en-US" sz="1200" dirty="0">
                  <a:solidFill>
                    <a:schemeClr val="tx1"/>
                  </a:solidFill>
                  <a:latin typeface="Calibri (Body)"/>
                </a:rPr>
                <a:t>: continuous integration and deployment.</a:t>
              </a:r>
            </a:p>
          </p:txBody>
        </p:sp>
        <p:grpSp>
          <p:nvGrpSpPr>
            <p:cNvPr id="86" name="Group 85">
              <a:extLst>
                <a:ext uri="{FF2B5EF4-FFF2-40B4-BE49-F238E27FC236}">
                  <a16:creationId xmlns:a16="http://schemas.microsoft.com/office/drawing/2014/main" id="{712E2FB3-27BB-D70E-3C9D-A013BC806623}"/>
                </a:ext>
              </a:extLst>
            </p:cNvPr>
            <p:cNvGrpSpPr/>
            <p:nvPr/>
          </p:nvGrpSpPr>
          <p:grpSpPr>
            <a:xfrm>
              <a:off x="508000" y="5508499"/>
              <a:ext cx="2175929" cy="530422"/>
              <a:chOff x="508000" y="5279156"/>
              <a:chExt cx="2175929" cy="530422"/>
            </a:xfrm>
          </p:grpSpPr>
          <p:sp>
            <p:nvSpPr>
              <p:cNvPr id="16" name="Rectangle 15">
                <a:extLst>
                  <a:ext uri="{FF2B5EF4-FFF2-40B4-BE49-F238E27FC236}">
                    <a16:creationId xmlns:a16="http://schemas.microsoft.com/office/drawing/2014/main" id="{71180D2A-DFB7-6C78-A935-DD082A9781C9}"/>
                  </a:ext>
                </a:extLst>
              </p:cNvPr>
              <p:cNvSpPr/>
              <p:nvPr/>
            </p:nvSpPr>
            <p:spPr>
              <a:xfrm>
                <a:off x="933231" y="5279156"/>
                <a:ext cx="1750698" cy="53042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Calibri (Body)"/>
                  </a:rPr>
                  <a:t>Typical Use Case</a:t>
                </a:r>
                <a:endParaRPr lang="en-BE" sz="1200" b="1" dirty="0">
                  <a:solidFill>
                    <a:schemeClr val="tx1"/>
                  </a:solidFill>
                  <a:latin typeface="Calibri (Body)"/>
                </a:endParaRPr>
              </a:p>
            </p:txBody>
          </p:sp>
          <p:grpSp>
            <p:nvGrpSpPr>
              <p:cNvPr id="78" name="Group 77">
                <a:extLst>
                  <a:ext uri="{FF2B5EF4-FFF2-40B4-BE49-F238E27FC236}">
                    <a16:creationId xmlns:a16="http://schemas.microsoft.com/office/drawing/2014/main" id="{F84BFBF9-CC95-DFDB-DFCB-9BA058402C03}"/>
                  </a:ext>
                </a:extLst>
              </p:cNvPr>
              <p:cNvGrpSpPr/>
              <p:nvPr/>
            </p:nvGrpSpPr>
            <p:grpSpPr>
              <a:xfrm>
                <a:off x="508000" y="5364367"/>
                <a:ext cx="360000" cy="360000"/>
                <a:chOff x="508000" y="5364367"/>
                <a:chExt cx="360000" cy="360000"/>
              </a:xfrm>
            </p:grpSpPr>
            <p:sp>
              <p:nvSpPr>
                <p:cNvPr id="65" name="Oval 64">
                  <a:extLst>
                    <a:ext uri="{FF2B5EF4-FFF2-40B4-BE49-F238E27FC236}">
                      <a16:creationId xmlns:a16="http://schemas.microsoft.com/office/drawing/2014/main" id="{2C600110-625D-666F-5CA2-D20C1C288FE0}"/>
                    </a:ext>
                  </a:extLst>
                </p:cNvPr>
                <p:cNvSpPr>
                  <a:spLocks noChangeAspect="1"/>
                </p:cNvSpPr>
                <p:nvPr/>
              </p:nvSpPr>
              <p:spPr>
                <a:xfrm>
                  <a:off x="508000" y="5364367"/>
                  <a:ext cx="360000" cy="360000"/>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dirty="0"/>
                </a:p>
              </p:txBody>
            </p:sp>
            <p:pic>
              <p:nvPicPr>
                <p:cNvPr id="77" name="Graphic 76" descr="Single gear with solid fill">
                  <a:extLst>
                    <a:ext uri="{FF2B5EF4-FFF2-40B4-BE49-F238E27FC236}">
                      <a16:creationId xmlns:a16="http://schemas.microsoft.com/office/drawing/2014/main" id="{EA2D06C8-C675-23C1-FD27-06B5F41A56D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3641" y="5380008"/>
                  <a:ext cx="328717" cy="328717"/>
                </a:xfrm>
                <a:prstGeom prst="rect">
                  <a:avLst/>
                </a:prstGeom>
              </p:spPr>
            </p:pic>
          </p:grpSp>
        </p:grpSp>
      </p:grpSp>
      <p:sp>
        <p:nvSpPr>
          <p:cNvPr id="101" name="Rectangle 100">
            <a:extLst>
              <a:ext uri="{FF2B5EF4-FFF2-40B4-BE49-F238E27FC236}">
                <a16:creationId xmlns:a16="http://schemas.microsoft.com/office/drawing/2014/main" id="{1987EEE6-004E-C7EB-D51E-88B5DAF9BCB8}"/>
              </a:ext>
            </a:extLst>
          </p:cNvPr>
          <p:cNvSpPr/>
          <p:nvPr/>
        </p:nvSpPr>
        <p:spPr>
          <a:xfrm>
            <a:off x="523641" y="5981867"/>
            <a:ext cx="11160359" cy="694706"/>
          </a:xfrm>
          <a:prstGeom prst="rect">
            <a:avLst/>
          </a:prstGeom>
          <a:noFill/>
          <a:ln w="127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i="1" dirty="0">
                <a:solidFill>
                  <a:schemeClr val="tx1"/>
                </a:solidFill>
                <a:latin typeface="Calibri (Body)"/>
              </a:rPr>
              <a:t>From structured and stable (Git Flow) to collaborative (Feature Branching) and finally continuous (Trunk-Based) — each strategy suits a different level of automation and team maturity.</a:t>
            </a:r>
            <a:endParaRPr lang="en-BE" sz="1400" i="1" dirty="0">
              <a:solidFill>
                <a:schemeClr val="tx1"/>
              </a:solidFill>
              <a:latin typeface="Calibri (Body)"/>
            </a:endParaRPr>
          </a:p>
        </p:txBody>
      </p:sp>
    </p:spTree>
    <p:extLst>
      <p:ext uri="{BB962C8B-B14F-4D97-AF65-F5344CB8AC3E}">
        <p14:creationId xmlns:p14="http://schemas.microsoft.com/office/powerpoint/2010/main" val="8183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BF2387-A18B-71D8-9526-096DE17037BF}"/>
              </a:ext>
            </a:extLst>
          </p:cNvPr>
          <p:cNvGraphicFramePr>
            <a:graphicFrameLocks noChangeAspect="1"/>
          </p:cNvGraphicFramePr>
          <p:nvPr>
            <p:custDataLst>
              <p:tags r:id="rId1"/>
            </p:custDataLst>
            <p:extLst>
              <p:ext uri="{D42A27DB-BD31-4B8C-83A1-F6EECF244321}">
                <p14:modId xmlns:p14="http://schemas.microsoft.com/office/powerpoint/2010/main" val="14241883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4" imgH="425" progId="TCLayout.ActiveDocument.1">
                  <p:embed/>
                </p:oleObj>
              </mc:Choice>
              <mc:Fallback>
                <p:oleObj name="think-cell Slide" r:id="rId3" imgW="424" imgH="425" progId="TCLayout.ActiveDocument.1">
                  <p:embed/>
                  <p:pic>
                    <p:nvPicPr>
                      <p:cNvPr id="5" name="think-cell data - do not delete" hidden="1">
                        <a:extLst>
                          <a:ext uri="{FF2B5EF4-FFF2-40B4-BE49-F238E27FC236}">
                            <a16:creationId xmlns:a16="http://schemas.microsoft.com/office/drawing/2014/main" id="{26BF2387-A18B-71D8-9526-096DE17037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2D99F6A7-0122-CA8F-E404-33E70F7B12A1}"/>
              </a:ext>
            </a:extLst>
          </p:cNvPr>
          <p:cNvSpPr>
            <a:spLocks noGrp="1"/>
          </p:cNvSpPr>
          <p:nvPr>
            <p:ph type="title"/>
          </p:nvPr>
        </p:nvSpPr>
        <p:spPr/>
        <p:txBody>
          <a:bodyPr vert="horz"/>
          <a:lstStyle/>
          <a:p>
            <a:r>
              <a:rPr lang="en-BE" dirty="0"/>
              <a:t>9. Summary</a:t>
            </a:r>
          </a:p>
        </p:txBody>
      </p:sp>
      <p:grpSp>
        <p:nvGrpSpPr>
          <p:cNvPr id="3" name="Group 2">
            <a:extLst>
              <a:ext uri="{FF2B5EF4-FFF2-40B4-BE49-F238E27FC236}">
                <a16:creationId xmlns:a16="http://schemas.microsoft.com/office/drawing/2014/main" id="{49A2715B-B7D3-854B-B2A7-A7810E02E1B6}"/>
              </a:ext>
            </a:extLst>
          </p:cNvPr>
          <p:cNvGrpSpPr/>
          <p:nvPr/>
        </p:nvGrpSpPr>
        <p:grpSpPr>
          <a:xfrm>
            <a:off x="528320" y="1843822"/>
            <a:ext cx="9473519" cy="450849"/>
            <a:chOff x="528320" y="1843822"/>
            <a:chExt cx="9473519" cy="450849"/>
          </a:xfrm>
        </p:grpSpPr>
        <p:sp>
          <p:nvSpPr>
            <p:cNvPr id="4" name="Oval 3">
              <a:extLst>
                <a:ext uri="{FF2B5EF4-FFF2-40B4-BE49-F238E27FC236}">
                  <a16:creationId xmlns:a16="http://schemas.microsoft.com/office/drawing/2014/main" id="{7F8DEFCB-DC4F-984F-8A8D-1678BB062AF7}"/>
                </a:ext>
              </a:extLst>
            </p:cNvPr>
            <p:cNvSpPr>
              <a:spLocks noChangeAspect="1"/>
            </p:cNvSpPr>
            <p:nvPr/>
          </p:nvSpPr>
          <p:spPr>
            <a:xfrm>
              <a:off x="528320" y="1889246"/>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1</a:t>
              </a:r>
            </a:p>
          </p:txBody>
        </p:sp>
        <p:sp>
          <p:nvSpPr>
            <p:cNvPr id="7" name="Rectangle 6">
              <a:extLst>
                <a:ext uri="{FF2B5EF4-FFF2-40B4-BE49-F238E27FC236}">
                  <a16:creationId xmlns:a16="http://schemas.microsoft.com/office/drawing/2014/main" id="{52FC033A-9A9A-2CE2-1BCC-6276A2AF8A21}"/>
                </a:ext>
              </a:extLst>
            </p:cNvPr>
            <p:cNvSpPr/>
            <p:nvPr/>
          </p:nvSpPr>
          <p:spPr>
            <a:xfrm>
              <a:off x="1230077" y="1843822"/>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Delivery is a Core Part of Modern Software Engineering</a:t>
              </a:r>
              <a:endParaRPr lang="en-BE" sz="1400" b="1" dirty="0">
                <a:solidFill>
                  <a:schemeClr val="tx1"/>
                </a:solidFill>
                <a:latin typeface="Calibri (Body)"/>
              </a:endParaRPr>
            </a:p>
          </p:txBody>
        </p:sp>
      </p:grpSp>
      <p:grpSp>
        <p:nvGrpSpPr>
          <p:cNvPr id="9" name="Group 8">
            <a:extLst>
              <a:ext uri="{FF2B5EF4-FFF2-40B4-BE49-F238E27FC236}">
                <a16:creationId xmlns:a16="http://schemas.microsoft.com/office/drawing/2014/main" id="{19149450-5F76-7B83-88C3-31328DF9BD7A}"/>
              </a:ext>
            </a:extLst>
          </p:cNvPr>
          <p:cNvGrpSpPr/>
          <p:nvPr/>
        </p:nvGrpSpPr>
        <p:grpSpPr>
          <a:xfrm>
            <a:off x="528320" y="2730770"/>
            <a:ext cx="9473519" cy="450849"/>
            <a:chOff x="528320" y="2840989"/>
            <a:chExt cx="9473519" cy="450849"/>
          </a:xfrm>
        </p:grpSpPr>
        <p:sp>
          <p:nvSpPr>
            <p:cNvPr id="11" name="Oval 10">
              <a:extLst>
                <a:ext uri="{FF2B5EF4-FFF2-40B4-BE49-F238E27FC236}">
                  <a16:creationId xmlns:a16="http://schemas.microsoft.com/office/drawing/2014/main" id="{F8142FFA-DC27-4FEC-646D-E9F87FE2CFF7}"/>
                </a:ext>
              </a:extLst>
            </p:cNvPr>
            <p:cNvSpPr>
              <a:spLocks noChangeAspect="1"/>
            </p:cNvSpPr>
            <p:nvPr/>
          </p:nvSpPr>
          <p:spPr>
            <a:xfrm>
              <a:off x="528320" y="2886413"/>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2</a:t>
              </a:r>
            </a:p>
          </p:txBody>
        </p:sp>
        <p:sp>
          <p:nvSpPr>
            <p:cNvPr id="15" name="Rectangle 14">
              <a:extLst>
                <a:ext uri="{FF2B5EF4-FFF2-40B4-BE49-F238E27FC236}">
                  <a16:creationId xmlns:a16="http://schemas.microsoft.com/office/drawing/2014/main" id="{F8735A18-6DBE-DFAE-B7E7-02224FD9EF8B}"/>
                </a:ext>
              </a:extLst>
            </p:cNvPr>
            <p:cNvSpPr/>
            <p:nvPr/>
          </p:nvSpPr>
          <p:spPr>
            <a:xfrm>
              <a:off x="1230077" y="2840989"/>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Environments Enable Safe Progression</a:t>
              </a:r>
              <a:endParaRPr lang="en-BE" sz="1400" b="1" dirty="0">
                <a:solidFill>
                  <a:schemeClr val="tx1"/>
                </a:solidFill>
                <a:latin typeface="Calibri (Body)"/>
              </a:endParaRPr>
            </a:p>
          </p:txBody>
        </p:sp>
      </p:grpSp>
      <p:grpSp>
        <p:nvGrpSpPr>
          <p:cNvPr id="17" name="Group 16">
            <a:extLst>
              <a:ext uri="{FF2B5EF4-FFF2-40B4-BE49-F238E27FC236}">
                <a16:creationId xmlns:a16="http://schemas.microsoft.com/office/drawing/2014/main" id="{68124BA0-EBC6-562A-27A4-32D4415A0535}"/>
              </a:ext>
            </a:extLst>
          </p:cNvPr>
          <p:cNvGrpSpPr/>
          <p:nvPr/>
        </p:nvGrpSpPr>
        <p:grpSpPr>
          <a:xfrm>
            <a:off x="528320" y="3617718"/>
            <a:ext cx="9473519" cy="450849"/>
            <a:chOff x="528320" y="3806506"/>
            <a:chExt cx="9473519" cy="450849"/>
          </a:xfrm>
        </p:grpSpPr>
        <p:sp>
          <p:nvSpPr>
            <p:cNvPr id="19" name="Oval 18">
              <a:extLst>
                <a:ext uri="{FF2B5EF4-FFF2-40B4-BE49-F238E27FC236}">
                  <a16:creationId xmlns:a16="http://schemas.microsoft.com/office/drawing/2014/main" id="{A389F7FD-14CD-8437-DEBE-8776873EF4BA}"/>
                </a:ext>
              </a:extLst>
            </p:cNvPr>
            <p:cNvSpPr>
              <a:spLocks noChangeAspect="1"/>
            </p:cNvSpPr>
            <p:nvPr/>
          </p:nvSpPr>
          <p:spPr>
            <a:xfrm>
              <a:off x="528320" y="3851930"/>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3</a:t>
              </a:r>
            </a:p>
          </p:txBody>
        </p:sp>
        <p:sp>
          <p:nvSpPr>
            <p:cNvPr id="24" name="Rectangle 23">
              <a:extLst>
                <a:ext uri="{FF2B5EF4-FFF2-40B4-BE49-F238E27FC236}">
                  <a16:creationId xmlns:a16="http://schemas.microsoft.com/office/drawing/2014/main" id="{89A05B92-A3F5-D8BF-3DF2-543FE4AF4A20}"/>
                </a:ext>
              </a:extLst>
            </p:cNvPr>
            <p:cNvSpPr/>
            <p:nvPr/>
          </p:nvSpPr>
          <p:spPr>
            <a:xfrm>
              <a:off x="1230077" y="3806506"/>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CI/CD Pipelines Automate the Path to Production</a:t>
              </a:r>
              <a:endParaRPr lang="en-BE" sz="1400" b="1" dirty="0">
                <a:solidFill>
                  <a:schemeClr val="tx1"/>
                </a:solidFill>
                <a:latin typeface="Calibri (Body)"/>
              </a:endParaRPr>
            </a:p>
          </p:txBody>
        </p:sp>
      </p:grpSp>
      <p:grpSp>
        <p:nvGrpSpPr>
          <p:cNvPr id="26" name="Group 25">
            <a:extLst>
              <a:ext uri="{FF2B5EF4-FFF2-40B4-BE49-F238E27FC236}">
                <a16:creationId xmlns:a16="http://schemas.microsoft.com/office/drawing/2014/main" id="{DFCD81A1-CD3B-E3A5-53B4-3A7996FB1B6D}"/>
              </a:ext>
            </a:extLst>
          </p:cNvPr>
          <p:cNvGrpSpPr/>
          <p:nvPr/>
        </p:nvGrpSpPr>
        <p:grpSpPr>
          <a:xfrm>
            <a:off x="528320" y="4504666"/>
            <a:ext cx="9473519" cy="450849"/>
            <a:chOff x="528320" y="4599061"/>
            <a:chExt cx="9473519" cy="450849"/>
          </a:xfrm>
        </p:grpSpPr>
        <p:sp>
          <p:nvSpPr>
            <p:cNvPr id="30" name="Oval 29">
              <a:extLst>
                <a:ext uri="{FF2B5EF4-FFF2-40B4-BE49-F238E27FC236}">
                  <a16:creationId xmlns:a16="http://schemas.microsoft.com/office/drawing/2014/main" id="{60F0E309-DD27-DE21-2F61-E2CF7BB86F07}"/>
                </a:ext>
              </a:extLst>
            </p:cNvPr>
            <p:cNvSpPr>
              <a:spLocks noChangeAspect="1"/>
            </p:cNvSpPr>
            <p:nvPr/>
          </p:nvSpPr>
          <p:spPr>
            <a:xfrm>
              <a:off x="528320" y="4644485"/>
              <a:ext cx="360000" cy="360000"/>
            </a:xfrm>
            <a:prstGeom prst="ellipse">
              <a:avLst/>
            </a:prstGeom>
            <a:solidFill>
              <a:schemeClr val="bg1"/>
            </a:solidFill>
            <a:ln w="25400">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E" sz="2400" b="1" dirty="0">
                  <a:solidFill>
                    <a:schemeClr val="tx1"/>
                  </a:solidFill>
                  <a:latin typeface="Calibri (Body)"/>
                </a:rPr>
                <a:t>4</a:t>
              </a:r>
            </a:p>
          </p:txBody>
        </p:sp>
        <p:sp>
          <p:nvSpPr>
            <p:cNvPr id="31" name="Rectangle 30">
              <a:extLst>
                <a:ext uri="{FF2B5EF4-FFF2-40B4-BE49-F238E27FC236}">
                  <a16:creationId xmlns:a16="http://schemas.microsoft.com/office/drawing/2014/main" id="{79B5A8FB-D127-A065-B009-AE51F756D06C}"/>
                </a:ext>
              </a:extLst>
            </p:cNvPr>
            <p:cNvSpPr/>
            <p:nvPr/>
          </p:nvSpPr>
          <p:spPr>
            <a:xfrm>
              <a:off x="1230077" y="4599061"/>
              <a:ext cx="8771762" cy="450849"/>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b="1" dirty="0">
                  <a:solidFill>
                    <a:schemeClr val="tx1"/>
                  </a:solidFill>
                  <a:latin typeface="Calibri (Body)"/>
                </a:rPr>
                <a:t>Branching Strategies Shape Collaboration and Delivery Speed</a:t>
              </a:r>
              <a:endParaRPr lang="en-BE" sz="1400" b="1" dirty="0">
                <a:solidFill>
                  <a:schemeClr val="tx1"/>
                </a:solidFill>
                <a:latin typeface="Calibri (Body)"/>
              </a:endParaRPr>
            </a:p>
          </p:txBody>
        </p:sp>
      </p:grpSp>
    </p:spTree>
    <p:extLst>
      <p:ext uri="{BB962C8B-B14F-4D97-AF65-F5344CB8AC3E}">
        <p14:creationId xmlns:p14="http://schemas.microsoft.com/office/powerpoint/2010/main" val="41986350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7472d64-0d3a-484e-8dae-9877b44b21bc">
      <Terms xmlns="http://schemas.microsoft.com/office/infopath/2007/PartnerControls"/>
    </lcf76f155ced4ddcb4097134ff3c332f>
    <TaxCatchAll xmlns="3f185228-d0ce-4b0b-b59f-3a34cdc9a5e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ED1306D512654B98E69FC24695A753" ma:contentTypeVersion="15" ma:contentTypeDescription="Create a new document." ma:contentTypeScope="" ma:versionID="c977c83c3b2ecf72daa268016935c8e2">
  <xsd:schema xmlns:xsd="http://www.w3.org/2001/XMLSchema" xmlns:xs="http://www.w3.org/2001/XMLSchema" xmlns:p="http://schemas.microsoft.com/office/2006/metadata/properties" xmlns:ns2="c7472d64-0d3a-484e-8dae-9877b44b21bc" xmlns:ns3="3f185228-d0ce-4b0b-b59f-3a34cdc9a5e8" targetNamespace="http://schemas.microsoft.com/office/2006/metadata/properties" ma:root="true" ma:fieldsID="8e15fefe04fe0b698e0195e0e1534188" ns2:_="" ns3:_="">
    <xsd:import namespace="c7472d64-0d3a-484e-8dae-9877b44b21bc"/>
    <xsd:import namespace="3f185228-d0ce-4b0b-b59f-3a34cdc9a5e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472d64-0d3a-484e-8dae-9877b44b21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99b3629-034e-40d8-81e2-b8c7a4d8684e"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185228-d0ce-4b0b-b59f-3a34cdc9a5e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68feede-4adb-4166-85fa-b177792af49a}" ma:internalName="TaxCatchAll" ma:showField="CatchAllData" ma:web="3f185228-d0ce-4b0b-b59f-3a34cdc9a5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6A60DD-0819-44A7-BCCB-22A76EDEC899}">
  <ds:schemaRefs>
    <ds:schemaRef ds:uri="http://schemas.microsoft.com/sharepoint/v3/contenttype/forms"/>
  </ds:schemaRefs>
</ds:datastoreItem>
</file>

<file path=customXml/itemProps2.xml><?xml version="1.0" encoding="utf-8"?>
<ds:datastoreItem xmlns:ds="http://schemas.openxmlformats.org/officeDocument/2006/customXml" ds:itemID="{9E48E1A7-97CF-485A-ABD4-0EF9F7BDF039}">
  <ds:schemaRefs>
    <ds:schemaRef ds:uri="c7472d64-0d3a-484e-8dae-9877b44b21bc"/>
    <ds:schemaRef ds:uri="http://purl.org/dc/dcmitype/"/>
    <ds:schemaRef ds:uri="http://schemas.microsoft.com/office/2006/metadata/properties"/>
    <ds:schemaRef ds:uri="http://purl.org/dc/elements/1.1/"/>
    <ds:schemaRef ds:uri="3f185228-d0ce-4b0b-b59f-3a34cdc9a5e8"/>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0A75FE8-6867-434E-BE94-0B0EE7894B5D}"/>
</file>

<file path=docProps/app.xml><?xml version="1.0" encoding="utf-8"?>
<Properties xmlns="http://schemas.openxmlformats.org/officeDocument/2006/extended-properties" xmlns:vt="http://schemas.openxmlformats.org/officeDocument/2006/docPropsVTypes">
  <TotalTime>0</TotalTime>
  <Words>2237</Words>
  <Application>Microsoft Office PowerPoint</Application>
  <PresentationFormat>Widescreen</PresentationFormat>
  <Paragraphs>250</Paragraphs>
  <Slides>13</Slides>
  <Notes>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0" baseType="lpstr">
      <vt:lpstr>Aptos</vt:lpstr>
      <vt:lpstr>Arial</vt:lpstr>
      <vt:lpstr>Calibri</vt:lpstr>
      <vt:lpstr>Calibri (Body)</vt:lpstr>
      <vt:lpstr>Calibri (Headings)</vt:lpstr>
      <vt:lpstr>Thème Office</vt:lpstr>
      <vt:lpstr>think-cell Slide</vt:lpstr>
      <vt:lpstr>BINV3140-D Microservices</vt:lpstr>
      <vt:lpstr>Table of Content</vt:lpstr>
      <vt:lpstr>1. Lesson’s Objectives</vt:lpstr>
      <vt:lpstr>2. Why Delivery Matters</vt:lpstr>
      <vt:lpstr>3. Environments Definition</vt:lpstr>
      <vt:lpstr>4. Continuous Integration</vt:lpstr>
      <vt:lpstr>5. Continuous Deployment</vt:lpstr>
      <vt:lpstr>6. Branching Strategies</vt:lpstr>
      <vt:lpstr>6. Branching Strategies | Git Flow Workflow</vt:lpstr>
      <vt:lpstr>6. Branching Strategies | Feature Branching</vt:lpstr>
      <vt:lpstr>6. Branching Strategies | Trunk-Based Development</vt:lpstr>
      <vt:lpstr>6. Branching Strategies | Comparison</vt:lpstr>
      <vt:lpstr>9.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BINV3140-D Microservices</dc:title>
  <dc:creator>Sébastien STREBELLE</dc:creator>
  <cp:lastModifiedBy>Tarik Miri</cp:lastModifiedBy>
  <cp:revision>41</cp:revision>
  <dcterms:created xsi:type="dcterms:W3CDTF">2024-09-17T08:11:48Z</dcterms:created>
  <dcterms:modified xsi:type="dcterms:W3CDTF">2025-11-05T15:06:37Z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0x010100D3ED1306D512654B98E69FC24695A753</vt:lpwstr>
  </property>
  <property fmtid="{D5CDD505-2E9C-101B-9397-08002B2CF9AE}" pid="4" name="MSIP_Label_47c19387-3134-4ca8-87e2-20d2b663daf3_Enabled">
    <vt:lpwstr>true</vt:lpwstr>
  </property>
  <property fmtid="{D5CDD505-2E9C-101B-9397-08002B2CF9AE}" pid="5" name="MSIP_Label_47c19387-3134-4ca8-87e2-20d2b663daf3_SetDate">
    <vt:lpwstr>2025-09-30T12:00:08Z</vt:lpwstr>
  </property>
  <property fmtid="{D5CDD505-2E9C-101B-9397-08002B2CF9AE}" pid="6" name="MSIP_Label_47c19387-3134-4ca8-87e2-20d2b663daf3_Method">
    <vt:lpwstr>Standard</vt:lpwstr>
  </property>
  <property fmtid="{D5CDD505-2E9C-101B-9397-08002B2CF9AE}" pid="7" name="MSIP_Label_47c19387-3134-4ca8-87e2-20d2b663daf3_Name">
    <vt:lpwstr>Restricted distribution</vt:lpwstr>
  </property>
  <property fmtid="{D5CDD505-2E9C-101B-9397-08002B2CF9AE}" pid="8" name="MSIP_Label_47c19387-3134-4ca8-87e2-20d2b663daf3_SiteId">
    <vt:lpwstr>7919ea65-4c52-4980-bfcd-ce7ffd32f1ea</vt:lpwstr>
  </property>
  <property fmtid="{D5CDD505-2E9C-101B-9397-08002B2CF9AE}" pid="9" name="MSIP_Label_47c19387-3134-4ca8-87e2-20d2b663daf3_ActionId">
    <vt:lpwstr>b616b6f3-07fa-416e-ba68-3c77a4b97499</vt:lpwstr>
  </property>
  <property fmtid="{D5CDD505-2E9C-101B-9397-08002B2CF9AE}" pid="10" name="MSIP_Label_47c19387-3134-4ca8-87e2-20d2b663daf3_ContentBits">
    <vt:lpwstr>0</vt:lpwstr>
  </property>
</Properties>
</file>