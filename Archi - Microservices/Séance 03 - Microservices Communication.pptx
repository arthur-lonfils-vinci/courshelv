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98" r:id="rId7"/>
    <p:sldId id="258" r:id="rId8"/>
    <p:sldId id="299" r:id="rId9"/>
    <p:sldId id="300" r:id="rId10"/>
    <p:sldId id="301" r:id="rId11"/>
    <p:sldId id="314" r:id="rId12"/>
    <p:sldId id="315" r:id="rId13"/>
    <p:sldId id="309" r:id="rId14"/>
    <p:sldId id="316" r:id="rId15"/>
    <p:sldId id="313" r:id="rId16"/>
    <p:sldId id="317" r:id="rId17"/>
    <p:sldId id="318" r:id="rId18"/>
    <p:sldId id="319"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p:restoredTop sz="94737"/>
  </p:normalViewPr>
  <p:slideViewPr>
    <p:cSldViewPr snapToGrid="0">
      <p:cViewPr>
        <p:scale>
          <a:sx n="75" d="100"/>
          <a:sy n="75" d="100"/>
        </p:scale>
        <p:origin x="466" y="3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BDD194-EA6A-86AB-5C0A-AA073E99FE2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B48FA9E-B542-A797-4065-5F8F1CE94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C836F02-43B6-96C1-4583-D5D377176A3B}"/>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5" name="Espace réservé du pied de page 4">
            <a:extLst>
              <a:ext uri="{FF2B5EF4-FFF2-40B4-BE49-F238E27FC236}">
                <a16:creationId xmlns:a16="http://schemas.microsoft.com/office/drawing/2014/main" id="{88617AD9-451E-E7E9-FF3F-36A50C1BC7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837580-1A55-B823-9F08-98B58C0ADAA6}"/>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216607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20FDA99-029C-BBF2-6075-04A8DCECBFAE}"/>
              </a:ext>
            </a:extLst>
          </p:cNvPr>
          <p:cNvGraphicFramePr>
            <a:graphicFrameLocks noChangeAspect="1"/>
          </p:cNvGraphicFramePr>
          <p:nvPr userDrawn="1">
            <p:custDataLst>
              <p:tags r:id="rId1"/>
            </p:custDataLst>
            <p:extLst>
              <p:ext uri="{D42A27DB-BD31-4B8C-83A1-F6EECF244321}">
                <p14:modId xmlns:p14="http://schemas.microsoft.com/office/powerpoint/2010/main" val="40155119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5B6B9DA-2895-8DAB-7575-FD201E10AE49}"/>
              </a:ext>
            </a:extLst>
          </p:cNvPr>
          <p:cNvSpPr>
            <a:spLocks noGrp="1"/>
          </p:cNvSpPr>
          <p:nvPr>
            <p:ph type="title" hasCustomPrompt="1"/>
          </p:nvPr>
        </p:nvSpPr>
        <p:spPr>
          <a:xfrm>
            <a:off x="528320" y="365125"/>
            <a:ext cx="11155680" cy="530421"/>
          </a:xfrm>
        </p:spPr>
        <p:txBody>
          <a:bodyPr vert="horz"/>
          <a:lstStyle/>
          <a:p>
            <a:r>
              <a:rPr lang="fr-FR"/>
              <a:t>Modifiez le style du titre</a:t>
            </a:r>
          </a:p>
        </p:txBody>
      </p:sp>
      <p:sp>
        <p:nvSpPr>
          <p:cNvPr id="3" name="Espace réservé du contenu 2">
            <a:extLst>
              <a:ext uri="{FF2B5EF4-FFF2-40B4-BE49-F238E27FC236}">
                <a16:creationId xmlns:a16="http://schemas.microsoft.com/office/drawing/2014/main" id="{8089EF85-DD7F-CE82-9DA8-CB77ADDC4DF7}"/>
              </a:ext>
            </a:extLst>
          </p:cNvPr>
          <p:cNvSpPr>
            <a:spLocks noGrp="1"/>
          </p:cNvSpPr>
          <p:nvPr>
            <p:ph idx="1"/>
          </p:nvPr>
        </p:nvSpPr>
        <p:spPr>
          <a:xfrm>
            <a:off x="528320" y="970961"/>
            <a:ext cx="11155680" cy="51210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D01BEC-F772-12BB-42F8-3EBF53E3099E}"/>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5" name="Espace réservé du pied de page 4">
            <a:extLst>
              <a:ext uri="{FF2B5EF4-FFF2-40B4-BE49-F238E27FC236}">
                <a16:creationId xmlns:a16="http://schemas.microsoft.com/office/drawing/2014/main" id="{BDC5E836-084C-631F-777E-13A83CE10DA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17E9DB9-06B8-2E6A-A707-0022F9488BE8}"/>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408947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2B4B67-9D80-58C2-833C-02BF1C66B09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EAC2C5B-CD7C-359F-5E20-90EB271FC9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E2062AD-CE40-ECBE-2461-0994109D4D96}"/>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5" name="Espace réservé du pied de page 4">
            <a:extLst>
              <a:ext uri="{FF2B5EF4-FFF2-40B4-BE49-F238E27FC236}">
                <a16:creationId xmlns:a16="http://schemas.microsoft.com/office/drawing/2014/main" id="{05D91C24-750B-772B-39EB-AEE3BC9CFA2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593CF6-DEA0-54A3-3B0D-16DFD868FABB}"/>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1347708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7D5219B-43B9-8D47-B015-05C051ECBA5C}"/>
              </a:ext>
            </a:extLst>
          </p:cNvPr>
          <p:cNvGraphicFramePr>
            <a:graphicFrameLocks noChangeAspect="1"/>
          </p:cNvGraphicFramePr>
          <p:nvPr userDrawn="1">
            <p:custDataLst>
              <p:tags r:id="rId1"/>
            </p:custDataLst>
            <p:extLst>
              <p:ext uri="{D42A27DB-BD31-4B8C-83A1-F6EECF244321}">
                <p14:modId xmlns:p14="http://schemas.microsoft.com/office/powerpoint/2010/main" val="3925328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AE166CE9-D8AC-23AC-AB85-26F071E934E9}"/>
              </a:ext>
            </a:extLst>
          </p:cNvPr>
          <p:cNvSpPr>
            <a:spLocks noGrp="1"/>
          </p:cNvSpPr>
          <p:nvPr>
            <p:ph type="title" hasCustomPrompt="1"/>
          </p:nvPr>
        </p:nvSpPr>
        <p:spPr>
          <a:xfrm>
            <a:off x="538480" y="365125"/>
            <a:ext cx="11145520" cy="530421"/>
          </a:xfrm>
        </p:spPr>
        <p:txBody>
          <a:bodyPr vert="horz"/>
          <a:lstStyle/>
          <a:p>
            <a:r>
              <a:rPr lang="fr-FR"/>
              <a:t>Modifiez le style du titre</a:t>
            </a:r>
          </a:p>
        </p:txBody>
      </p:sp>
      <p:sp>
        <p:nvSpPr>
          <p:cNvPr id="3" name="Espace réservé du contenu 2">
            <a:extLst>
              <a:ext uri="{FF2B5EF4-FFF2-40B4-BE49-F238E27FC236}">
                <a16:creationId xmlns:a16="http://schemas.microsoft.com/office/drawing/2014/main" id="{151A527B-45D4-FDBA-8A43-2ECF0043B0B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9291D06-5D41-A286-35F6-7E5962AA6B7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C3FDB4F-5A52-B6D6-AFCB-23B0CCA48F2C}"/>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6" name="Espace réservé du pied de page 5">
            <a:extLst>
              <a:ext uri="{FF2B5EF4-FFF2-40B4-BE49-F238E27FC236}">
                <a16:creationId xmlns:a16="http://schemas.microsoft.com/office/drawing/2014/main" id="{0A9C4B8D-86B0-6D8E-5799-1DF9046FCFD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2345797-C532-3683-0F22-9C0C21F539C8}"/>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3474279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0B10FA-7140-2A3F-F17D-1D8F55CB596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BFBEC60-B3E8-70A1-1920-E8E65B5308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6CF08F6-1E9E-7991-A7E4-BBBA4D19CC7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098D948-741B-2551-4395-03AA7CD96B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30237D2-8F80-CFAF-989C-B873AC51114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AE2C985-C329-B01A-EA6E-7ECDC034809F}"/>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8" name="Espace réservé du pied de page 7">
            <a:extLst>
              <a:ext uri="{FF2B5EF4-FFF2-40B4-BE49-F238E27FC236}">
                <a16:creationId xmlns:a16="http://schemas.microsoft.com/office/drawing/2014/main" id="{ACB8720D-48B9-7113-5012-7F64AF82930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CB2D759-968F-C3C6-332A-421C1DBC0E8E}"/>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3170531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4EC1F2A-358E-5C93-1B02-2A6EFAEC4817}"/>
              </a:ext>
            </a:extLst>
          </p:cNvPr>
          <p:cNvGraphicFramePr>
            <a:graphicFrameLocks noChangeAspect="1"/>
          </p:cNvGraphicFramePr>
          <p:nvPr userDrawn="1">
            <p:custDataLst>
              <p:tags r:id="rId1"/>
            </p:custDataLst>
            <p:extLst>
              <p:ext uri="{D42A27DB-BD31-4B8C-83A1-F6EECF244321}">
                <p14:modId xmlns:p14="http://schemas.microsoft.com/office/powerpoint/2010/main" val="3426337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960909FF-76F0-288B-EC6A-08369077ECD8}"/>
              </a:ext>
            </a:extLst>
          </p:cNvPr>
          <p:cNvSpPr>
            <a:spLocks noGrp="1"/>
          </p:cNvSpPr>
          <p:nvPr>
            <p:ph type="title" hasCustomPrompt="1"/>
          </p:nvPr>
        </p:nvSpPr>
        <p:spPr>
          <a:xfrm>
            <a:off x="548640" y="365125"/>
            <a:ext cx="11165840" cy="530421"/>
          </a:xfrm>
        </p:spPr>
        <p:txBody>
          <a:bodyPr vert="horz"/>
          <a:lstStyle/>
          <a:p>
            <a:r>
              <a:rPr lang="fr-FR"/>
              <a:t>Modifiez le style du titre</a:t>
            </a:r>
          </a:p>
        </p:txBody>
      </p:sp>
      <p:sp>
        <p:nvSpPr>
          <p:cNvPr id="3" name="Espace réservé de la date 2">
            <a:extLst>
              <a:ext uri="{FF2B5EF4-FFF2-40B4-BE49-F238E27FC236}">
                <a16:creationId xmlns:a16="http://schemas.microsoft.com/office/drawing/2014/main" id="{F084260B-9290-664A-39BE-1FF8DAB65CFA}"/>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4" name="Espace réservé du pied de page 3">
            <a:extLst>
              <a:ext uri="{FF2B5EF4-FFF2-40B4-BE49-F238E27FC236}">
                <a16:creationId xmlns:a16="http://schemas.microsoft.com/office/drawing/2014/main" id="{53B8D1B0-0211-0B30-25B2-2ECAEB7B2D3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CE3CF8A-DED0-61B4-9477-6691CB2276E0}"/>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4259128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933505-46DC-10BC-72D3-1D3FB4F876A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01B0B73-F197-9E0C-F1BA-E28327D18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B5E27E2-EF15-C4DC-87AA-2C59806BB8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74645E9-9E50-C375-B1CA-FDADC0EB42A4}"/>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6" name="Espace réservé du pied de page 5">
            <a:extLst>
              <a:ext uri="{FF2B5EF4-FFF2-40B4-BE49-F238E27FC236}">
                <a16:creationId xmlns:a16="http://schemas.microsoft.com/office/drawing/2014/main" id="{C59AB4B8-BE69-12A4-352D-EB182E5932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09B8AD6-D1DB-F85F-A953-B1E35D7F0A56}"/>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118046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22E2AB-2449-7EB0-5DB0-51AA51078EC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CDD0DB1-5B79-C179-CD88-24666CF7FB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7885001-8D2A-1E55-6125-046C217D70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02DC0E5-E406-FB5E-7305-06FF33CA3295}"/>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6" name="Espace réservé du pied de page 5">
            <a:extLst>
              <a:ext uri="{FF2B5EF4-FFF2-40B4-BE49-F238E27FC236}">
                <a16:creationId xmlns:a16="http://schemas.microsoft.com/office/drawing/2014/main" id="{252FFBD0-B81E-CE89-E074-CA3C1985249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679F1D4-45C0-72EF-AA62-F0166092F18E}"/>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168096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5CC69A-4A37-AD34-F416-9C1F0CDA4AA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1A1A407-50D8-29B0-6B7C-3F7A084F6C1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A0DBD08-71D1-D86D-0D7C-C105368C23E5}"/>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5" name="Espace réservé du pied de page 4">
            <a:extLst>
              <a:ext uri="{FF2B5EF4-FFF2-40B4-BE49-F238E27FC236}">
                <a16:creationId xmlns:a16="http://schemas.microsoft.com/office/drawing/2014/main" id="{3373B908-5B53-7827-C0C4-599125A66A4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7FF548-2FA6-E231-8CE0-D4F3B1E0DF4F}"/>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968505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25DECE3-B4CC-42CC-F62E-0789E3301D9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DCD9F15-8723-AC1D-CBAE-42E77D4205E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97D50E-F3A1-FD48-FA20-24BDD23FFE57}"/>
              </a:ext>
            </a:extLst>
          </p:cNvPr>
          <p:cNvSpPr>
            <a:spLocks noGrp="1"/>
          </p:cNvSpPr>
          <p:nvPr>
            <p:ph type="dt" sz="half" idx="10"/>
          </p:nvPr>
        </p:nvSpPr>
        <p:spPr/>
        <p:txBody>
          <a:bodyPr/>
          <a:lstStyle/>
          <a:p>
            <a:fld id="{48374B4E-4789-FB44-B071-FF5485E6ED2C}" type="datetimeFigureOut">
              <a:rPr lang="fr-FR" smtClean="0"/>
              <a:t>01/10/2025</a:t>
            </a:fld>
            <a:endParaRPr lang="fr-FR"/>
          </a:p>
        </p:txBody>
      </p:sp>
      <p:sp>
        <p:nvSpPr>
          <p:cNvPr id="5" name="Espace réservé du pied de page 4">
            <a:extLst>
              <a:ext uri="{FF2B5EF4-FFF2-40B4-BE49-F238E27FC236}">
                <a16:creationId xmlns:a16="http://schemas.microsoft.com/office/drawing/2014/main" id="{5A3B96C1-F640-644F-B8D3-63C4BA94E02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2BE97C-C5D6-E732-0A24-D614B06277AA}"/>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120327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6C1B7CC-F13A-4BAE-49E7-90A4F9732A3D}"/>
              </a:ext>
            </a:extLst>
          </p:cNvPr>
          <p:cNvGraphicFramePr>
            <a:graphicFrameLocks noChangeAspect="1"/>
          </p:cNvGraphicFramePr>
          <p:nvPr userDrawn="1">
            <p:custDataLst>
              <p:tags r:id="rId12"/>
            </p:custDataLst>
            <p:extLst>
              <p:ext uri="{D42A27DB-BD31-4B8C-83A1-F6EECF244321}">
                <p14:modId xmlns:p14="http://schemas.microsoft.com/office/powerpoint/2010/main" val="474951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24" imgH="425" progId="TCLayout.ActiveDocument.1">
                  <p:embed/>
                </p:oleObj>
              </mc:Choice>
              <mc:Fallback>
                <p:oleObj name="think-cell Slide" r:id="rId13" imgW="424" imgH="425" progId="TCLayout.ActiveDocument.1">
                  <p:embed/>
                  <p:pic>
                    <p:nvPicPr>
                      <p:cNvPr id="0" name=""/>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45A563CA-A6A1-A408-DEDB-BD16137FA5E3}"/>
              </a:ext>
            </a:extLst>
          </p:cNvPr>
          <p:cNvSpPr>
            <a:spLocks noGrp="1"/>
          </p:cNvSpPr>
          <p:nvPr>
            <p:ph type="title"/>
          </p:nvPr>
        </p:nvSpPr>
        <p:spPr>
          <a:xfrm>
            <a:off x="838200" y="365125"/>
            <a:ext cx="10515600" cy="530421"/>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9E929816-B7ED-5106-8A3D-B868532C61FB}"/>
              </a:ext>
            </a:extLst>
          </p:cNvPr>
          <p:cNvSpPr>
            <a:spLocks noGrp="1"/>
          </p:cNvSpPr>
          <p:nvPr>
            <p:ph type="body" idx="1"/>
          </p:nvPr>
        </p:nvSpPr>
        <p:spPr>
          <a:xfrm>
            <a:off x="838200" y="970961"/>
            <a:ext cx="10515600" cy="5121041"/>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326D8E43-72A4-8637-96D7-209301290A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374B4E-4789-FB44-B071-FF5485E6ED2C}" type="datetimeFigureOut">
              <a:rPr lang="fr-FR" smtClean="0"/>
              <a:t>01/10/2025</a:t>
            </a:fld>
            <a:endParaRPr lang="fr-FR"/>
          </a:p>
        </p:txBody>
      </p:sp>
      <p:sp>
        <p:nvSpPr>
          <p:cNvPr id="5" name="Espace réservé du pied de page 4">
            <a:extLst>
              <a:ext uri="{FF2B5EF4-FFF2-40B4-BE49-F238E27FC236}">
                <a16:creationId xmlns:a16="http://schemas.microsoft.com/office/drawing/2014/main" id="{AE0261B1-1036-E54A-1F0D-1269DA35AA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9C35F02-B551-9B60-B538-24D184CCF5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6737FC-290C-B14A-9145-D3F21EAA145A}" type="slidenum">
              <a:rPr lang="fr-FR" smtClean="0"/>
              <a:t>‹#›</a:t>
            </a:fld>
            <a:endParaRPr lang="fr-FR"/>
          </a:p>
        </p:txBody>
      </p:sp>
    </p:spTree>
    <p:extLst>
      <p:ext uri="{BB962C8B-B14F-4D97-AF65-F5344CB8AC3E}">
        <p14:creationId xmlns:p14="http://schemas.microsoft.com/office/powerpoint/2010/main" val="2100493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2400" kern="1200">
          <a:solidFill>
            <a:schemeClr val="tx1"/>
          </a:solidFill>
          <a:latin typeface="Calibri (Headings)"/>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3.jpe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8.bin"/><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10.sv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oleObject" Target="../embeddings/oleObject10.bin"/><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5.png"/><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6.png"/><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oleObject" Target="../embeddings/oleObject15.bin"/><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oleObject" Target="../embeddings/oleObject16.bin"/><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1.emf"/><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2.png"/><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oleObject" Target="../embeddings/oleObject18.bin"/><Relationship Id="rId7" Type="http://schemas.openxmlformats.org/officeDocument/2006/relationships/hyperlink" Target="https://github.com/Aktorius/microservices-lesson2-spring" TargetMode="Externa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30.svg"/><Relationship Id="rId11" Type="http://schemas.openxmlformats.org/officeDocument/2006/relationships/image" Target="../media/image10.svg"/><Relationship Id="rId5" Type="http://schemas.openxmlformats.org/officeDocument/2006/relationships/image" Target="../media/image29.png"/><Relationship Id="rId10" Type="http://schemas.openxmlformats.org/officeDocument/2006/relationships/image" Target="../media/image9.png"/><Relationship Id="rId4" Type="http://schemas.openxmlformats.org/officeDocument/2006/relationships/image" Target="../media/image1.emf"/><Relationship Id="rId9" Type="http://schemas.openxmlformats.org/officeDocument/2006/relationships/image" Target="../media/image32.sv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hyperlink" Target="https://www.rabbitmq.com/docs/download" TargetMode="External"/><Relationship Id="rId5" Type="http://schemas.openxmlformats.org/officeDocument/2006/relationships/hyperlink" Target="https://www.erlang.org/downloads" TargetMode="Externa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C8805F0-744E-EF16-3CBE-96F01DD17BA0}"/>
              </a:ext>
            </a:extLst>
          </p:cNvPr>
          <p:cNvGraphicFramePr>
            <a:graphicFrameLocks noChangeAspect="1"/>
          </p:cNvGraphicFramePr>
          <p:nvPr>
            <p:custDataLst>
              <p:tags r:id="rId1"/>
            </p:custDataLst>
            <p:extLst>
              <p:ext uri="{D42A27DB-BD31-4B8C-83A1-F6EECF244321}">
                <p14:modId xmlns:p14="http://schemas.microsoft.com/office/powerpoint/2010/main" val="5035659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60EE6AC7-315F-49D3-AD4C-A25F1AA1146F}"/>
              </a:ext>
            </a:extLst>
          </p:cNvPr>
          <p:cNvSpPr>
            <a:spLocks noGrp="1"/>
          </p:cNvSpPr>
          <p:nvPr>
            <p:ph type="ctrTitle"/>
          </p:nvPr>
        </p:nvSpPr>
        <p:spPr>
          <a:xfrm>
            <a:off x="773408" y="992094"/>
            <a:ext cx="3616913" cy="2795160"/>
          </a:xfrm>
        </p:spPr>
        <p:txBody>
          <a:bodyPr vert="horz">
            <a:normAutofit/>
          </a:bodyPr>
          <a:lstStyle/>
          <a:p>
            <a:pPr algn="l"/>
            <a:r>
              <a:rPr lang="en-BE" sz="4400" dirty="0"/>
              <a:t>BINV3140-D</a:t>
            </a:r>
            <a:br>
              <a:rPr lang="en-BE" sz="4400" dirty="0"/>
            </a:br>
            <a:r>
              <a:rPr lang="en-BE" sz="4400" dirty="0"/>
              <a:t>Microservices</a:t>
            </a:r>
          </a:p>
        </p:txBody>
      </p:sp>
      <p:pic>
        <p:nvPicPr>
          <p:cNvPr id="10" name="Graphique 9">
            <a:extLst>
              <a:ext uri="{FF2B5EF4-FFF2-40B4-BE49-F238E27FC236}">
                <a16:creationId xmlns:a16="http://schemas.microsoft.com/office/drawing/2014/main" id="{F57CF551-3363-4D14-AB20-4E3BC78961E0}"/>
              </a:ext>
            </a:extLst>
          </p:cNvPr>
          <p:cNvPicPr>
            <a:picLocks noChangeAspect="1"/>
          </p:cNvPicPr>
          <p:nvPr/>
        </p:nvPicPr>
        <p:blipFill>
          <a:blip r:embed="rId5"/>
          <a:srcRect/>
          <a:stretch/>
        </p:blipFill>
        <p:spPr>
          <a:xfrm>
            <a:off x="5915935" y="1257301"/>
            <a:ext cx="5668280" cy="4313422"/>
          </a:xfrm>
          <a:prstGeom prst="rect">
            <a:avLst/>
          </a:prstGeom>
        </p:spPr>
      </p:pic>
      <p:sp>
        <p:nvSpPr>
          <p:cNvPr id="29" name="ZoneTexte 28">
            <a:extLst>
              <a:ext uri="{FF2B5EF4-FFF2-40B4-BE49-F238E27FC236}">
                <a16:creationId xmlns:a16="http://schemas.microsoft.com/office/drawing/2014/main" id="{5AF42A25-0493-4E12-B65F-57D107A706D5}"/>
              </a:ext>
            </a:extLst>
          </p:cNvPr>
          <p:cNvSpPr txBox="1"/>
          <p:nvPr/>
        </p:nvSpPr>
        <p:spPr>
          <a:xfrm>
            <a:off x="773408" y="3787253"/>
            <a:ext cx="3836692" cy="461665"/>
          </a:xfrm>
          <a:prstGeom prst="rect">
            <a:avLst/>
          </a:prstGeom>
          <a:noFill/>
        </p:spPr>
        <p:txBody>
          <a:bodyPr wrap="square" rtlCol="0">
            <a:spAutoFit/>
          </a:bodyPr>
          <a:lstStyle/>
          <a:p>
            <a:r>
              <a:rPr lang="en-BE" sz="2400" dirty="0"/>
              <a:t>Lesson 3</a:t>
            </a:r>
          </a:p>
        </p:txBody>
      </p:sp>
      <p:sp>
        <p:nvSpPr>
          <p:cNvPr id="30" name="ZoneTexte 29">
            <a:extLst>
              <a:ext uri="{FF2B5EF4-FFF2-40B4-BE49-F238E27FC236}">
                <a16:creationId xmlns:a16="http://schemas.microsoft.com/office/drawing/2014/main" id="{7B9BDEE1-A208-4642-B50F-3B97DAAAF184}"/>
              </a:ext>
            </a:extLst>
          </p:cNvPr>
          <p:cNvSpPr txBox="1"/>
          <p:nvPr/>
        </p:nvSpPr>
        <p:spPr>
          <a:xfrm>
            <a:off x="773408" y="5325957"/>
            <a:ext cx="2115936" cy="1200329"/>
          </a:xfrm>
          <a:prstGeom prst="rect">
            <a:avLst/>
          </a:prstGeom>
          <a:noFill/>
        </p:spPr>
        <p:txBody>
          <a:bodyPr wrap="square" rtlCol="0">
            <a:spAutoFit/>
          </a:bodyPr>
          <a:lstStyle/>
          <a:p>
            <a:r>
              <a:rPr lang="en-BE" dirty="0"/>
              <a:t>2025-2026</a:t>
            </a:r>
          </a:p>
          <a:p>
            <a:r>
              <a:rPr lang="en-BE" dirty="0"/>
              <a:t>Choquet Olivier</a:t>
            </a:r>
          </a:p>
          <a:p>
            <a:r>
              <a:rPr lang="en-BE" dirty="0"/>
              <a:t>Miri Tarik</a:t>
            </a:r>
          </a:p>
          <a:p>
            <a:r>
              <a:rPr lang="en-BE" dirty="0" err="1"/>
              <a:t>Strebelle</a:t>
            </a:r>
            <a:r>
              <a:rPr lang="en-BE" dirty="0"/>
              <a:t> Sébastien</a:t>
            </a:r>
          </a:p>
        </p:txBody>
      </p:sp>
    </p:spTree>
    <p:extLst>
      <p:ext uri="{BB962C8B-B14F-4D97-AF65-F5344CB8AC3E}">
        <p14:creationId xmlns:p14="http://schemas.microsoft.com/office/powerpoint/2010/main" val="2572945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979E048-DE5C-C3CF-0D1B-70DCEF2C7EA3}"/>
              </a:ext>
            </a:extLst>
          </p:cNvPr>
          <p:cNvGraphicFramePr>
            <a:graphicFrameLocks noChangeAspect="1"/>
          </p:cNvGraphicFramePr>
          <p:nvPr>
            <p:custDataLst>
              <p:tags r:id="rId1"/>
            </p:custDataLst>
            <p:extLst>
              <p:ext uri="{D42A27DB-BD31-4B8C-83A1-F6EECF244321}">
                <p14:modId xmlns:p14="http://schemas.microsoft.com/office/powerpoint/2010/main" val="11556384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4559766C-D87C-602F-CD8B-2374DAE60D89}"/>
              </a:ext>
            </a:extLst>
          </p:cNvPr>
          <p:cNvSpPr>
            <a:spLocks noGrp="1"/>
          </p:cNvSpPr>
          <p:nvPr>
            <p:ph type="title"/>
          </p:nvPr>
        </p:nvSpPr>
        <p:spPr>
          <a:xfrm>
            <a:off x="528320" y="365125"/>
            <a:ext cx="4236720" cy="530421"/>
          </a:xfrm>
        </p:spPr>
        <p:txBody>
          <a:bodyPr vert="horz"/>
          <a:lstStyle/>
          <a:p>
            <a:r>
              <a:rPr lang="en-BE" dirty="0"/>
              <a:t>Table of Content</a:t>
            </a:r>
          </a:p>
        </p:txBody>
      </p:sp>
      <p:sp>
        <p:nvSpPr>
          <p:cNvPr id="3" name="Espace réservé du contenu 2">
            <a:extLst>
              <a:ext uri="{FF2B5EF4-FFF2-40B4-BE49-F238E27FC236}">
                <a16:creationId xmlns:a16="http://schemas.microsoft.com/office/drawing/2014/main" id="{BAA3E2B0-20FA-0FFF-2687-EE7CD3A1806B}"/>
              </a:ext>
            </a:extLst>
          </p:cNvPr>
          <p:cNvSpPr>
            <a:spLocks noGrp="1"/>
          </p:cNvSpPr>
          <p:nvPr>
            <p:ph idx="1"/>
          </p:nvPr>
        </p:nvSpPr>
        <p:spPr>
          <a:xfrm>
            <a:off x="528320" y="1755741"/>
            <a:ext cx="4236720" cy="3346515"/>
          </a:xfrm>
        </p:spPr>
        <p:txBody>
          <a:bodyPr>
            <a:normAutofit/>
          </a:bodyPr>
          <a:lstStyle/>
          <a:p>
            <a:pPr marL="514350" indent="-514350" algn="just">
              <a:buFont typeface="+mj-lt"/>
              <a:buAutoNum type="arabicPeriod"/>
            </a:pPr>
            <a:r>
              <a:rPr lang="en-BE" dirty="0"/>
              <a:t>Lesson’s Objective</a:t>
            </a:r>
          </a:p>
          <a:p>
            <a:pPr marL="514350" indent="-514350" algn="just">
              <a:buFont typeface="+mj-lt"/>
              <a:buAutoNum type="arabicPeriod"/>
            </a:pPr>
            <a:r>
              <a:rPr lang="en-BE" dirty="0"/>
              <a:t>Summary Lesson 1 &amp; 2</a:t>
            </a:r>
          </a:p>
          <a:p>
            <a:pPr marL="514350" indent="-514350" algn="just">
              <a:buFont typeface="+mj-lt"/>
              <a:buAutoNum type="arabicPeriod"/>
            </a:pPr>
            <a:r>
              <a:rPr lang="en-BE" dirty="0"/>
              <a:t>The Communication Challenge</a:t>
            </a:r>
          </a:p>
          <a:p>
            <a:pPr marL="514350" indent="-514350" algn="just">
              <a:buFont typeface="+mj-lt"/>
              <a:buAutoNum type="arabicPeriod"/>
            </a:pPr>
            <a:r>
              <a:rPr lang="en-BE" dirty="0"/>
              <a:t>Two Types of Communication</a:t>
            </a:r>
          </a:p>
          <a:p>
            <a:pPr marL="514350" indent="-514350" algn="just">
              <a:buFont typeface="+mj-lt"/>
              <a:buAutoNum type="arabicPeriod"/>
            </a:pPr>
            <a:r>
              <a:rPr lang="en-BE" dirty="0"/>
              <a:t>Synchronous Communication</a:t>
            </a:r>
          </a:p>
          <a:p>
            <a:pPr marL="514350" indent="-514350" algn="just">
              <a:buFont typeface="+mj-lt"/>
              <a:buAutoNum type="arabicPeriod"/>
            </a:pPr>
            <a:r>
              <a:rPr lang="en-BE" dirty="0"/>
              <a:t>Asynchronous Communication</a:t>
            </a:r>
          </a:p>
          <a:p>
            <a:pPr marL="514350" indent="-514350" algn="just">
              <a:buFont typeface="+mj-lt"/>
              <a:buAutoNum type="arabicPeriod"/>
            </a:pPr>
            <a:r>
              <a:rPr lang="en-BE" dirty="0"/>
              <a:t>Typical Challenges</a:t>
            </a:r>
          </a:p>
          <a:p>
            <a:pPr marL="514350" indent="-514350" algn="just">
              <a:buFont typeface="+mj-lt"/>
              <a:buAutoNum type="arabicPeriod"/>
            </a:pPr>
            <a:r>
              <a:rPr lang="en-BE" dirty="0"/>
              <a:t>Synchronous vs Asynchronous</a:t>
            </a:r>
          </a:p>
          <a:p>
            <a:pPr marL="514350" indent="-514350" algn="just">
              <a:buFont typeface="+mj-lt"/>
              <a:buAutoNum type="arabicPeriod"/>
            </a:pPr>
            <a:r>
              <a:rPr lang="en-BE" dirty="0"/>
              <a:t>Summary</a:t>
            </a:r>
          </a:p>
          <a:p>
            <a:pPr marL="514350" indent="-514350" algn="just">
              <a:buFont typeface="+mj-lt"/>
              <a:buAutoNum type="arabicPeriod"/>
            </a:pPr>
            <a:endParaRPr lang="en-BE" dirty="0"/>
          </a:p>
        </p:txBody>
      </p:sp>
      <p:pic>
        <p:nvPicPr>
          <p:cNvPr id="2050" name="Picture 2" descr="Agenda Stock Photos, Images and Backgrounds for Free Download">
            <a:extLst>
              <a:ext uri="{FF2B5EF4-FFF2-40B4-BE49-F238E27FC236}">
                <a16:creationId xmlns:a16="http://schemas.microsoft.com/office/drawing/2014/main" id="{846265F7-8F5D-3D92-BC9C-64607AB4E1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4640" y="-1"/>
            <a:ext cx="681736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1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1363808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1. Lesson’s Objectives</a:t>
            </a:r>
          </a:p>
        </p:txBody>
      </p:sp>
      <p:grpSp>
        <p:nvGrpSpPr>
          <p:cNvPr id="29" name="Group 28">
            <a:extLst>
              <a:ext uri="{FF2B5EF4-FFF2-40B4-BE49-F238E27FC236}">
                <a16:creationId xmlns:a16="http://schemas.microsoft.com/office/drawing/2014/main" id="{D3FBAD02-B022-BC77-A27F-1E3C4E2A88AB}"/>
              </a:ext>
            </a:extLst>
          </p:cNvPr>
          <p:cNvGrpSpPr/>
          <p:nvPr/>
        </p:nvGrpSpPr>
        <p:grpSpPr>
          <a:xfrm>
            <a:off x="528320" y="1843822"/>
            <a:ext cx="9473519" cy="450849"/>
            <a:chOff x="528320" y="1843822"/>
            <a:chExt cx="9473519" cy="450849"/>
          </a:xfrm>
        </p:grpSpPr>
        <p:sp>
          <p:nvSpPr>
            <p:cNvPr id="19" name="Oval 18">
              <a:extLst>
                <a:ext uri="{FF2B5EF4-FFF2-40B4-BE49-F238E27FC236}">
                  <a16:creationId xmlns:a16="http://schemas.microsoft.com/office/drawing/2014/main" id="{694A3B37-9313-5211-DB9E-17BDA13DBEAE}"/>
                </a:ext>
              </a:extLst>
            </p:cNvPr>
            <p:cNvSpPr>
              <a:spLocks noChangeAspect="1"/>
            </p:cNvSpPr>
            <p:nvPr/>
          </p:nvSpPr>
          <p:spPr>
            <a:xfrm>
              <a:off x="528320" y="1889246"/>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1</a:t>
              </a:r>
            </a:p>
          </p:txBody>
        </p:sp>
        <p:sp>
          <p:nvSpPr>
            <p:cNvPr id="24" name="Rectangle 23">
              <a:extLst>
                <a:ext uri="{FF2B5EF4-FFF2-40B4-BE49-F238E27FC236}">
                  <a16:creationId xmlns:a16="http://schemas.microsoft.com/office/drawing/2014/main" id="{F15E0CA7-0BBF-0E97-6B29-F38DD21A7D97}"/>
                </a:ext>
              </a:extLst>
            </p:cNvPr>
            <p:cNvSpPr/>
            <p:nvPr/>
          </p:nvSpPr>
          <p:spPr>
            <a:xfrm>
              <a:off x="1230077" y="1843822"/>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Understand why communication is central to microservices.</a:t>
              </a:r>
            </a:p>
          </p:txBody>
        </p:sp>
      </p:grpSp>
      <p:grpSp>
        <p:nvGrpSpPr>
          <p:cNvPr id="30" name="Group 29">
            <a:extLst>
              <a:ext uri="{FF2B5EF4-FFF2-40B4-BE49-F238E27FC236}">
                <a16:creationId xmlns:a16="http://schemas.microsoft.com/office/drawing/2014/main" id="{7CB5A692-C926-70C4-CF79-ED6D7A598C89}"/>
              </a:ext>
            </a:extLst>
          </p:cNvPr>
          <p:cNvGrpSpPr/>
          <p:nvPr/>
        </p:nvGrpSpPr>
        <p:grpSpPr>
          <a:xfrm>
            <a:off x="528320" y="2730770"/>
            <a:ext cx="9473519" cy="450849"/>
            <a:chOff x="528320" y="2840989"/>
            <a:chExt cx="9473519" cy="450849"/>
          </a:xfrm>
        </p:grpSpPr>
        <p:sp>
          <p:nvSpPr>
            <p:cNvPr id="20" name="Oval 19">
              <a:extLst>
                <a:ext uri="{FF2B5EF4-FFF2-40B4-BE49-F238E27FC236}">
                  <a16:creationId xmlns:a16="http://schemas.microsoft.com/office/drawing/2014/main" id="{7D2B9EE2-45FF-CA35-2D19-967621966198}"/>
                </a:ext>
              </a:extLst>
            </p:cNvPr>
            <p:cNvSpPr>
              <a:spLocks noChangeAspect="1"/>
            </p:cNvSpPr>
            <p:nvPr/>
          </p:nvSpPr>
          <p:spPr>
            <a:xfrm>
              <a:off x="528320" y="2886413"/>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2</a:t>
              </a:r>
            </a:p>
          </p:txBody>
        </p:sp>
        <p:sp>
          <p:nvSpPr>
            <p:cNvPr id="25" name="Rectangle 24">
              <a:extLst>
                <a:ext uri="{FF2B5EF4-FFF2-40B4-BE49-F238E27FC236}">
                  <a16:creationId xmlns:a16="http://schemas.microsoft.com/office/drawing/2014/main" id="{39EE0968-B237-852D-D173-8BE20FD89C71}"/>
                </a:ext>
              </a:extLst>
            </p:cNvPr>
            <p:cNvSpPr/>
            <p:nvPr/>
          </p:nvSpPr>
          <p:spPr>
            <a:xfrm>
              <a:off x="1230077" y="2840989"/>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Distinguish between synchronous and asynchronous communication.</a:t>
              </a:r>
            </a:p>
          </p:txBody>
        </p:sp>
      </p:grpSp>
      <p:grpSp>
        <p:nvGrpSpPr>
          <p:cNvPr id="31" name="Group 30">
            <a:extLst>
              <a:ext uri="{FF2B5EF4-FFF2-40B4-BE49-F238E27FC236}">
                <a16:creationId xmlns:a16="http://schemas.microsoft.com/office/drawing/2014/main" id="{42A0F345-2C03-9AF1-901E-AEE70B8495D3}"/>
              </a:ext>
            </a:extLst>
          </p:cNvPr>
          <p:cNvGrpSpPr/>
          <p:nvPr/>
        </p:nvGrpSpPr>
        <p:grpSpPr>
          <a:xfrm>
            <a:off x="528320" y="3617718"/>
            <a:ext cx="9473519" cy="450849"/>
            <a:chOff x="528320" y="3806506"/>
            <a:chExt cx="9473519" cy="450849"/>
          </a:xfrm>
        </p:grpSpPr>
        <p:sp>
          <p:nvSpPr>
            <p:cNvPr id="21" name="Oval 20">
              <a:extLst>
                <a:ext uri="{FF2B5EF4-FFF2-40B4-BE49-F238E27FC236}">
                  <a16:creationId xmlns:a16="http://schemas.microsoft.com/office/drawing/2014/main" id="{E5DD9DB7-1C59-A9E7-3E15-30AB86B29215}"/>
                </a:ext>
              </a:extLst>
            </p:cNvPr>
            <p:cNvSpPr>
              <a:spLocks noChangeAspect="1"/>
            </p:cNvSpPr>
            <p:nvPr/>
          </p:nvSpPr>
          <p:spPr>
            <a:xfrm>
              <a:off x="528320" y="3851930"/>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3</a:t>
              </a:r>
            </a:p>
          </p:txBody>
        </p:sp>
        <p:sp>
          <p:nvSpPr>
            <p:cNvPr id="26" name="Rectangle 25">
              <a:extLst>
                <a:ext uri="{FF2B5EF4-FFF2-40B4-BE49-F238E27FC236}">
                  <a16:creationId xmlns:a16="http://schemas.microsoft.com/office/drawing/2014/main" id="{F4980C93-C2AF-3FFA-676E-5859A6FA2078}"/>
                </a:ext>
              </a:extLst>
            </p:cNvPr>
            <p:cNvSpPr/>
            <p:nvPr/>
          </p:nvSpPr>
          <p:spPr>
            <a:xfrm>
              <a:off x="1230077" y="3806506"/>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Learn strengths and weaknesses of both approaches.</a:t>
              </a:r>
            </a:p>
          </p:txBody>
        </p:sp>
      </p:grpSp>
      <p:grpSp>
        <p:nvGrpSpPr>
          <p:cNvPr id="32" name="Group 31">
            <a:extLst>
              <a:ext uri="{FF2B5EF4-FFF2-40B4-BE49-F238E27FC236}">
                <a16:creationId xmlns:a16="http://schemas.microsoft.com/office/drawing/2014/main" id="{A4679D1A-014E-1482-21D9-BA64E8B95DBF}"/>
              </a:ext>
            </a:extLst>
          </p:cNvPr>
          <p:cNvGrpSpPr/>
          <p:nvPr/>
        </p:nvGrpSpPr>
        <p:grpSpPr>
          <a:xfrm>
            <a:off x="528320" y="4504666"/>
            <a:ext cx="9473519" cy="450849"/>
            <a:chOff x="528320" y="4599061"/>
            <a:chExt cx="9473519" cy="450849"/>
          </a:xfrm>
        </p:grpSpPr>
        <p:sp>
          <p:nvSpPr>
            <p:cNvPr id="22" name="Oval 21">
              <a:extLst>
                <a:ext uri="{FF2B5EF4-FFF2-40B4-BE49-F238E27FC236}">
                  <a16:creationId xmlns:a16="http://schemas.microsoft.com/office/drawing/2014/main" id="{5DAF5834-82BB-7E69-B04F-13A9C823D04D}"/>
                </a:ext>
              </a:extLst>
            </p:cNvPr>
            <p:cNvSpPr>
              <a:spLocks noChangeAspect="1"/>
            </p:cNvSpPr>
            <p:nvPr/>
          </p:nvSpPr>
          <p:spPr>
            <a:xfrm>
              <a:off x="528320" y="4644485"/>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4</a:t>
              </a:r>
            </a:p>
          </p:txBody>
        </p:sp>
        <p:sp>
          <p:nvSpPr>
            <p:cNvPr id="27" name="Rectangle 26">
              <a:extLst>
                <a:ext uri="{FF2B5EF4-FFF2-40B4-BE49-F238E27FC236}">
                  <a16:creationId xmlns:a16="http://schemas.microsoft.com/office/drawing/2014/main" id="{A5E1B3C6-78FA-E8AD-AA70-86C155265AE7}"/>
                </a:ext>
              </a:extLst>
            </p:cNvPr>
            <p:cNvSpPr/>
            <p:nvPr/>
          </p:nvSpPr>
          <p:spPr>
            <a:xfrm>
              <a:off x="1230077" y="4599061"/>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Understand typical communication challenges</a:t>
              </a:r>
            </a:p>
          </p:txBody>
        </p:sp>
      </p:grpSp>
      <p:grpSp>
        <p:nvGrpSpPr>
          <p:cNvPr id="33" name="Group 32">
            <a:extLst>
              <a:ext uri="{FF2B5EF4-FFF2-40B4-BE49-F238E27FC236}">
                <a16:creationId xmlns:a16="http://schemas.microsoft.com/office/drawing/2014/main" id="{2E4D68F1-6ABC-398A-9350-B46CE85391DE}"/>
              </a:ext>
            </a:extLst>
          </p:cNvPr>
          <p:cNvGrpSpPr/>
          <p:nvPr/>
        </p:nvGrpSpPr>
        <p:grpSpPr>
          <a:xfrm>
            <a:off x="528320" y="5391616"/>
            <a:ext cx="9473519" cy="450849"/>
            <a:chOff x="528320" y="5391616"/>
            <a:chExt cx="9473519" cy="450849"/>
          </a:xfrm>
        </p:grpSpPr>
        <p:sp>
          <p:nvSpPr>
            <p:cNvPr id="23" name="Oval 22">
              <a:extLst>
                <a:ext uri="{FF2B5EF4-FFF2-40B4-BE49-F238E27FC236}">
                  <a16:creationId xmlns:a16="http://schemas.microsoft.com/office/drawing/2014/main" id="{439C1280-B06F-25D4-4003-8FB173FF274E}"/>
                </a:ext>
              </a:extLst>
            </p:cNvPr>
            <p:cNvSpPr>
              <a:spLocks noChangeAspect="1"/>
            </p:cNvSpPr>
            <p:nvPr/>
          </p:nvSpPr>
          <p:spPr>
            <a:xfrm>
              <a:off x="528320" y="5433177"/>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5</a:t>
              </a:r>
            </a:p>
          </p:txBody>
        </p:sp>
        <p:sp>
          <p:nvSpPr>
            <p:cNvPr id="28" name="Rectangle 27">
              <a:extLst>
                <a:ext uri="{FF2B5EF4-FFF2-40B4-BE49-F238E27FC236}">
                  <a16:creationId xmlns:a16="http://schemas.microsoft.com/office/drawing/2014/main" id="{02CF68D7-38C8-BF44-2731-5276371AF816}"/>
                </a:ext>
              </a:extLst>
            </p:cNvPr>
            <p:cNvSpPr/>
            <p:nvPr/>
          </p:nvSpPr>
          <p:spPr>
            <a:xfrm>
              <a:off x="1230077" y="5391616"/>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Determine when to use synchronous vs asynchronous communication</a:t>
              </a:r>
            </a:p>
          </p:txBody>
        </p:sp>
      </p:grpSp>
    </p:spTree>
    <p:extLst>
      <p:ext uri="{BB962C8B-B14F-4D97-AF65-F5344CB8AC3E}">
        <p14:creationId xmlns:p14="http://schemas.microsoft.com/office/powerpoint/2010/main" val="2986804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3744107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a:xfrm>
            <a:off x="538480" y="365125"/>
            <a:ext cx="11155680" cy="530421"/>
          </a:xfrm>
        </p:spPr>
        <p:txBody>
          <a:bodyPr vert="horz"/>
          <a:lstStyle/>
          <a:p>
            <a:r>
              <a:rPr lang="en-BE" dirty="0"/>
              <a:t>2. Summary Lesson 1 &amp; 2</a:t>
            </a:r>
          </a:p>
        </p:txBody>
      </p:sp>
      <p:pic>
        <p:nvPicPr>
          <p:cNvPr id="6" name="Picture 5">
            <a:extLst>
              <a:ext uri="{FF2B5EF4-FFF2-40B4-BE49-F238E27FC236}">
                <a16:creationId xmlns:a16="http://schemas.microsoft.com/office/drawing/2014/main" id="{DA1D851C-F670-D222-1384-1EEDA307D4E6}"/>
              </a:ext>
            </a:extLst>
          </p:cNvPr>
          <p:cNvPicPr>
            <a:picLocks noChangeAspect="1"/>
          </p:cNvPicPr>
          <p:nvPr/>
        </p:nvPicPr>
        <p:blipFill>
          <a:blip r:embed="rId5"/>
          <a:stretch>
            <a:fillRect/>
          </a:stretch>
        </p:blipFill>
        <p:spPr>
          <a:xfrm>
            <a:off x="1136402" y="2037082"/>
            <a:ext cx="2750930" cy="2783836"/>
          </a:xfrm>
          <a:prstGeom prst="rect">
            <a:avLst/>
          </a:prstGeom>
        </p:spPr>
      </p:pic>
      <p:pic>
        <p:nvPicPr>
          <p:cNvPr id="8" name="Picture 7">
            <a:extLst>
              <a:ext uri="{FF2B5EF4-FFF2-40B4-BE49-F238E27FC236}">
                <a16:creationId xmlns:a16="http://schemas.microsoft.com/office/drawing/2014/main" id="{5AB1B819-3531-6C54-6EC8-DBCEEDA2842A}"/>
              </a:ext>
            </a:extLst>
          </p:cNvPr>
          <p:cNvPicPr>
            <a:picLocks noChangeAspect="1"/>
          </p:cNvPicPr>
          <p:nvPr/>
        </p:nvPicPr>
        <p:blipFill>
          <a:blip r:embed="rId6"/>
          <a:stretch>
            <a:fillRect/>
          </a:stretch>
        </p:blipFill>
        <p:spPr>
          <a:xfrm>
            <a:off x="4753963" y="2424411"/>
            <a:ext cx="3707897" cy="2009177"/>
          </a:xfrm>
          <a:prstGeom prst="rect">
            <a:avLst/>
          </a:prstGeom>
        </p:spPr>
      </p:pic>
      <p:sp>
        <p:nvSpPr>
          <p:cNvPr id="9" name="Rectangle 8">
            <a:extLst>
              <a:ext uri="{FF2B5EF4-FFF2-40B4-BE49-F238E27FC236}">
                <a16:creationId xmlns:a16="http://schemas.microsoft.com/office/drawing/2014/main" id="{EA08024D-21E9-3203-128E-15E005E56660}"/>
              </a:ext>
            </a:extLst>
          </p:cNvPr>
          <p:cNvSpPr/>
          <p:nvPr/>
        </p:nvSpPr>
        <p:spPr>
          <a:xfrm>
            <a:off x="553335" y="1087121"/>
            <a:ext cx="3917065" cy="4459868"/>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11" name="Rectangle 10">
            <a:extLst>
              <a:ext uri="{FF2B5EF4-FFF2-40B4-BE49-F238E27FC236}">
                <a16:creationId xmlns:a16="http://schemas.microsoft.com/office/drawing/2014/main" id="{F0967B29-2311-8095-E3B0-009F6B9315EE}"/>
              </a:ext>
            </a:extLst>
          </p:cNvPr>
          <p:cNvSpPr/>
          <p:nvPr/>
        </p:nvSpPr>
        <p:spPr>
          <a:xfrm>
            <a:off x="4698043" y="1087121"/>
            <a:ext cx="3917065" cy="4459868"/>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12" name="Rectangle 11">
            <a:extLst>
              <a:ext uri="{FF2B5EF4-FFF2-40B4-BE49-F238E27FC236}">
                <a16:creationId xmlns:a16="http://schemas.microsoft.com/office/drawing/2014/main" id="{8FCD69B2-54BC-5DA2-1F74-FF3E50399D43}"/>
              </a:ext>
            </a:extLst>
          </p:cNvPr>
          <p:cNvSpPr/>
          <p:nvPr/>
        </p:nvSpPr>
        <p:spPr>
          <a:xfrm>
            <a:off x="538480" y="1193800"/>
            <a:ext cx="1909869"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200" b="1" dirty="0">
                <a:latin typeface="Calibri (Body)"/>
              </a:rPr>
              <a:t>Monolith Architecture</a:t>
            </a:r>
          </a:p>
        </p:txBody>
      </p:sp>
      <p:sp>
        <p:nvSpPr>
          <p:cNvPr id="13" name="Rectangle 12">
            <a:extLst>
              <a:ext uri="{FF2B5EF4-FFF2-40B4-BE49-F238E27FC236}">
                <a16:creationId xmlns:a16="http://schemas.microsoft.com/office/drawing/2014/main" id="{248B1982-75FB-FEC7-9120-1B0E111CCC4C}"/>
              </a:ext>
            </a:extLst>
          </p:cNvPr>
          <p:cNvSpPr/>
          <p:nvPr/>
        </p:nvSpPr>
        <p:spPr>
          <a:xfrm>
            <a:off x="4698043" y="1193800"/>
            <a:ext cx="1909869"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200" b="1" dirty="0">
                <a:latin typeface="Calibri (Body)"/>
              </a:rPr>
              <a:t>Microservices Architecture</a:t>
            </a:r>
          </a:p>
        </p:txBody>
      </p:sp>
      <p:sp>
        <p:nvSpPr>
          <p:cNvPr id="18" name="TextBox 17">
            <a:extLst>
              <a:ext uri="{FF2B5EF4-FFF2-40B4-BE49-F238E27FC236}">
                <a16:creationId xmlns:a16="http://schemas.microsoft.com/office/drawing/2014/main" id="{8CA723BA-172B-AE87-AAAA-882EA74DCB7B}"/>
              </a:ext>
            </a:extLst>
          </p:cNvPr>
          <p:cNvSpPr txBox="1"/>
          <p:nvPr/>
        </p:nvSpPr>
        <p:spPr>
          <a:xfrm>
            <a:off x="8842751" y="1087121"/>
            <a:ext cx="2750930" cy="307777"/>
          </a:xfrm>
          <a:prstGeom prst="rect">
            <a:avLst/>
          </a:prstGeom>
          <a:noFill/>
        </p:spPr>
        <p:txBody>
          <a:bodyPr wrap="square">
            <a:spAutoFit/>
          </a:bodyPr>
          <a:lstStyle/>
          <a:p>
            <a:r>
              <a:rPr lang="en-BE" sz="1400" b="1" dirty="0">
                <a:latin typeface="Calibri (Body)"/>
              </a:rPr>
              <a:t>Key Takeaways</a:t>
            </a:r>
          </a:p>
        </p:txBody>
      </p:sp>
      <p:grpSp>
        <p:nvGrpSpPr>
          <p:cNvPr id="21" name="Group 20">
            <a:extLst>
              <a:ext uri="{FF2B5EF4-FFF2-40B4-BE49-F238E27FC236}">
                <a16:creationId xmlns:a16="http://schemas.microsoft.com/office/drawing/2014/main" id="{7A36A4C2-4045-55C4-DDAB-0AA6A1BC6ADE}"/>
              </a:ext>
            </a:extLst>
          </p:cNvPr>
          <p:cNvGrpSpPr/>
          <p:nvPr/>
        </p:nvGrpSpPr>
        <p:grpSpPr>
          <a:xfrm>
            <a:off x="8810261" y="1433943"/>
            <a:ext cx="2883899" cy="1360699"/>
            <a:chOff x="8810261" y="1934363"/>
            <a:chExt cx="2883899" cy="1360699"/>
          </a:xfrm>
        </p:grpSpPr>
        <p:sp>
          <p:nvSpPr>
            <p:cNvPr id="14" name="Rectangle 13">
              <a:extLst>
                <a:ext uri="{FF2B5EF4-FFF2-40B4-BE49-F238E27FC236}">
                  <a16:creationId xmlns:a16="http://schemas.microsoft.com/office/drawing/2014/main" id="{FA722F3B-B403-1B02-A020-340C069F3EFD}"/>
                </a:ext>
              </a:extLst>
            </p:cNvPr>
            <p:cNvSpPr/>
            <p:nvPr/>
          </p:nvSpPr>
          <p:spPr>
            <a:xfrm>
              <a:off x="8954261" y="2078363"/>
              <a:ext cx="2739899" cy="121669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Microservices are small, independent services, each built around a business capability with its own data. They can be developed and deployed separately, but must collaborate to deliver value.</a:t>
              </a:r>
            </a:p>
          </p:txBody>
        </p:sp>
        <p:sp>
          <p:nvSpPr>
            <p:cNvPr id="20" name="Oval 19">
              <a:extLst>
                <a:ext uri="{FF2B5EF4-FFF2-40B4-BE49-F238E27FC236}">
                  <a16:creationId xmlns:a16="http://schemas.microsoft.com/office/drawing/2014/main" id="{83BACDBF-1C90-58E8-348C-DA688996612E}"/>
                </a:ext>
              </a:extLst>
            </p:cNvPr>
            <p:cNvSpPr>
              <a:spLocks noChangeAspect="1"/>
            </p:cNvSpPr>
            <p:nvPr/>
          </p:nvSpPr>
          <p:spPr>
            <a:xfrm>
              <a:off x="8810261" y="1934363"/>
              <a:ext cx="288000" cy="288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1</a:t>
              </a:r>
            </a:p>
          </p:txBody>
        </p:sp>
      </p:grpSp>
      <p:grpSp>
        <p:nvGrpSpPr>
          <p:cNvPr id="28" name="Group 27">
            <a:extLst>
              <a:ext uri="{FF2B5EF4-FFF2-40B4-BE49-F238E27FC236}">
                <a16:creationId xmlns:a16="http://schemas.microsoft.com/office/drawing/2014/main" id="{270D8836-AE30-1C09-8192-C3F3E7E481B0}"/>
              </a:ext>
            </a:extLst>
          </p:cNvPr>
          <p:cNvGrpSpPr/>
          <p:nvPr/>
        </p:nvGrpSpPr>
        <p:grpSpPr>
          <a:xfrm>
            <a:off x="8810261" y="2892195"/>
            <a:ext cx="2883899" cy="1196543"/>
            <a:chOff x="8810261" y="2866817"/>
            <a:chExt cx="2883899" cy="1196543"/>
          </a:xfrm>
        </p:grpSpPr>
        <p:sp>
          <p:nvSpPr>
            <p:cNvPr id="23" name="Rectangle 22">
              <a:extLst>
                <a:ext uri="{FF2B5EF4-FFF2-40B4-BE49-F238E27FC236}">
                  <a16:creationId xmlns:a16="http://schemas.microsoft.com/office/drawing/2014/main" id="{7D51691F-AD31-3A25-915B-C8E6C18BE289}"/>
                </a:ext>
              </a:extLst>
            </p:cNvPr>
            <p:cNvSpPr/>
            <p:nvPr/>
          </p:nvSpPr>
          <p:spPr>
            <a:xfrm>
              <a:off x="8954261" y="3010818"/>
              <a:ext cx="2739899" cy="1052542"/>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Boundaries are set by business capabilities, ensuring each microservice focuses on a clear domain like orders, payments, or customers.</a:t>
              </a:r>
            </a:p>
          </p:txBody>
        </p:sp>
        <p:sp>
          <p:nvSpPr>
            <p:cNvPr id="24" name="Oval 23">
              <a:extLst>
                <a:ext uri="{FF2B5EF4-FFF2-40B4-BE49-F238E27FC236}">
                  <a16:creationId xmlns:a16="http://schemas.microsoft.com/office/drawing/2014/main" id="{0C85A385-D145-8BB0-1C2F-24761732E20B}"/>
                </a:ext>
              </a:extLst>
            </p:cNvPr>
            <p:cNvSpPr>
              <a:spLocks noChangeAspect="1"/>
            </p:cNvSpPr>
            <p:nvPr/>
          </p:nvSpPr>
          <p:spPr>
            <a:xfrm>
              <a:off x="8810261" y="2866817"/>
              <a:ext cx="288000" cy="288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2</a:t>
              </a:r>
            </a:p>
          </p:txBody>
        </p:sp>
      </p:grpSp>
      <p:grpSp>
        <p:nvGrpSpPr>
          <p:cNvPr id="25" name="Group 24">
            <a:extLst>
              <a:ext uri="{FF2B5EF4-FFF2-40B4-BE49-F238E27FC236}">
                <a16:creationId xmlns:a16="http://schemas.microsoft.com/office/drawing/2014/main" id="{214C137D-BEC0-793D-61DA-8857A01300FE}"/>
              </a:ext>
            </a:extLst>
          </p:cNvPr>
          <p:cNvGrpSpPr/>
          <p:nvPr/>
        </p:nvGrpSpPr>
        <p:grpSpPr>
          <a:xfrm>
            <a:off x="8802822" y="4186290"/>
            <a:ext cx="2883899" cy="1360699"/>
            <a:chOff x="8810261" y="1934363"/>
            <a:chExt cx="2883899" cy="1360699"/>
          </a:xfrm>
        </p:grpSpPr>
        <p:sp>
          <p:nvSpPr>
            <p:cNvPr id="26" name="Rectangle 25">
              <a:extLst>
                <a:ext uri="{FF2B5EF4-FFF2-40B4-BE49-F238E27FC236}">
                  <a16:creationId xmlns:a16="http://schemas.microsoft.com/office/drawing/2014/main" id="{147415C8-A8C2-AF55-1D0C-5267113E3A48}"/>
                </a:ext>
              </a:extLst>
            </p:cNvPr>
            <p:cNvSpPr/>
            <p:nvPr/>
          </p:nvSpPr>
          <p:spPr>
            <a:xfrm>
              <a:off x="8954261" y="2078363"/>
              <a:ext cx="2739899" cy="121669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Each microservice owns and manages its own database. This ensures loose coupling, clearer responsibility, and allows services to evolve or scale independently without conflicts.</a:t>
              </a:r>
            </a:p>
          </p:txBody>
        </p:sp>
        <p:sp>
          <p:nvSpPr>
            <p:cNvPr id="27" name="Oval 26">
              <a:extLst>
                <a:ext uri="{FF2B5EF4-FFF2-40B4-BE49-F238E27FC236}">
                  <a16:creationId xmlns:a16="http://schemas.microsoft.com/office/drawing/2014/main" id="{E94D586E-2C82-BF54-2D0C-A5F83E5E2B29}"/>
                </a:ext>
              </a:extLst>
            </p:cNvPr>
            <p:cNvSpPr>
              <a:spLocks noChangeAspect="1"/>
            </p:cNvSpPr>
            <p:nvPr/>
          </p:nvSpPr>
          <p:spPr>
            <a:xfrm>
              <a:off x="8810261" y="1934363"/>
              <a:ext cx="288000" cy="288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3</a:t>
              </a:r>
            </a:p>
          </p:txBody>
        </p:sp>
      </p:grpSp>
      <p:sp>
        <p:nvSpPr>
          <p:cNvPr id="32" name="Rectangle 31">
            <a:extLst>
              <a:ext uri="{FF2B5EF4-FFF2-40B4-BE49-F238E27FC236}">
                <a16:creationId xmlns:a16="http://schemas.microsoft.com/office/drawing/2014/main" id="{8F4E4CF3-673F-A0D1-7662-5143AA032A89}"/>
              </a:ext>
            </a:extLst>
          </p:cNvPr>
          <p:cNvSpPr/>
          <p:nvPr/>
        </p:nvSpPr>
        <p:spPr>
          <a:xfrm>
            <a:off x="553336" y="5948272"/>
            <a:ext cx="11133386" cy="686917"/>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i="1" dirty="0">
                <a:solidFill>
                  <a:schemeClr val="tx1"/>
                </a:solidFill>
                <a:latin typeface="Calibri (Body)"/>
              </a:rPr>
              <a:t>While each service is autonomous, real business value comes from their collaboration. This creates challenges in communication, data consistency, and reliability across a distributed system.</a:t>
            </a:r>
          </a:p>
        </p:txBody>
      </p:sp>
      <p:grpSp>
        <p:nvGrpSpPr>
          <p:cNvPr id="37" name="Group 36">
            <a:extLst>
              <a:ext uri="{FF2B5EF4-FFF2-40B4-BE49-F238E27FC236}">
                <a16:creationId xmlns:a16="http://schemas.microsoft.com/office/drawing/2014/main" id="{C54B3D8A-E398-822F-D016-93872E15E30E}"/>
              </a:ext>
            </a:extLst>
          </p:cNvPr>
          <p:cNvGrpSpPr/>
          <p:nvPr/>
        </p:nvGrpSpPr>
        <p:grpSpPr>
          <a:xfrm>
            <a:off x="538480" y="5610770"/>
            <a:ext cx="1181282" cy="307777"/>
            <a:chOff x="505278" y="5567700"/>
            <a:chExt cx="1181282" cy="307777"/>
          </a:xfrm>
        </p:grpSpPr>
        <p:pic>
          <p:nvPicPr>
            <p:cNvPr id="35" name="Graphic 34" descr="Brainstorm with solid fill">
              <a:extLst>
                <a:ext uri="{FF2B5EF4-FFF2-40B4-BE49-F238E27FC236}">
                  <a16:creationId xmlns:a16="http://schemas.microsoft.com/office/drawing/2014/main" id="{E583ED15-EA3D-ECEE-0A79-3234A0D3319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5278" y="5598572"/>
              <a:ext cx="256830" cy="256830"/>
            </a:xfrm>
            <a:prstGeom prst="rect">
              <a:avLst/>
            </a:prstGeom>
          </p:spPr>
        </p:pic>
        <p:sp>
          <p:nvSpPr>
            <p:cNvPr id="36" name="TextBox 35">
              <a:extLst>
                <a:ext uri="{FF2B5EF4-FFF2-40B4-BE49-F238E27FC236}">
                  <a16:creationId xmlns:a16="http://schemas.microsoft.com/office/drawing/2014/main" id="{171D0727-55B9-6B6C-A37A-ECABDD78487A}"/>
                </a:ext>
              </a:extLst>
            </p:cNvPr>
            <p:cNvSpPr txBox="1"/>
            <p:nvPr/>
          </p:nvSpPr>
          <p:spPr>
            <a:xfrm>
              <a:off x="745531" y="5567700"/>
              <a:ext cx="941029" cy="307777"/>
            </a:xfrm>
            <a:prstGeom prst="rect">
              <a:avLst/>
            </a:prstGeom>
            <a:noFill/>
          </p:spPr>
          <p:txBody>
            <a:bodyPr wrap="square">
              <a:spAutoFit/>
            </a:bodyPr>
            <a:lstStyle/>
            <a:p>
              <a:r>
                <a:rPr lang="en-BE" sz="1400" b="1" dirty="0">
                  <a:latin typeface="Calibri (Body)"/>
                </a:rPr>
                <a:t>Challenge</a:t>
              </a:r>
            </a:p>
          </p:txBody>
        </p:sp>
      </p:grpSp>
      <p:cxnSp>
        <p:nvCxnSpPr>
          <p:cNvPr id="40" name="Straight Connector 39">
            <a:extLst>
              <a:ext uri="{FF2B5EF4-FFF2-40B4-BE49-F238E27FC236}">
                <a16:creationId xmlns:a16="http://schemas.microsoft.com/office/drawing/2014/main" id="{ECE86913-454D-6EDC-C7D6-A75B2149AD65}"/>
              </a:ext>
            </a:extLst>
          </p:cNvPr>
          <p:cNvCxnSpPr/>
          <p:nvPr/>
        </p:nvCxnSpPr>
        <p:spPr>
          <a:xfrm>
            <a:off x="8946822" y="133183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0022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457597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3. The Communication Challenge</a:t>
            </a:r>
          </a:p>
        </p:txBody>
      </p:sp>
      <p:sp>
        <p:nvSpPr>
          <p:cNvPr id="6" name="Rectangle 5">
            <a:extLst>
              <a:ext uri="{FF2B5EF4-FFF2-40B4-BE49-F238E27FC236}">
                <a16:creationId xmlns:a16="http://schemas.microsoft.com/office/drawing/2014/main" id="{79374A1D-64EC-E9EC-509D-9450C1AE9E1F}"/>
              </a:ext>
            </a:extLst>
          </p:cNvPr>
          <p:cNvSpPr/>
          <p:nvPr/>
        </p:nvSpPr>
        <p:spPr>
          <a:xfrm>
            <a:off x="553335" y="895546"/>
            <a:ext cx="6808999" cy="5140838"/>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8" name="Rectangle 7">
            <a:extLst>
              <a:ext uri="{FF2B5EF4-FFF2-40B4-BE49-F238E27FC236}">
                <a16:creationId xmlns:a16="http://schemas.microsoft.com/office/drawing/2014/main" id="{AC2095E7-8552-A2F8-DEBB-073E81B6422A}"/>
              </a:ext>
            </a:extLst>
          </p:cNvPr>
          <p:cNvSpPr/>
          <p:nvPr/>
        </p:nvSpPr>
        <p:spPr>
          <a:xfrm>
            <a:off x="538480" y="1002225"/>
            <a:ext cx="1909869"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200" b="1" dirty="0">
                <a:latin typeface="Calibri (Body)"/>
              </a:rPr>
              <a:t>Monolith Architecture</a:t>
            </a:r>
          </a:p>
        </p:txBody>
      </p:sp>
      <p:sp>
        <p:nvSpPr>
          <p:cNvPr id="17" name="Rectangle 16">
            <a:extLst>
              <a:ext uri="{FF2B5EF4-FFF2-40B4-BE49-F238E27FC236}">
                <a16:creationId xmlns:a16="http://schemas.microsoft.com/office/drawing/2014/main" id="{05335D00-A5BA-FCE4-3E1E-938CCCB6F45F}"/>
              </a:ext>
            </a:extLst>
          </p:cNvPr>
          <p:cNvSpPr/>
          <p:nvPr/>
        </p:nvSpPr>
        <p:spPr>
          <a:xfrm>
            <a:off x="5029114" y="1938352"/>
            <a:ext cx="2154091" cy="608635"/>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i="1" dirty="0">
                <a:solidFill>
                  <a:schemeClr val="tx1"/>
                </a:solidFill>
                <a:latin typeface="Calibri (Body)"/>
              </a:rPr>
              <a:t>Responsible for managing products and stock in an inventory</a:t>
            </a:r>
          </a:p>
        </p:txBody>
      </p:sp>
      <p:sp>
        <p:nvSpPr>
          <p:cNvPr id="19" name="Rectangle 18">
            <a:extLst>
              <a:ext uri="{FF2B5EF4-FFF2-40B4-BE49-F238E27FC236}">
                <a16:creationId xmlns:a16="http://schemas.microsoft.com/office/drawing/2014/main" id="{6C75418A-E489-E373-B907-1B7F03E75ADD}"/>
              </a:ext>
            </a:extLst>
          </p:cNvPr>
          <p:cNvSpPr/>
          <p:nvPr/>
        </p:nvSpPr>
        <p:spPr>
          <a:xfrm>
            <a:off x="5029114" y="3248004"/>
            <a:ext cx="2154091" cy="608635"/>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i="1" dirty="0">
                <a:solidFill>
                  <a:schemeClr val="tx1"/>
                </a:solidFill>
                <a:latin typeface="Calibri (Body)"/>
              </a:rPr>
              <a:t>Responsible for managing clients’ information</a:t>
            </a:r>
          </a:p>
        </p:txBody>
      </p:sp>
      <p:sp>
        <p:nvSpPr>
          <p:cNvPr id="20" name="Rectangle 19">
            <a:extLst>
              <a:ext uri="{FF2B5EF4-FFF2-40B4-BE49-F238E27FC236}">
                <a16:creationId xmlns:a16="http://schemas.microsoft.com/office/drawing/2014/main" id="{C6CFD17C-3F66-F5F5-12C6-433CE9808558}"/>
              </a:ext>
            </a:extLst>
          </p:cNvPr>
          <p:cNvSpPr/>
          <p:nvPr/>
        </p:nvSpPr>
        <p:spPr>
          <a:xfrm>
            <a:off x="5029114" y="4613028"/>
            <a:ext cx="2154091" cy="608635"/>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i="1" dirty="0">
                <a:solidFill>
                  <a:schemeClr val="tx1"/>
                </a:solidFill>
                <a:latin typeface="Calibri (Body)"/>
              </a:rPr>
              <a:t>Responsible for managing clients’ orders</a:t>
            </a:r>
          </a:p>
        </p:txBody>
      </p:sp>
      <p:pic>
        <p:nvPicPr>
          <p:cNvPr id="22" name="Picture 21" descr="A diagram of a cloud&#10;&#10;AI-generated content may be incorrect.">
            <a:extLst>
              <a:ext uri="{FF2B5EF4-FFF2-40B4-BE49-F238E27FC236}">
                <a16:creationId xmlns:a16="http://schemas.microsoft.com/office/drawing/2014/main" id="{96E0D614-F426-B590-46F6-62C8B4F7D31A}"/>
              </a:ext>
            </a:extLst>
          </p:cNvPr>
          <p:cNvPicPr>
            <a:picLocks noChangeAspect="1"/>
          </p:cNvPicPr>
          <p:nvPr/>
        </p:nvPicPr>
        <p:blipFill>
          <a:blip r:embed="rId5"/>
          <a:stretch>
            <a:fillRect/>
          </a:stretch>
        </p:blipFill>
        <p:spPr>
          <a:xfrm>
            <a:off x="669843" y="1876510"/>
            <a:ext cx="4194388" cy="3345154"/>
          </a:xfrm>
          <a:prstGeom prst="rect">
            <a:avLst/>
          </a:prstGeom>
        </p:spPr>
      </p:pic>
      <p:grpSp>
        <p:nvGrpSpPr>
          <p:cNvPr id="36" name="Group 35">
            <a:extLst>
              <a:ext uri="{FF2B5EF4-FFF2-40B4-BE49-F238E27FC236}">
                <a16:creationId xmlns:a16="http://schemas.microsoft.com/office/drawing/2014/main" id="{68218B16-2FC3-234D-F6C6-1B165CEDA163}"/>
              </a:ext>
            </a:extLst>
          </p:cNvPr>
          <p:cNvGrpSpPr/>
          <p:nvPr/>
        </p:nvGrpSpPr>
        <p:grpSpPr>
          <a:xfrm>
            <a:off x="3687318" y="2396904"/>
            <a:ext cx="1732026" cy="887730"/>
            <a:chOff x="3687318" y="2084070"/>
            <a:chExt cx="1732026" cy="887730"/>
          </a:xfrm>
        </p:grpSpPr>
        <p:cxnSp>
          <p:nvCxnSpPr>
            <p:cNvPr id="26" name="Straight Arrow Connector 25">
              <a:extLst>
                <a:ext uri="{FF2B5EF4-FFF2-40B4-BE49-F238E27FC236}">
                  <a16:creationId xmlns:a16="http://schemas.microsoft.com/office/drawing/2014/main" id="{59BDA29F-550E-42E9-7A30-E22755E3D2D4}"/>
                </a:ext>
              </a:extLst>
            </p:cNvPr>
            <p:cNvCxnSpPr>
              <a:cxnSpLocks/>
            </p:cNvCxnSpPr>
            <p:nvPr/>
          </p:nvCxnSpPr>
          <p:spPr>
            <a:xfrm flipV="1">
              <a:off x="3687318" y="2084070"/>
              <a:ext cx="0" cy="88773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DF1480EA-0245-056D-5248-4C2EFB1F0607}"/>
                </a:ext>
              </a:extLst>
            </p:cNvPr>
            <p:cNvSpPr/>
            <p:nvPr/>
          </p:nvSpPr>
          <p:spPr>
            <a:xfrm>
              <a:off x="3688080" y="2408226"/>
              <a:ext cx="1731264" cy="25774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000" b="1" dirty="0">
                  <a:solidFill>
                    <a:srgbClr val="156082"/>
                  </a:solidFill>
                  <a:latin typeface="Calibri (Body)"/>
                </a:rPr>
                <a:t>Check stock</a:t>
              </a:r>
            </a:p>
          </p:txBody>
        </p:sp>
      </p:grpSp>
      <p:grpSp>
        <p:nvGrpSpPr>
          <p:cNvPr id="35" name="Group 34">
            <a:extLst>
              <a:ext uri="{FF2B5EF4-FFF2-40B4-BE49-F238E27FC236}">
                <a16:creationId xmlns:a16="http://schemas.microsoft.com/office/drawing/2014/main" id="{06F46341-6604-4B12-2AC3-D7AA3C3EDCC7}"/>
              </a:ext>
            </a:extLst>
          </p:cNvPr>
          <p:cNvGrpSpPr/>
          <p:nvPr/>
        </p:nvGrpSpPr>
        <p:grpSpPr>
          <a:xfrm>
            <a:off x="3688080" y="3696114"/>
            <a:ext cx="1731264" cy="999744"/>
            <a:chOff x="3688080" y="3383280"/>
            <a:chExt cx="1731264" cy="999744"/>
          </a:xfrm>
        </p:grpSpPr>
        <p:sp>
          <p:nvSpPr>
            <p:cNvPr id="25" name="Rectangle 24">
              <a:extLst>
                <a:ext uri="{FF2B5EF4-FFF2-40B4-BE49-F238E27FC236}">
                  <a16:creationId xmlns:a16="http://schemas.microsoft.com/office/drawing/2014/main" id="{E8F55E0F-2549-AF3D-0053-7738C3ACC295}"/>
                </a:ext>
              </a:extLst>
            </p:cNvPr>
            <p:cNvSpPr/>
            <p:nvPr/>
          </p:nvSpPr>
          <p:spPr>
            <a:xfrm>
              <a:off x="3688080" y="3733262"/>
              <a:ext cx="1731264" cy="25774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000" b="1" dirty="0">
                  <a:solidFill>
                    <a:srgbClr val="156082"/>
                  </a:solidFill>
                  <a:latin typeface="Calibri (Body)"/>
                </a:rPr>
                <a:t>Validate client’s information</a:t>
              </a:r>
            </a:p>
          </p:txBody>
        </p:sp>
        <p:cxnSp>
          <p:nvCxnSpPr>
            <p:cNvPr id="30" name="Straight Arrow Connector 29">
              <a:extLst>
                <a:ext uri="{FF2B5EF4-FFF2-40B4-BE49-F238E27FC236}">
                  <a16:creationId xmlns:a16="http://schemas.microsoft.com/office/drawing/2014/main" id="{76C895EA-2EA1-0FA8-1D3F-17F6EE8BE7FA}"/>
                </a:ext>
              </a:extLst>
            </p:cNvPr>
            <p:cNvCxnSpPr/>
            <p:nvPr/>
          </p:nvCxnSpPr>
          <p:spPr>
            <a:xfrm>
              <a:off x="3688080" y="3383280"/>
              <a:ext cx="0" cy="999744"/>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DA1FAFC7-3797-3FE5-13C9-36FE82CBD5D6}"/>
              </a:ext>
            </a:extLst>
          </p:cNvPr>
          <p:cNvGrpSpPr/>
          <p:nvPr/>
        </p:nvGrpSpPr>
        <p:grpSpPr>
          <a:xfrm>
            <a:off x="2051701" y="3696114"/>
            <a:ext cx="1484066" cy="999744"/>
            <a:chOff x="2051701" y="3696114"/>
            <a:chExt cx="1484066" cy="999744"/>
          </a:xfrm>
        </p:grpSpPr>
        <p:cxnSp>
          <p:nvCxnSpPr>
            <p:cNvPr id="24" name="Straight Arrow Connector 23">
              <a:extLst>
                <a:ext uri="{FF2B5EF4-FFF2-40B4-BE49-F238E27FC236}">
                  <a16:creationId xmlns:a16="http://schemas.microsoft.com/office/drawing/2014/main" id="{C21584A8-6171-7757-2FA8-9F23EDE3AFB8}"/>
                </a:ext>
              </a:extLst>
            </p:cNvPr>
            <p:cNvCxnSpPr>
              <a:cxnSpLocks/>
            </p:cNvCxnSpPr>
            <p:nvPr/>
          </p:nvCxnSpPr>
          <p:spPr>
            <a:xfrm>
              <a:off x="3462277" y="3696114"/>
              <a:ext cx="0" cy="999744"/>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0FFE1289-64F8-87B8-19C6-0C497E986362}"/>
                </a:ext>
              </a:extLst>
            </p:cNvPr>
            <p:cNvSpPr/>
            <p:nvPr/>
          </p:nvSpPr>
          <p:spPr>
            <a:xfrm>
              <a:off x="2051701" y="4046096"/>
              <a:ext cx="1484066" cy="25774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000" b="1" dirty="0">
                  <a:solidFill>
                    <a:srgbClr val="156082"/>
                  </a:solidFill>
                  <a:latin typeface="Calibri (Body)"/>
                </a:rPr>
                <a:t>Retrieve orders history</a:t>
              </a:r>
            </a:p>
          </p:txBody>
        </p:sp>
      </p:grpSp>
      <p:grpSp>
        <p:nvGrpSpPr>
          <p:cNvPr id="69" name="Group 68">
            <a:extLst>
              <a:ext uri="{FF2B5EF4-FFF2-40B4-BE49-F238E27FC236}">
                <a16:creationId xmlns:a16="http://schemas.microsoft.com/office/drawing/2014/main" id="{B750EFF3-79C8-3272-A330-D4EDBC8671DF}"/>
              </a:ext>
            </a:extLst>
          </p:cNvPr>
          <p:cNvGrpSpPr/>
          <p:nvPr/>
        </p:nvGrpSpPr>
        <p:grpSpPr>
          <a:xfrm>
            <a:off x="7448309" y="802039"/>
            <a:ext cx="2750930" cy="307777"/>
            <a:chOff x="7448309" y="802039"/>
            <a:chExt cx="2750930" cy="307777"/>
          </a:xfrm>
        </p:grpSpPr>
        <p:sp>
          <p:nvSpPr>
            <p:cNvPr id="37" name="TextBox 36">
              <a:extLst>
                <a:ext uri="{FF2B5EF4-FFF2-40B4-BE49-F238E27FC236}">
                  <a16:creationId xmlns:a16="http://schemas.microsoft.com/office/drawing/2014/main" id="{66C861E6-723E-165E-F27E-E500B0C4A488}"/>
                </a:ext>
              </a:extLst>
            </p:cNvPr>
            <p:cNvSpPr txBox="1"/>
            <p:nvPr/>
          </p:nvSpPr>
          <p:spPr>
            <a:xfrm>
              <a:off x="7448309" y="802039"/>
              <a:ext cx="2750930" cy="307777"/>
            </a:xfrm>
            <a:prstGeom prst="rect">
              <a:avLst/>
            </a:prstGeom>
            <a:noFill/>
          </p:spPr>
          <p:txBody>
            <a:bodyPr wrap="square">
              <a:spAutoFit/>
            </a:bodyPr>
            <a:lstStyle/>
            <a:p>
              <a:r>
                <a:rPr lang="en-BE" sz="1400" b="1" dirty="0">
                  <a:latin typeface="Calibri (Body)"/>
                </a:rPr>
                <a:t>Why communication is hard</a:t>
              </a:r>
            </a:p>
          </p:txBody>
        </p:sp>
        <p:cxnSp>
          <p:nvCxnSpPr>
            <p:cNvPr id="38" name="Straight Connector 37">
              <a:extLst>
                <a:ext uri="{FF2B5EF4-FFF2-40B4-BE49-F238E27FC236}">
                  <a16:creationId xmlns:a16="http://schemas.microsoft.com/office/drawing/2014/main" id="{B13614DF-7353-09BA-388A-222090EBD6D5}"/>
                </a:ext>
              </a:extLst>
            </p:cNvPr>
            <p:cNvCxnSpPr/>
            <p:nvPr/>
          </p:nvCxnSpPr>
          <p:spPr>
            <a:xfrm>
              <a:off x="7556934" y="107425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6F853CA7-620A-9A10-0909-B7100BFA7259}"/>
              </a:ext>
            </a:extLst>
          </p:cNvPr>
          <p:cNvGrpSpPr/>
          <p:nvPr/>
        </p:nvGrpSpPr>
        <p:grpSpPr>
          <a:xfrm>
            <a:off x="7556934" y="1177865"/>
            <a:ext cx="4127066" cy="1246467"/>
            <a:chOff x="7556934" y="1433943"/>
            <a:chExt cx="4127066" cy="1246467"/>
          </a:xfrm>
        </p:grpSpPr>
        <p:sp>
          <p:nvSpPr>
            <p:cNvPr id="40" name="Rectangle 39">
              <a:extLst>
                <a:ext uri="{FF2B5EF4-FFF2-40B4-BE49-F238E27FC236}">
                  <a16:creationId xmlns:a16="http://schemas.microsoft.com/office/drawing/2014/main" id="{C1E608CA-8C4D-9512-B4E3-94B1CC21EFE4}"/>
                </a:ext>
              </a:extLst>
            </p:cNvPr>
            <p:cNvSpPr/>
            <p:nvPr/>
          </p:nvSpPr>
          <p:spPr>
            <a:xfrm>
              <a:off x="7700934" y="1577943"/>
              <a:ext cx="3983066" cy="1102467"/>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Microservices are independent → cannot share memory directly</a:t>
              </a:r>
              <a:r>
                <a:rPr lang="en-BE" sz="1200" dirty="0">
                  <a:solidFill>
                    <a:schemeClr val="tx1"/>
                  </a:solidFill>
                  <a:latin typeface="Calibri (Body)"/>
                </a:rPr>
                <a:t>. Each microservice runs in its own process and manages its own data, which means they cannot exchange information through shared memory like components inside a monolith.</a:t>
              </a:r>
            </a:p>
          </p:txBody>
        </p:sp>
        <p:sp>
          <p:nvSpPr>
            <p:cNvPr id="41" name="Oval 40">
              <a:extLst>
                <a:ext uri="{FF2B5EF4-FFF2-40B4-BE49-F238E27FC236}">
                  <a16:creationId xmlns:a16="http://schemas.microsoft.com/office/drawing/2014/main" id="{C61362D8-D9C3-D5C5-1203-A3790F9B2690}"/>
                </a:ext>
              </a:extLst>
            </p:cNvPr>
            <p:cNvSpPr>
              <a:spLocks noChangeAspect="1"/>
            </p:cNvSpPr>
            <p:nvPr/>
          </p:nvSpPr>
          <p:spPr>
            <a:xfrm>
              <a:off x="7556934" y="1433943"/>
              <a:ext cx="288000" cy="288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1</a:t>
              </a:r>
            </a:p>
          </p:txBody>
        </p:sp>
      </p:grpSp>
      <p:grpSp>
        <p:nvGrpSpPr>
          <p:cNvPr id="60" name="Group 59">
            <a:extLst>
              <a:ext uri="{FF2B5EF4-FFF2-40B4-BE49-F238E27FC236}">
                <a16:creationId xmlns:a16="http://schemas.microsoft.com/office/drawing/2014/main" id="{FE5BF796-1E12-5A33-F6E2-B5C0DB586604}"/>
              </a:ext>
            </a:extLst>
          </p:cNvPr>
          <p:cNvGrpSpPr/>
          <p:nvPr/>
        </p:nvGrpSpPr>
        <p:grpSpPr>
          <a:xfrm>
            <a:off x="7556934" y="2500795"/>
            <a:ext cx="4127066" cy="1127553"/>
            <a:chOff x="7556934" y="2863455"/>
            <a:chExt cx="4127066" cy="1127553"/>
          </a:xfrm>
        </p:grpSpPr>
        <p:sp>
          <p:nvSpPr>
            <p:cNvPr id="48" name="Rectangle 47">
              <a:extLst>
                <a:ext uri="{FF2B5EF4-FFF2-40B4-BE49-F238E27FC236}">
                  <a16:creationId xmlns:a16="http://schemas.microsoft.com/office/drawing/2014/main" id="{B124A35B-D309-72E2-3DB1-1D1292DE8F56}"/>
                </a:ext>
              </a:extLst>
            </p:cNvPr>
            <p:cNvSpPr/>
            <p:nvPr/>
          </p:nvSpPr>
          <p:spPr>
            <a:xfrm>
              <a:off x="7700934" y="3007455"/>
              <a:ext cx="3983066" cy="983553"/>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They must communicate over a network. </a:t>
              </a:r>
              <a:r>
                <a:rPr lang="en-BE" sz="1200" dirty="0">
                  <a:solidFill>
                    <a:schemeClr val="tx1"/>
                  </a:solidFill>
                  <a:latin typeface="Calibri (Body)"/>
                </a:rPr>
                <a:t>To work together, services rely on network protocols such as HTTP, </a:t>
              </a:r>
              <a:r>
                <a:rPr lang="en-BE" sz="1200" dirty="0" err="1">
                  <a:solidFill>
                    <a:schemeClr val="tx1"/>
                  </a:solidFill>
                  <a:latin typeface="Calibri (Body)"/>
                </a:rPr>
                <a:t>gRPC</a:t>
              </a:r>
              <a:r>
                <a:rPr lang="en-BE" sz="1200" dirty="0">
                  <a:solidFill>
                    <a:schemeClr val="tx1"/>
                  </a:solidFill>
                  <a:latin typeface="Calibri (Body)"/>
                </a:rPr>
                <a:t>, or messaging systems, introducing latency and potential failures.</a:t>
              </a:r>
            </a:p>
          </p:txBody>
        </p:sp>
        <p:sp>
          <p:nvSpPr>
            <p:cNvPr id="49" name="Oval 48">
              <a:extLst>
                <a:ext uri="{FF2B5EF4-FFF2-40B4-BE49-F238E27FC236}">
                  <a16:creationId xmlns:a16="http://schemas.microsoft.com/office/drawing/2014/main" id="{B29733ED-563F-5654-5E34-7F76940EEF0B}"/>
                </a:ext>
              </a:extLst>
            </p:cNvPr>
            <p:cNvSpPr>
              <a:spLocks noChangeAspect="1"/>
            </p:cNvSpPr>
            <p:nvPr/>
          </p:nvSpPr>
          <p:spPr>
            <a:xfrm>
              <a:off x="7556934" y="2863455"/>
              <a:ext cx="288000" cy="288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2</a:t>
              </a:r>
            </a:p>
          </p:txBody>
        </p:sp>
      </p:grpSp>
      <p:grpSp>
        <p:nvGrpSpPr>
          <p:cNvPr id="55" name="Group 54">
            <a:extLst>
              <a:ext uri="{FF2B5EF4-FFF2-40B4-BE49-F238E27FC236}">
                <a16:creationId xmlns:a16="http://schemas.microsoft.com/office/drawing/2014/main" id="{5C55677D-8F80-EAE5-1BF9-59EC5D3AF709}"/>
              </a:ext>
            </a:extLst>
          </p:cNvPr>
          <p:cNvGrpSpPr/>
          <p:nvPr/>
        </p:nvGrpSpPr>
        <p:grpSpPr>
          <a:xfrm>
            <a:off x="7556934" y="3704811"/>
            <a:ext cx="4127066" cy="1127555"/>
            <a:chOff x="7556934" y="4270129"/>
            <a:chExt cx="4127066" cy="1127555"/>
          </a:xfrm>
        </p:grpSpPr>
        <p:sp>
          <p:nvSpPr>
            <p:cNvPr id="51" name="Rectangle 50">
              <a:extLst>
                <a:ext uri="{FF2B5EF4-FFF2-40B4-BE49-F238E27FC236}">
                  <a16:creationId xmlns:a16="http://schemas.microsoft.com/office/drawing/2014/main" id="{ECB0ED13-E603-1260-0BA6-62B6F80E66BC}"/>
                </a:ext>
              </a:extLst>
            </p:cNvPr>
            <p:cNvSpPr/>
            <p:nvPr/>
          </p:nvSpPr>
          <p:spPr>
            <a:xfrm>
              <a:off x="7700934" y="4414130"/>
              <a:ext cx="3983066" cy="983554"/>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Enable collaboration without tight coupling. </a:t>
              </a:r>
              <a:r>
                <a:rPr lang="en-BE" sz="1200" dirty="0">
                  <a:solidFill>
                    <a:schemeClr val="tx1"/>
                  </a:solidFill>
                  <a:latin typeface="Calibri (Body)"/>
                </a:rPr>
                <a:t>The goal is to let services depend on each other’s outputs while remaining loosely coupled, so that one service can evolve or fail without breaking the whole system.</a:t>
              </a:r>
            </a:p>
          </p:txBody>
        </p:sp>
        <p:sp>
          <p:nvSpPr>
            <p:cNvPr id="52" name="Oval 51">
              <a:extLst>
                <a:ext uri="{FF2B5EF4-FFF2-40B4-BE49-F238E27FC236}">
                  <a16:creationId xmlns:a16="http://schemas.microsoft.com/office/drawing/2014/main" id="{38AEBD5E-9466-A5EE-5650-D8299C18ACCD}"/>
                </a:ext>
              </a:extLst>
            </p:cNvPr>
            <p:cNvSpPr>
              <a:spLocks noChangeAspect="1"/>
            </p:cNvSpPr>
            <p:nvPr/>
          </p:nvSpPr>
          <p:spPr>
            <a:xfrm>
              <a:off x="7556934" y="4270129"/>
              <a:ext cx="288000" cy="288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3</a:t>
              </a:r>
            </a:p>
          </p:txBody>
        </p:sp>
      </p:grpSp>
      <p:grpSp>
        <p:nvGrpSpPr>
          <p:cNvPr id="56" name="Group 55">
            <a:extLst>
              <a:ext uri="{FF2B5EF4-FFF2-40B4-BE49-F238E27FC236}">
                <a16:creationId xmlns:a16="http://schemas.microsoft.com/office/drawing/2014/main" id="{C2F74A43-781A-B738-A105-78120E23531A}"/>
              </a:ext>
            </a:extLst>
          </p:cNvPr>
          <p:cNvGrpSpPr/>
          <p:nvPr/>
        </p:nvGrpSpPr>
        <p:grpSpPr>
          <a:xfrm>
            <a:off x="7556934" y="4908829"/>
            <a:ext cx="4127066" cy="1127555"/>
            <a:chOff x="7556934" y="4270129"/>
            <a:chExt cx="4127066" cy="1127555"/>
          </a:xfrm>
        </p:grpSpPr>
        <p:sp>
          <p:nvSpPr>
            <p:cNvPr id="57" name="Rectangle 56">
              <a:extLst>
                <a:ext uri="{FF2B5EF4-FFF2-40B4-BE49-F238E27FC236}">
                  <a16:creationId xmlns:a16="http://schemas.microsoft.com/office/drawing/2014/main" id="{113BF674-68C2-3160-0ABD-D660DF027E17}"/>
                </a:ext>
              </a:extLst>
            </p:cNvPr>
            <p:cNvSpPr/>
            <p:nvPr/>
          </p:nvSpPr>
          <p:spPr>
            <a:xfrm>
              <a:off x="7700934" y="4414130"/>
              <a:ext cx="3983066" cy="983554"/>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Trade-offs: simplicity vs resilience, speed vs decoupling. </a:t>
              </a:r>
              <a:r>
                <a:rPr lang="en-BE" sz="1200" dirty="0">
                  <a:solidFill>
                    <a:schemeClr val="tx1"/>
                  </a:solidFill>
                  <a:latin typeface="Calibri (Body)"/>
                </a:rPr>
                <a:t>Designing communication means balancing ease of implementation and performance against robustness, fault tolerance, and long-term flexibility.</a:t>
              </a:r>
            </a:p>
          </p:txBody>
        </p:sp>
        <p:sp>
          <p:nvSpPr>
            <p:cNvPr id="58" name="Oval 57">
              <a:extLst>
                <a:ext uri="{FF2B5EF4-FFF2-40B4-BE49-F238E27FC236}">
                  <a16:creationId xmlns:a16="http://schemas.microsoft.com/office/drawing/2014/main" id="{C63753BD-CDA6-067E-D49B-19AAE6615FDC}"/>
                </a:ext>
              </a:extLst>
            </p:cNvPr>
            <p:cNvSpPr>
              <a:spLocks noChangeAspect="1"/>
            </p:cNvSpPr>
            <p:nvPr/>
          </p:nvSpPr>
          <p:spPr>
            <a:xfrm>
              <a:off x="7556934" y="4270129"/>
              <a:ext cx="288000" cy="288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4</a:t>
              </a:r>
            </a:p>
          </p:txBody>
        </p:sp>
      </p:grpSp>
      <p:grpSp>
        <p:nvGrpSpPr>
          <p:cNvPr id="68" name="Group 67">
            <a:extLst>
              <a:ext uri="{FF2B5EF4-FFF2-40B4-BE49-F238E27FC236}">
                <a16:creationId xmlns:a16="http://schemas.microsoft.com/office/drawing/2014/main" id="{0DE556E3-B880-A14B-DC4B-EBD51700F963}"/>
              </a:ext>
            </a:extLst>
          </p:cNvPr>
          <p:cNvGrpSpPr/>
          <p:nvPr/>
        </p:nvGrpSpPr>
        <p:grpSpPr>
          <a:xfrm>
            <a:off x="466143" y="6075392"/>
            <a:ext cx="11220579" cy="668391"/>
            <a:chOff x="466143" y="6075392"/>
            <a:chExt cx="11220579" cy="668391"/>
          </a:xfrm>
        </p:grpSpPr>
        <p:sp>
          <p:nvSpPr>
            <p:cNvPr id="61" name="Rectangle 60">
              <a:extLst>
                <a:ext uri="{FF2B5EF4-FFF2-40B4-BE49-F238E27FC236}">
                  <a16:creationId xmlns:a16="http://schemas.microsoft.com/office/drawing/2014/main" id="{8C23796C-3692-FC98-680D-2993E98B6129}"/>
                </a:ext>
              </a:extLst>
            </p:cNvPr>
            <p:cNvSpPr/>
            <p:nvPr/>
          </p:nvSpPr>
          <p:spPr>
            <a:xfrm>
              <a:off x="553336" y="6202628"/>
              <a:ext cx="11133386" cy="541155"/>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i="1" dirty="0">
                  <a:solidFill>
                    <a:schemeClr val="tx1"/>
                  </a:solidFill>
                  <a:latin typeface="Calibri (Body)"/>
                </a:rPr>
                <a:t>Independent services only deliver business value when they communicate reliably — but that communication adds complexity, trade-offs, and potential points of failure.</a:t>
              </a:r>
            </a:p>
          </p:txBody>
        </p:sp>
        <p:pic>
          <p:nvPicPr>
            <p:cNvPr id="67" name="Graphic 66" descr="Warning with solid fill">
              <a:extLst>
                <a:ext uri="{FF2B5EF4-FFF2-40B4-BE49-F238E27FC236}">
                  <a16:creationId xmlns:a16="http://schemas.microsoft.com/office/drawing/2014/main" id="{6869E439-F3DF-FF18-2613-8FE1C9DA9E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6143" y="6075392"/>
              <a:ext cx="203700" cy="203700"/>
            </a:xfrm>
            <a:prstGeom prst="rect">
              <a:avLst/>
            </a:prstGeom>
          </p:spPr>
        </p:pic>
      </p:grpSp>
    </p:spTree>
    <p:extLst>
      <p:ext uri="{BB962C8B-B14F-4D97-AF65-F5344CB8AC3E}">
        <p14:creationId xmlns:p14="http://schemas.microsoft.com/office/powerpoint/2010/main" val="229427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4750525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B3763776-D0B7-E1D0-2D57-7368ED8127C0}"/>
              </a:ext>
            </a:extLst>
          </p:cNvPr>
          <p:cNvSpPr/>
          <p:nvPr/>
        </p:nvSpPr>
        <p:spPr>
          <a:xfrm>
            <a:off x="6175247" y="895546"/>
            <a:ext cx="5508752" cy="4348802"/>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4. Two Types of Communication</a:t>
            </a:r>
          </a:p>
        </p:txBody>
      </p:sp>
      <p:pic>
        <p:nvPicPr>
          <p:cNvPr id="9" name="Picture 8" descr="A close-up of a message&#10;&#10;AI-generated content may be incorrect.">
            <a:extLst>
              <a:ext uri="{FF2B5EF4-FFF2-40B4-BE49-F238E27FC236}">
                <a16:creationId xmlns:a16="http://schemas.microsoft.com/office/drawing/2014/main" id="{219D47CA-AF24-526F-922D-BFFC31900F20}"/>
              </a:ext>
            </a:extLst>
          </p:cNvPr>
          <p:cNvPicPr>
            <a:picLocks noChangeAspect="1"/>
          </p:cNvPicPr>
          <p:nvPr/>
        </p:nvPicPr>
        <p:blipFill>
          <a:blip r:embed="rId5"/>
          <a:stretch>
            <a:fillRect/>
          </a:stretch>
        </p:blipFill>
        <p:spPr>
          <a:xfrm>
            <a:off x="637414" y="2217205"/>
            <a:ext cx="5230562" cy="1288732"/>
          </a:xfrm>
          <a:prstGeom prst="rect">
            <a:avLst/>
          </a:prstGeom>
        </p:spPr>
      </p:pic>
      <p:pic>
        <p:nvPicPr>
          <p:cNvPr id="13" name="Picture 12" descr="A line of blue and white envelopes&#10;&#10;AI-generated content may be incorrect.">
            <a:extLst>
              <a:ext uri="{FF2B5EF4-FFF2-40B4-BE49-F238E27FC236}">
                <a16:creationId xmlns:a16="http://schemas.microsoft.com/office/drawing/2014/main" id="{1F39163F-7290-CEA8-9A14-14134D335365}"/>
              </a:ext>
            </a:extLst>
          </p:cNvPr>
          <p:cNvPicPr>
            <a:picLocks noChangeAspect="1"/>
          </p:cNvPicPr>
          <p:nvPr/>
        </p:nvPicPr>
        <p:blipFill>
          <a:blip r:embed="rId6"/>
          <a:stretch>
            <a:fillRect/>
          </a:stretch>
        </p:blipFill>
        <p:spPr>
          <a:xfrm>
            <a:off x="6304660" y="2425581"/>
            <a:ext cx="5249926" cy="871979"/>
          </a:xfrm>
          <a:prstGeom prst="rect">
            <a:avLst/>
          </a:prstGeom>
        </p:spPr>
      </p:pic>
      <p:sp>
        <p:nvSpPr>
          <p:cNvPr id="15" name="Rectangle 14">
            <a:extLst>
              <a:ext uri="{FF2B5EF4-FFF2-40B4-BE49-F238E27FC236}">
                <a16:creationId xmlns:a16="http://schemas.microsoft.com/office/drawing/2014/main" id="{97424130-AC9A-412F-EA14-9F007BAA1B2E}"/>
              </a:ext>
            </a:extLst>
          </p:cNvPr>
          <p:cNvSpPr/>
          <p:nvPr/>
        </p:nvSpPr>
        <p:spPr>
          <a:xfrm>
            <a:off x="637414" y="4130458"/>
            <a:ext cx="5230562" cy="830824"/>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In a synchronous model, the client calls a service and waits for its reply before moving on. This request/response style is easy to understand and implement, but it ties the availability and performance of the client to the service it depends on.</a:t>
            </a:r>
          </a:p>
        </p:txBody>
      </p:sp>
      <p:sp>
        <p:nvSpPr>
          <p:cNvPr id="17" name="Rectangle 16">
            <a:extLst>
              <a:ext uri="{FF2B5EF4-FFF2-40B4-BE49-F238E27FC236}">
                <a16:creationId xmlns:a16="http://schemas.microsoft.com/office/drawing/2014/main" id="{D81909A3-FD21-A9F2-9911-1DE5D5D6A673}"/>
              </a:ext>
            </a:extLst>
          </p:cNvPr>
          <p:cNvSpPr/>
          <p:nvPr/>
        </p:nvSpPr>
        <p:spPr>
          <a:xfrm>
            <a:off x="6304660" y="4130458"/>
            <a:ext cx="5249926" cy="830824"/>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In an asynchronous model, a producer sends a message or event to a broker, which then distributes it to interested consumers. The producer does not wait for a reply, which allows services to be more resilient and scalable, but also introduces delays and eventual consistency.</a:t>
            </a:r>
          </a:p>
        </p:txBody>
      </p:sp>
      <p:sp>
        <p:nvSpPr>
          <p:cNvPr id="20" name="Rectangle 19">
            <a:extLst>
              <a:ext uri="{FF2B5EF4-FFF2-40B4-BE49-F238E27FC236}">
                <a16:creationId xmlns:a16="http://schemas.microsoft.com/office/drawing/2014/main" id="{A44F78AB-B9A8-ABEB-68B0-80DD9190949E}"/>
              </a:ext>
            </a:extLst>
          </p:cNvPr>
          <p:cNvSpPr/>
          <p:nvPr/>
        </p:nvSpPr>
        <p:spPr>
          <a:xfrm>
            <a:off x="553336" y="895546"/>
            <a:ext cx="5463416" cy="4348802"/>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22" name="Rectangle 21">
            <a:extLst>
              <a:ext uri="{FF2B5EF4-FFF2-40B4-BE49-F238E27FC236}">
                <a16:creationId xmlns:a16="http://schemas.microsoft.com/office/drawing/2014/main" id="{6FE7B58D-7D49-26E2-27C8-D89B435BCADD}"/>
              </a:ext>
            </a:extLst>
          </p:cNvPr>
          <p:cNvSpPr/>
          <p:nvPr/>
        </p:nvSpPr>
        <p:spPr>
          <a:xfrm>
            <a:off x="538480" y="1002225"/>
            <a:ext cx="2349500"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200" b="1" dirty="0">
                <a:latin typeface="Calibri (Body)"/>
              </a:rPr>
              <a:t>Synchronous Communication</a:t>
            </a:r>
          </a:p>
        </p:txBody>
      </p:sp>
      <p:sp>
        <p:nvSpPr>
          <p:cNvPr id="23" name="Rectangle 22">
            <a:extLst>
              <a:ext uri="{FF2B5EF4-FFF2-40B4-BE49-F238E27FC236}">
                <a16:creationId xmlns:a16="http://schemas.microsoft.com/office/drawing/2014/main" id="{9B202C0D-6DA0-96D6-9891-1E434FEB5E15}"/>
              </a:ext>
            </a:extLst>
          </p:cNvPr>
          <p:cNvSpPr/>
          <p:nvPr/>
        </p:nvSpPr>
        <p:spPr>
          <a:xfrm>
            <a:off x="6175246" y="1002225"/>
            <a:ext cx="2349500"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200" b="1" dirty="0" err="1">
                <a:latin typeface="Calibri (Body)"/>
              </a:rPr>
              <a:t>Asnchronous</a:t>
            </a:r>
            <a:r>
              <a:rPr lang="en-BE" sz="1200" b="1" dirty="0">
                <a:latin typeface="Calibri (Body)"/>
              </a:rPr>
              <a:t> Communication</a:t>
            </a:r>
          </a:p>
        </p:txBody>
      </p:sp>
      <p:grpSp>
        <p:nvGrpSpPr>
          <p:cNvPr id="29" name="Group 28">
            <a:extLst>
              <a:ext uri="{FF2B5EF4-FFF2-40B4-BE49-F238E27FC236}">
                <a16:creationId xmlns:a16="http://schemas.microsoft.com/office/drawing/2014/main" id="{47017511-932E-CA65-0C10-66B89B7D770B}"/>
              </a:ext>
            </a:extLst>
          </p:cNvPr>
          <p:cNvGrpSpPr/>
          <p:nvPr/>
        </p:nvGrpSpPr>
        <p:grpSpPr>
          <a:xfrm>
            <a:off x="325146" y="5362981"/>
            <a:ext cx="11361576" cy="1273489"/>
            <a:chOff x="325146" y="5362981"/>
            <a:chExt cx="11361576" cy="1273489"/>
          </a:xfrm>
        </p:grpSpPr>
        <p:sp>
          <p:nvSpPr>
            <p:cNvPr id="25" name="Rectangle 24">
              <a:extLst>
                <a:ext uri="{FF2B5EF4-FFF2-40B4-BE49-F238E27FC236}">
                  <a16:creationId xmlns:a16="http://schemas.microsoft.com/office/drawing/2014/main" id="{AF3AFFA3-E702-2F72-59E4-DE4BC1C2C0E8}"/>
                </a:ext>
              </a:extLst>
            </p:cNvPr>
            <p:cNvSpPr/>
            <p:nvPr/>
          </p:nvSpPr>
          <p:spPr>
            <a:xfrm>
              <a:off x="553336" y="5591170"/>
              <a:ext cx="11133386" cy="1045300"/>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i="1" dirty="0">
                  <a:solidFill>
                    <a:schemeClr val="tx1"/>
                  </a:solidFill>
                  <a:latin typeface="Calibri (Body)"/>
                </a:rPr>
                <a:t>Microservices must communicate to work together. Sometimes a direct request/response is needed for immediate results, while in other cases events and messages allow systems to stay decoupled and resilient. In practice, both models are combined to achieve flexibility and reliability.</a:t>
              </a:r>
            </a:p>
          </p:txBody>
        </p:sp>
        <p:pic>
          <p:nvPicPr>
            <p:cNvPr id="28" name="Graphic 27" descr="Megaphone with solid fill">
              <a:extLst>
                <a:ext uri="{FF2B5EF4-FFF2-40B4-BE49-F238E27FC236}">
                  <a16:creationId xmlns:a16="http://schemas.microsoft.com/office/drawing/2014/main" id="{78EA102B-C100-4A18-A358-CD90F2DB259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5146" y="5362981"/>
              <a:ext cx="456378" cy="456378"/>
            </a:xfrm>
            <a:prstGeom prst="rect">
              <a:avLst/>
            </a:prstGeom>
          </p:spPr>
        </p:pic>
      </p:grpSp>
    </p:spTree>
    <p:extLst>
      <p:ext uri="{BB962C8B-B14F-4D97-AF65-F5344CB8AC3E}">
        <p14:creationId xmlns:p14="http://schemas.microsoft.com/office/powerpoint/2010/main" val="2895119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26681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6" name="Picture 105">
            <a:extLst>
              <a:ext uri="{FF2B5EF4-FFF2-40B4-BE49-F238E27FC236}">
                <a16:creationId xmlns:a16="http://schemas.microsoft.com/office/drawing/2014/main" id="{78748CC5-0BC3-3D0C-AA98-4AC63BAA7E8D}"/>
              </a:ext>
            </a:extLst>
          </p:cNvPr>
          <p:cNvPicPr>
            <a:picLocks noChangeAspect="1"/>
          </p:cNvPicPr>
          <p:nvPr/>
        </p:nvPicPr>
        <p:blipFill>
          <a:blip r:embed="rId5"/>
          <a:stretch>
            <a:fillRect/>
          </a:stretch>
        </p:blipFill>
        <p:spPr>
          <a:xfrm>
            <a:off x="841080" y="2706870"/>
            <a:ext cx="4346826" cy="2740022"/>
          </a:xfrm>
          <a:prstGeom prst="rect">
            <a:avLst/>
          </a:prstGeom>
        </p:spPr>
      </p:pic>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5. Synchronous Communication</a:t>
            </a:r>
          </a:p>
        </p:txBody>
      </p:sp>
      <p:grpSp>
        <p:nvGrpSpPr>
          <p:cNvPr id="3" name="Group 2">
            <a:extLst>
              <a:ext uri="{FF2B5EF4-FFF2-40B4-BE49-F238E27FC236}">
                <a16:creationId xmlns:a16="http://schemas.microsoft.com/office/drawing/2014/main" id="{1A91F294-8BB1-47FD-5C2E-AD23A20AC44A}"/>
              </a:ext>
            </a:extLst>
          </p:cNvPr>
          <p:cNvGrpSpPr/>
          <p:nvPr/>
        </p:nvGrpSpPr>
        <p:grpSpPr>
          <a:xfrm>
            <a:off x="553336" y="868345"/>
            <a:ext cx="11133386" cy="768874"/>
            <a:chOff x="553336" y="868345"/>
            <a:chExt cx="11133386" cy="768874"/>
          </a:xfrm>
        </p:grpSpPr>
        <p:sp>
          <p:nvSpPr>
            <p:cNvPr id="6" name="Rectangle 5">
              <a:extLst>
                <a:ext uri="{FF2B5EF4-FFF2-40B4-BE49-F238E27FC236}">
                  <a16:creationId xmlns:a16="http://schemas.microsoft.com/office/drawing/2014/main" id="{BF6B7B85-F9F6-4677-032E-05CA5186CBCD}"/>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i="1" dirty="0">
                  <a:solidFill>
                    <a:schemeClr val="tx1"/>
                  </a:solidFill>
                  <a:latin typeface="Calibri (Body)"/>
                </a:rPr>
                <a:t>When a customer places an order, the Order Service synchronously checks product stock and validates client information with the respective services before confirming and saving the order.</a:t>
              </a:r>
            </a:p>
          </p:txBody>
        </p:sp>
        <p:sp>
          <p:nvSpPr>
            <p:cNvPr id="11" name="TextBox 10">
              <a:extLst>
                <a:ext uri="{FF2B5EF4-FFF2-40B4-BE49-F238E27FC236}">
                  <a16:creationId xmlns:a16="http://schemas.microsoft.com/office/drawing/2014/main" id="{F85E4719-F6F0-27FE-ECC7-E836C57011A9}"/>
                </a:ext>
              </a:extLst>
            </p:cNvPr>
            <p:cNvSpPr txBox="1"/>
            <p:nvPr/>
          </p:nvSpPr>
          <p:spPr>
            <a:xfrm>
              <a:off x="635387" y="868345"/>
              <a:ext cx="690493" cy="261610"/>
            </a:xfrm>
            <a:prstGeom prst="rect">
              <a:avLst/>
            </a:prstGeom>
            <a:solidFill>
              <a:schemeClr val="bg1"/>
            </a:solidFill>
          </p:spPr>
          <p:txBody>
            <a:bodyPr wrap="square">
              <a:spAutoFit/>
            </a:bodyPr>
            <a:lstStyle/>
            <a:p>
              <a:r>
                <a:rPr lang="en-BE" sz="1050" i="1" dirty="0">
                  <a:latin typeface="Calibri (Body)"/>
                </a:rPr>
                <a:t>example</a:t>
              </a:r>
            </a:p>
          </p:txBody>
        </p:sp>
      </p:grpSp>
      <p:sp>
        <p:nvSpPr>
          <p:cNvPr id="12" name="Rectangle 11">
            <a:extLst>
              <a:ext uri="{FF2B5EF4-FFF2-40B4-BE49-F238E27FC236}">
                <a16:creationId xmlns:a16="http://schemas.microsoft.com/office/drawing/2014/main" id="{AADA3CE8-EE49-4BD1-F9E8-E85D9469299D}"/>
              </a:ext>
            </a:extLst>
          </p:cNvPr>
          <p:cNvSpPr/>
          <p:nvPr/>
        </p:nvSpPr>
        <p:spPr>
          <a:xfrm>
            <a:off x="553336" y="1766032"/>
            <a:ext cx="4838424" cy="4900986"/>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grpSp>
        <p:nvGrpSpPr>
          <p:cNvPr id="101" name="Group 100">
            <a:extLst>
              <a:ext uri="{FF2B5EF4-FFF2-40B4-BE49-F238E27FC236}">
                <a16:creationId xmlns:a16="http://schemas.microsoft.com/office/drawing/2014/main" id="{0FB67FB7-CD66-57BF-3A2D-C6E7DE5796C9}"/>
              </a:ext>
            </a:extLst>
          </p:cNvPr>
          <p:cNvGrpSpPr/>
          <p:nvPr/>
        </p:nvGrpSpPr>
        <p:grpSpPr>
          <a:xfrm>
            <a:off x="5473810" y="2021518"/>
            <a:ext cx="3033582" cy="558850"/>
            <a:chOff x="5473810" y="2021518"/>
            <a:chExt cx="3033582" cy="558850"/>
          </a:xfrm>
        </p:grpSpPr>
        <p:sp>
          <p:nvSpPr>
            <p:cNvPr id="28" name="Rectangle 27">
              <a:extLst>
                <a:ext uri="{FF2B5EF4-FFF2-40B4-BE49-F238E27FC236}">
                  <a16:creationId xmlns:a16="http://schemas.microsoft.com/office/drawing/2014/main" id="{3AB25A5C-A6E8-DB4B-48D2-64C19195E81C}"/>
                </a:ext>
              </a:extLst>
            </p:cNvPr>
            <p:cNvSpPr/>
            <p:nvPr/>
          </p:nvSpPr>
          <p:spPr>
            <a:xfrm>
              <a:off x="5566408" y="2129519"/>
              <a:ext cx="2940984" cy="45084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User (Client) sends a request through the application interface to place a new order.</a:t>
              </a:r>
            </a:p>
          </p:txBody>
        </p:sp>
        <p:sp>
          <p:nvSpPr>
            <p:cNvPr id="26" name="Oval 25">
              <a:extLst>
                <a:ext uri="{FF2B5EF4-FFF2-40B4-BE49-F238E27FC236}">
                  <a16:creationId xmlns:a16="http://schemas.microsoft.com/office/drawing/2014/main" id="{786162E5-D0DE-2ED4-4F89-995E11CA5169}"/>
                </a:ext>
              </a:extLst>
            </p:cNvPr>
            <p:cNvSpPr>
              <a:spLocks noChangeAspect="1"/>
            </p:cNvSpPr>
            <p:nvPr/>
          </p:nvSpPr>
          <p:spPr>
            <a:xfrm>
              <a:off x="5473810" y="202151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1</a:t>
              </a:r>
            </a:p>
          </p:txBody>
        </p:sp>
      </p:grpSp>
      <p:grpSp>
        <p:nvGrpSpPr>
          <p:cNvPr id="52" name="Group 51">
            <a:extLst>
              <a:ext uri="{FF2B5EF4-FFF2-40B4-BE49-F238E27FC236}">
                <a16:creationId xmlns:a16="http://schemas.microsoft.com/office/drawing/2014/main" id="{668F0B9B-53B4-E3A8-DCA9-D1122E7F72F3}"/>
              </a:ext>
            </a:extLst>
          </p:cNvPr>
          <p:cNvGrpSpPr/>
          <p:nvPr/>
        </p:nvGrpSpPr>
        <p:grpSpPr>
          <a:xfrm>
            <a:off x="5473810" y="2715774"/>
            <a:ext cx="3033582" cy="558850"/>
            <a:chOff x="5473810" y="2741075"/>
            <a:chExt cx="3033582" cy="558850"/>
          </a:xfrm>
        </p:grpSpPr>
        <p:sp>
          <p:nvSpPr>
            <p:cNvPr id="34" name="Rectangle 33">
              <a:extLst>
                <a:ext uri="{FF2B5EF4-FFF2-40B4-BE49-F238E27FC236}">
                  <a16:creationId xmlns:a16="http://schemas.microsoft.com/office/drawing/2014/main" id="{95378530-D12E-15A4-82A1-CBD159113CD6}"/>
                </a:ext>
              </a:extLst>
            </p:cNvPr>
            <p:cNvSpPr/>
            <p:nvPr/>
          </p:nvSpPr>
          <p:spPr>
            <a:xfrm>
              <a:off x="5566408" y="2849076"/>
              <a:ext cx="2940984" cy="45084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API Gateway forwards the request to the Order Service. The user receives a response.</a:t>
              </a:r>
            </a:p>
          </p:txBody>
        </p:sp>
        <p:sp>
          <p:nvSpPr>
            <p:cNvPr id="35" name="Oval 34">
              <a:extLst>
                <a:ext uri="{FF2B5EF4-FFF2-40B4-BE49-F238E27FC236}">
                  <a16:creationId xmlns:a16="http://schemas.microsoft.com/office/drawing/2014/main" id="{7AAD961A-D31D-8F59-C9D9-49DD67A9F395}"/>
                </a:ext>
              </a:extLst>
            </p:cNvPr>
            <p:cNvSpPr>
              <a:spLocks noChangeAspect="1"/>
            </p:cNvSpPr>
            <p:nvPr/>
          </p:nvSpPr>
          <p:spPr>
            <a:xfrm>
              <a:off x="5473810" y="2741075"/>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2</a:t>
              </a:r>
            </a:p>
          </p:txBody>
        </p:sp>
      </p:grpSp>
      <p:grpSp>
        <p:nvGrpSpPr>
          <p:cNvPr id="100" name="Group 99">
            <a:extLst>
              <a:ext uri="{FF2B5EF4-FFF2-40B4-BE49-F238E27FC236}">
                <a16:creationId xmlns:a16="http://schemas.microsoft.com/office/drawing/2014/main" id="{267DBB05-D157-3D73-2719-FEB0BCE5A56B}"/>
              </a:ext>
            </a:extLst>
          </p:cNvPr>
          <p:cNvGrpSpPr/>
          <p:nvPr/>
        </p:nvGrpSpPr>
        <p:grpSpPr>
          <a:xfrm>
            <a:off x="5473810" y="3410030"/>
            <a:ext cx="3033582" cy="666851"/>
            <a:chOff x="5473810" y="3656178"/>
            <a:chExt cx="3033582" cy="666851"/>
          </a:xfrm>
        </p:grpSpPr>
        <p:sp>
          <p:nvSpPr>
            <p:cNvPr id="37" name="Rectangle 36">
              <a:extLst>
                <a:ext uri="{FF2B5EF4-FFF2-40B4-BE49-F238E27FC236}">
                  <a16:creationId xmlns:a16="http://schemas.microsoft.com/office/drawing/2014/main" id="{2CEDFC4D-9BEC-CD03-9596-8361FFD21522}"/>
                </a:ext>
              </a:extLst>
            </p:cNvPr>
            <p:cNvSpPr/>
            <p:nvPr/>
          </p:nvSpPr>
          <p:spPr>
            <a:xfrm>
              <a:off x="5566408" y="3764179"/>
              <a:ext cx="2940984" cy="55885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Order Service checks product stock by making a synchronous request to the Product Service and waits for the response.</a:t>
              </a:r>
            </a:p>
          </p:txBody>
        </p:sp>
        <p:sp>
          <p:nvSpPr>
            <p:cNvPr id="38" name="Oval 37">
              <a:extLst>
                <a:ext uri="{FF2B5EF4-FFF2-40B4-BE49-F238E27FC236}">
                  <a16:creationId xmlns:a16="http://schemas.microsoft.com/office/drawing/2014/main" id="{C1816B8B-1F78-2164-0591-42AD54DAA20C}"/>
                </a:ext>
              </a:extLst>
            </p:cNvPr>
            <p:cNvSpPr>
              <a:spLocks noChangeAspect="1"/>
            </p:cNvSpPr>
            <p:nvPr/>
          </p:nvSpPr>
          <p:spPr>
            <a:xfrm>
              <a:off x="5473810" y="365617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3</a:t>
              </a:r>
            </a:p>
          </p:txBody>
        </p:sp>
      </p:grpSp>
      <p:grpSp>
        <p:nvGrpSpPr>
          <p:cNvPr id="99" name="Group 98">
            <a:extLst>
              <a:ext uri="{FF2B5EF4-FFF2-40B4-BE49-F238E27FC236}">
                <a16:creationId xmlns:a16="http://schemas.microsoft.com/office/drawing/2014/main" id="{158241D1-EBB1-1E89-BBFB-59708414DB60}"/>
              </a:ext>
            </a:extLst>
          </p:cNvPr>
          <p:cNvGrpSpPr/>
          <p:nvPr/>
        </p:nvGrpSpPr>
        <p:grpSpPr>
          <a:xfrm>
            <a:off x="5473810" y="4212287"/>
            <a:ext cx="3033582" cy="727973"/>
            <a:chOff x="5473810" y="4473508"/>
            <a:chExt cx="3033582" cy="727973"/>
          </a:xfrm>
        </p:grpSpPr>
        <p:sp>
          <p:nvSpPr>
            <p:cNvPr id="40" name="Rectangle 39">
              <a:extLst>
                <a:ext uri="{FF2B5EF4-FFF2-40B4-BE49-F238E27FC236}">
                  <a16:creationId xmlns:a16="http://schemas.microsoft.com/office/drawing/2014/main" id="{A9A886BD-CA84-1320-8E49-469378BC655B}"/>
                </a:ext>
              </a:extLst>
            </p:cNvPr>
            <p:cNvSpPr/>
            <p:nvPr/>
          </p:nvSpPr>
          <p:spPr>
            <a:xfrm>
              <a:off x="5566408" y="4581509"/>
              <a:ext cx="2940984" cy="619972"/>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Order Service validates customer details by synchronously calling the Client Service to confirm the customer exists and is valid.</a:t>
              </a:r>
            </a:p>
          </p:txBody>
        </p:sp>
        <p:sp>
          <p:nvSpPr>
            <p:cNvPr id="41" name="Oval 40">
              <a:extLst>
                <a:ext uri="{FF2B5EF4-FFF2-40B4-BE49-F238E27FC236}">
                  <a16:creationId xmlns:a16="http://schemas.microsoft.com/office/drawing/2014/main" id="{B56BA8C2-2A42-9293-BACE-5577E93B2FEF}"/>
                </a:ext>
              </a:extLst>
            </p:cNvPr>
            <p:cNvSpPr>
              <a:spLocks noChangeAspect="1"/>
            </p:cNvSpPr>
            <p:nvPr/>
          </p:nvSpPr>
          <p:spPr>
            <a:xfrm>
              <a:off x="5473810" y="447350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4</a:t>
              </a:r>
            </a:p>
          </p:txBody>
        </p:sp>
      </p:grpSp>
      <p:grpSp>
        <p:nvGrpSpPr>
          <p:cNvPr id="98" name="Group 97">
            <a:extLst>
              <a:ext uri="{FF2B5EF4-FFF2-40B4-BE49-F238E27FC236}">
                <a16:creationId xmlns:a16="http://schemas.microsoft.com/office/drawing/2014/main" id="{08CEDF72-56C7-52AC-43EE-04982C3A5C82}"/>
              </a:ext>
            </a:extLst>
          </p:cNvPr>
          <p:cNvGrpSpPr/>
          <p:nvPr/>
        </p:nvGrpSpPr>
        <p:grpSpPr>
          <a:xfrm>
            <a:off x="5473810" y="5075666"/>
            <a:ext cx="3033582" cy="727973"/>
            <a:chOff x="5473810" y="5290838"/>
            <a:chExt cx="3033582" cy="727973"/>
          </a:xfrm>
        </p:grpSpPr>
        <p:sp>
          <p:nvSpPr>
            <p:cNvPr id="43" name="Rectangle 42">
              <a:extLst>
                <a:ext uri="{FF2B5EF4-FFF2-40B4-BE49-F238E27FC236}">
                  <a16:creationId xmlns:a16="http://schemas.microsoft.com/office/drawing/2014/main" id="{CEA65B44-9BF2-FDA0-4E84-3F402EB33861}"/>
                </a:ext>
              </a:extLst>
            </p:cNvPr>
            <p:cNvSpPr/>
            <p:nvPr/>
          </p:nvSpPr>
          <p:spPr>
            <a:xfrm>
              <a:off x="5566408" y="5398839"/>
              <a:ext cx="2940984" cy="619972"/>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Order Service returns the confirmation response to the API Gateway,</a:t>
              </a:r>
            </a:p>
          </p:txBody>
        </p:sp>
        <p:sp>
          <p:nvSpPr>
            <p:cNvPr id="44" name="Oval 43">
              <a:extLst>
                <a:ext uri="{FF2B5EF4-FFF2-40B4-BE49-F238E27FC236}">
                  <a16:creationId xmlns:a16="http://schemas.microsoft.com/office/drawing/2014/main" id="{C807CC5A-BC15-E79E-2497-A613D88D22FD}"/>
                </a:ext>
              </a:extLst>
            </p:cNvPr>
            <p:cNvSpPr>
              <a:spLocks noChangeAspect="1"/>
            </p:cNvSpPr>
            <p:nvPr/>
          </p:nvSpPr>
          <p:spPr>
            <a:xfrm>
              <a:off x="5473810" y="529083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5</a:t>
              </a:r>
            </a:p>
          </p:txBody>
        </p:sp>
      </p:grpSp>
      <p:grpSp>
        <p:nvGrpSpPr>
          <p:cNvPr id="97" name="Group 96">
            <a:extLst>
              <a:ext uri="{FF2B5EF4-FFF2-40B4-BE49-F238E27FC236}">
                <a16:creationId xmlns:a16="http://schemas.microsoft.com/office/drawing/2014/main" id="{4786C195-5FF4-CF17-A952-766A8A1CE302}"/>
              </a:ext>
            </a:extLst>
          </p:cNvPr>
          <p:cNvGrpSpPr/>
          <p:nvPr/>
        </p:nvGrpSpPr>
        <p:grpSpPr>
          <a:xfrm>
            <a:off x="5473810" y="5939045"/>
            <a:ext cx="3033582" cy="727973"/>
            <a:chOff x="5473810" y="6108168"/>
            <a:chExt cx="3033582" cy="727973"/>
          </a:xfrm>
        </p:grpSpPr>
        <p:sp>
          <p:nvSpPr>
            <p:cNvPr id="46" name="Rectangle 45">
              <a:extLst>
                <a:ext uri="{FF2B5EF4-FFF2-40B4-BE49-F238E27FC236}">
                  <a16:creationId xmlns:a16="http://schemas.microsoft.com/office/drawing/2014/main" id="{93C8E4B3-5DE0-6C6F-3C97-A18866EDCB53}"/>
                </a:ext>
              </a:extLst>
            </p:cNvPr>
            <p:cNvSpPr/>
            <p:nvPr/>
          </p:nvSpPr>
          <p:spPr>
            <a:xfrm>
              <a:off x="5566408" y="6216169"/>
              <a:ext cx="2940984" cy="619972"/>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API Gateway returns the confirmation to the user, completing the request/response cycle.</a:t>
              </a:r>
            </a:p>
          </p:txBody>
        </p:sp>
        <p:sp>
          <p:nvSpPr>
            <p:cNvPr id="47" name="Oval 46">
              <a:extLst>
                <a:ext uri="{FF2B5EF4-FFF2-40B4-BE49-F238E27FC236}">
                  <a16:creationId xmlns:a16="http://schemas.microsoft.com/office/drawing/2014/main" id="{ECC22D03-90F8-15E1-F494-643F1A89E797}"/>
                </a:ext>
              </a:extLst>
            </p:cNvPr>
            <p:cNvSpPr>
              <a:spLocks noChangeAspect="1"/>
            </p:cNvSpPr>
            <p:nvPr/>
          </p:nvSpPr>
          <p:spPr>
            <a:xfrm>
              <a:off x="5473810" y="610816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6</a:t>
              </a:r>
            </a:p>
          </p:txBody>
        </p:sp>
      </p:grpSp>
      <p:grpSp>
        <p:nvGrpSpPr>
          <p:cNvPr id="48" name="Group 47">
            <a:extLst>
              <a:ext uri="{FF2B5EF4-FFF2-40B4-BE49-F238E27FC236}">
                <a16:creationId xmlns:a16="http://schemas.microsoft.com/office/drawing/2014/main" id="{8DD7075E-FCD6-1F08-5A9D-1A17ED588AD5}"/>
              </a:ext>
            </a:extLst>
          </p:cNvPr>
          <p:cNvGrpSpPr/>
          <p:nvPr/>
        </p:nvGrpSpPr>
        <p:grpSpPr>
          <a:xfrm>
            <a:off x="5473810" y="1656519"/>
            <a:ext cx="2750930" cy="307777"/>
            <a:chOff x="7448309" y="802039"/>
            <a:chExt cx="2750930" cy="307777"/>
          </a:xfrm>
        </p:grpSpPr>
        <p:sp>
          <p:nvSpPr>
            <p:cNvPr id="49" name="TextBox 48">
              <a:extLst>
                <a:ext uri="{FF2B5EF4-FFF2-40B4-BE49-F238E27FC236}">
                  <a16:creationId xmlns:a16="http://schemas.microsoft.com/office/drawing/2014/main" id="{70AF5412-977B-44D9-FC80-4BBDAD73FFE1}"/>
                </a:ext>
              </a:extLst>
            </p:cNvPr>
            <p:cNvSpPr txBox="1"/>
            <p:nvPr/>
          </p:nvSpPr>
          <p:spPr>
            <a:xfrm>
              <a:off x="7448309" y="802039"/>
              <a:ext cx="2750930" cy="307777"/>
            </a:xfrm>
            <a:prstGeom prst="rect">
              <a:avLst/>
            </a:prstGeom>
            <a:noFill/>
          </p:spPr>
          <p:txBody>
            <a:bodyPr wrap="square">
              <a:spAutoFit/>
            </a:bodyPr>
            <a:lstStyle/>
            <a:p>
              <a:r>
                <a:rPr lang="en-BE" sz="1400" b="1" dirty="0">
                  <a:latin typeface="Calibri (Body)"/>
                </a:rPr>
                <a:t>Description</a:t>
              </a:r>
            </a:p>
          </p:txBody>
        </p:sp>
        <p:cxnSp>
          <p:nvCxnSpPr>
            <p:cNvPr id="50" name="Straight Connector 49">
              <a:extLst>
                <a:ext uri="{FF2B5EF4-FFF2-40B4-BE49-F238E27FC236}">
                  <a16:creationId xmlns:a16="http://schemas.microsoft.com/office/drawing/2014/main" id="{6792D452-8A6C-5BE2-12CD-16EFBFA8B4B9}"/>
                </a:ext>
              </a:extLst>
            </p:cNvPr>
            <p:cNvCxnSpPr/>
            <p:nvPr/>
          </p:nvCxnSpPr>
          <p:spPr>
            <a:xfrm>
              <a:off x="7556934" y="107425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nvGrpSpPr>
          <p:cNvPr id="67" name="Group 66">
            <a:extLst>
              <a:ext uri="{FF2B5EF4-FFF2-40B4-BE49-F238E27FC236}">
                <a16:creationId xmlns:a16="http://schemas.microsoft.com/office/drawing/2014/main" id="{E4FE8EB1-399D-1D73-9418-A168D0F61AB1}"/>
              </a:ext>
            </a:extLst>
          </p:cNvPr>
          <p:cNvGrpSpPr/>
          <p:nvPr/>
        </p:nvGrpSpPr>
        <p:grpSpPr>
          <a:xfrm>
            <a:off x="8599990" y="1656519"/>
            <a:ext cx="2750930" cy="307777"/>
            <a:chOff x="8599990" y="1656519"/>
            <a:chExt cx="2750930" cy="307777"/>
          </a:xfrm>
        </p:grpSpPr>
        <p:sp>
          <p:nvSpPr>
            <p:cNvPr id="58" name="TextBox 57">
              <a:extLst>
                <a:ext uri="{FF2B5EF4-FFF2-40B4-BE49-F238E27FC236}">
                  <a16:creationId xmlns:a16="http://schemas.microsoft.com/office/drawing/2014/main" id="{73A8C2ED-5CFA-B513-7F8B-5ECFE04A9383}"/>
                </a:ext>
              </a:extLst>
            </p:cNvPr>
            <p:cNvSpPr txBox="1"/>
            <p:nvPr/>
          </p:nvSpPr>
          <p:spPr>
            <a:xfrm>
              <a:off x="8599990" y="1656519"/>
              <a:ext cx="2750930" cy="307777"/>
            </a:xfrm>
            <a:prstGeom prst="rect">
              <a:avLst/>
            </a:prstGeom>
            <a:noFill/>
          </p:spPr>
          <p:txBody>
            <a:bodyPr wrap="square">
              <a:spAutoFit/>
            </a:bodyPr>
            <a:lstStyle/>
            <a:p>
              <a:r>
                <a:rPr lang="en-BE" sz="1400" b="1" dirty="0">
                  <a:latin typeface="Calibri (Body)"/>
                </a:rPr>
                <a:t>Pros</a:t>
              </a:r>
            </a:p>
          </p:txBody>
        </p:sp>
        <p:cxnSp>
          <p:nvCxnSpPr>
            <p:cNvPr id="59" name="Straight Connector 58">
              <a:extLst>
                <a:ext uri="{FF2B5EF4-FFF2-40B4-BE49-F238E27FC236}">
                  <a16:creationId xmlns:a16="http://schemas.microsoft.com/office/drawing/2014/main" id="{53DA4644-222A-1BA4-C407-226D59C5CCBD}"/>
                </a:ext>
              </a:extLst>
            </p:cNvPr>
            <p:cNvCxnSpPr>
              <a:cxnSpLocks/>
            </p:cNvCxnSpPr>
            <p:nvPr/>
          </p:nvCxnSpPr>
          <p:spPr>
            <a:xfrm>
              <a:off x="8708615" y="1928736"/>
              <a:ext cx="272825" cy="0"/>
            </a:xfrm>
            <a:prstGeom prst="line">
              <a:avLst/>
            </a:prstGeom>
            <a:ln w="25400">
              <a:solidFill>
                <a:srgbClr val="00B050"/>
              </a:solidFill>
            </a:ln>
          </p:spPr>
          <p:style>
            <a:lnRef idx="2">
              <a:schemeClr val="accent1"/>
            </a:lnRef>
            <a:fillRef idx="0">
              <a:schemeClr val="accent1"/>
            </a:fillRef>
            <a:effectRef idx="1">
              <a:schemeClr val="accent1"/>
            </a:effectRef>
            <a:fontRef idx="minor">
              <a:schemeClr val="tx1"/>
            </a:fontRef>
          </p:style>
        </p:cxnSp>
      </p:grpSp>
      <p:sp>
        <p:nvSpPr>
          <p:cNvPr id="60" name="Rectangle 59">
            <a:extLst>
              <a:ext uri="{FF2B5EF4-FFF2-40B4-BE49-F238E27FC236}">
                <a16:creationId xmlns:a16="http://schemas.microsoft.com/office/drawing/2014/main" id="{FB387406-09D9-C69D-6FD3-8A7175C68976}"/>
              </a:ext>
            </a:extLst>
          </p:cNvPr>
          <p:cNvSpPr/>
          <p:nvPr/>
        </p:nvSpPr>
        <p:spPr>
          <a:xfrm>
            <a:off x="8668302" y="2129520"/>
            <a:ext cx="3001960" cy="1947362"/>
          </a:xfrm>
          <a:prstGeom prst="rect">
            <a:avLst/>
          </a:prstGeom>
          <a:noFill/>
          <a:ln w="127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BE" sz="1200" dirty="0">
                <a:solidFill>
                  <a:schemeClr val="tx1"/>
                </a:solidFill>
                <a:latin typeface="Calibri (Body)"/>
              </a:rPr>
              <a:t>Simple &amp; familiar (HTTP/REST, </a:t>
            </a:r>
            <a:r>
              <a:rPr lang="en-BE" sz="1200" dirty="0" err="1">
                <a:solidFill>
                  <a:schemeClr val="tx1"/>
                </a:solidFill>
                <a:latin typeface="Calibri (Body)"/>
              </a:rPr>
              <a:t>gRPC</a:t>
            </a:r>
            <a:r>
              <a:rPr lang="en-BE" sz="1200" dirty="0">
                <a:solidFill>
                  <a:schemeClr val="tx1"/>
                </a:solidFill>
                <a:latin typeface="Calibri (Body)"/>
              </a:rPr>
              <a:t>).</a:t>
            </a:r>
          </a:p>
          <a:p>
            <a:pPr marL="171450" indent="-171450" algn="just">
              <a:buFont typeface="Arial" panose="020B0604020202020204" pitchFamily="34" charset="0"/>
              <a:buChar char="•"/>
            </a:pPr>
            <a:r>
              <a:rPr lang="en-BE" sz="1200" dirty="0">
                <a:solidFill>
                  <a:schemeClr val="tx1"/>
                </a:solidFill>
                <a:latin typeface="Calibri (Body)"/>
              </a:rPr>
              <a:t>Immediate result for the caller (easy UX).</a:t>
            </a:r>
          </a:p>
          <a:p>
            <a:pPr marL="171450" indent="-171450" algn="just">
              <a:buFont typeface="Arial" panose="020B0604020202020204" pitchFamily="34" charset="0"/>
              <a:buChar char="•"/>
            </a:pPr>
            <a:r>
              <a:rPr lang="en-BE" sz="1200" dirty="0">
                <a:solidFill>
                  <a:schemeClr val="tx1"/>
                </a:solidFill>
                <a:latin typeface="Calibri (Body)"/>
              </a:rPr>
              <a:t>Easier debugging with clear request/response trace.</a:t>
            </a:r>
          </a:p>
          <a:p>
            <a:pPr marL="171450" indent="-171450" algn="just">
              <a:buFont typeface="Arial" panose="020B0604020202020204" pitchFamily="34" charset="0"/>
              <a:buChar char="•"/>
            </a:pPr>
            <a:r>
              <a:rPr lang="en-BE" sz="1200" dirty="0">
                <a:solidFill>
                  <a:schemeClr val="tx1"/>
                </a:solidFill>
                <a:latin typeface="Calibri (Body)"/>
              </a:rPr>
              <a:t>Good fit for reads and operations needing instant confirmation.</a:t>
            </a:r>
          </a:p>
        </p:txBody>
      </p:sp>
      <p:grpSp>
        <p:nvGrpSpPr>
          <p:cNvPr id="68" name="Group 67">
            <a:extLst>
              <a:ext uri="{FF2B5EF4-FFF2-40B4-BE49-F238E27FC236}">
                <a16:creationId xmlns:a16="http://schemas.microsoft.com/office/drawing/2014/main" id="{077C8554-5ADC-C0E3-5215-F133C5DAE9DD}"/>
              </a:ext>
            </a:extLst>
          </p:cNvPr>
          <p:cNvGrpSpPr/>
          <p:nvPr/>
        </p:nvGrpSpPr>
        <p:grpSpPr>
          <a:xfrm>
            <a:off x="8599990" y="4196160"/>
            <a:ext cx="2750930" cy="307777"/>
            <a:chOff x="8599990" y="4256479"/>
            <a:chExt cx="2750930" cy="307777"/>
          </a:xfrm>
        </p:grpSpPr>
        <p:sp>
          <p:nvSpPr>
            <p:cNvPr id="63" name="TextBox 62">
              <a:extLst>
                <a:ext uri="{FF2B5EF4-FFF2-40B4-BE49-F238E27FC236}">
                  <a16:creationId xmlns:a16="http://schemas.microsoft.com/office/drawing/2014/main" id="{6670EE35-5165-652C-BC5D-32A70AFD5F61}"/>
                </a:ext>
              </a:extLst>
            </p:cNvPr>
            <p:cNvSpPr txBox="1"/>
            <p:nvPr/>
          </p:nvSpPr>
          <p:spPr>
            <a:xfrm>
              <a:off x="8599990" y="4256479"/>
              <a:ext cx="2750930" cy="307777"/>
            </a:xfrm>
            <a:prstGeom prst="rect">
              <a:avLst/>
            </a:prstGeom>
            <a:noFill/>
          </p:spPr>
          <p:txBody>
            <a:bodyPr wrap="square">
              <a:spAutoFit/>
            </a:bodyPr>
            <a:lstStyle/>
            <a:p>
              <a:r>
                <a:rPr lang="en-BE" sz="1400" b="1" dirty="0">
                  <a:latin typeface="Calibri (Body)"/>
                </a:rPr>
                <a:t>Cons</a:t>
              </a:r>
            </a:p>
          </p:txBody>
        </p:sp>
        <p:cxnSp>
          <p:nvCxnSpPr>
            <p:cNvPr id="64" name="Straight Connector 63">
              <a:extLst>
                <a:ext uri="{FF2B5EF4-FFF2-40B4-BE49-F238E27FC236}">
                  <a16:creationId xmlns:a16="http://schemas.microsoft.com/office/drawing/2014/main" id="{4981B142-5F5B-049B-0E71-9205A298A23C}"/>
                </a:ext>
              </a:extLst>
            </p:cNvPr>
            <p:cNvCxnSpPr>
              <a:cxnSpLocks/>
            </p:cNvCxnSpPr>
            <p:nvPr/>
          </p:nvCxnSpPr>
          <p:spPr>
            <a:xfrm>
              <a:off x="8708615" y="4528696"/>
              <a:ext cx="272825"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71" name="Rectangle 70">
            <a:extLst>
              <a:ext uri="{FF2B5EF4-FFF2-40B4-BE49-F238E27FC236}">
                <a16:creationId xmlns:a16="http://schemas.microsoft.com/office/drawing/2014/main" id="{B522AFBB-50EB-01A9-B3BE-B15F87BF8A75}"/>
              </a:ext>
            </a:extLst>
          </p:cNvPr>
          <p:cNvSpPr/>
          <p:nvPr/>
        </p:nvSpPr>
        <p:spPr>
          <a:xfrm>
            <a:off x="8682040" y="4581509"/>
            <a:ext cx="3001960" cy="2085509"/>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BE" sz="1200" dirty="0">
                <a:solidFill>
                  <a:schemeClr val="tx1"/>
                </a:solidFill>
                <a:latin typeface="Calibri (Body)"/>
              </a:rPr>
              <a:t>Tight runtime coupling — caller depends on callee’s availability.</a:t>
            </a:r>
          </a:p>
          <a:p>
            <a:pPr marL="171450" indent="-171450" algn="just">
              <a:buFont typeface="Arial" panose="020B0604020202020204" pitchFamily="34" charset="0"/>
              <a:buChar char="•"/>
            </a:pPr>
            <a:r>
              <a:rPr lang="en-BE" sz="1200" dirty="0">
                <a:solidFill>
                  <a:schemeClr val="tx1"/>
                </a:solidFill>
                <a:latin typeface="Calibri (Body)"/>
              </a:rPr>
              <a:t>Cascading failures and latency amplify across call chains.</a:t>
            </a:r>
          </a:p>
          <a:p>
            <a:pPr marL="171450" indent="-171450" algn="just">
              <a:buFont typeface="Arial" panose="020B0604020202020204" pitchFamily="34" charset="0"/>
              <a:buChar char="•"/>
            </a:pPr>
            <a:r>
              <a:rPr lang="en-BE" sz="1200" dirty="0">
                <a:solidFill>
                  <a:schemeClr val="tx1"/>
                </a:solidFill>
                <a:latin typeface="Calibri (Body)"/>
              </a:rPr>
              <a:t>Scalability limits (hard to absorb spikes; caller blocks).</a:t>
            </a:r>
          </a:p>
          <a:p>
            <a:pPr marL="171450" indent="-171450" algn="just">
              <a:buFont typeface="Arial" panose="020B0604020202020204" pitchFamily="34" charset="0"/>
              <a:buChar char="•"/>
            </a:pPr>
            <a:r>
              <a:rPr lang="en-BE" sz="1200" dirty="0">
                <a:solidFill>
                  <a:schemeClr val="tx1"/>
                </a:solidFill>
                <a:latin typeface="Calibri (Body)"/>
              </a:rPr>
              <a:t>Chatty networks increase overhead and cost.</a:t>
            </a:r>
          </a:p>
          <a:p>
            <a:pPr marL="171450" indent="-171450" algn="just">
              <a:buFont typeface="Arial" panose="020B0604020202020204" pitchFamily="34" charset="0"/>
              <a:buChar char="•"/>
            </a:pPr>
            <a:r>
              <a:rPr lang="en-BE" sz="1200" dirty="0">
                <a:solidFill>
                  <a:schemeClr val="tx1"/>
                </a:solidFill>
                <a:latin typeface="Calibri (Body)"/>
              </a:rPr>
              <a:t>Retry/timeout complexity to stay reliable.</a:t>
            </a:r>
          </a:p>
        </p:txBody>
      </p:sp>
      <p:grpSp>
        <p:nvGrpSpPr>
          <p:cNvPr id="31" name="Group 30">
            <a:extLst>
              <a:ext uri="{FF2B5EF4-FFF2-40B4-BE49-F238E27FC236}">
                <a16:creationId xmlns:a16="http://schemas.microsoft.com/office/drawing/2014/main" id="{58B6D86A-9ADA-E764-97D5-E0C7B968DF14}"/>
              </a:ext>
            </a:extLst>
          </p:cNvPr>
          <p:cNvGrpSpPr/>
          <p:nvPr/>
        </p:nvGrpSpPr>
        <p:grpSpPr>
          <a:xfrm>
            <a:off x="1130060" y="3680132"/>
            <a:ext cx="586597" cy="289227"/>
            <a:chOff x="1130060" y="3680132"/>
            <a:chExt cx="586597" cy="289227"/>
          </a:xfrm>
        </p:grpSpPr>
        <p:sp>
          <p:nvSpPr>
            <p:cNvPr id="18" name="Oval 17">
              <a:extLst>
                <a:ext uri="{FF2B5EF4-FFF2-40B4-BE49-F238E27FC236}">
                  <a16:creationId xmlns:a16="http://schemas.microsoft.com/office/drawing/2014/main" id="{AE10E295-036B-F188-C419-C9D23AA8C687}"/>
                </a:ext>
              </a:extLst>
            </p:cNvPr>
            <p:cNvSpPr>
              <a:spLocks noChangeAspect="1"/>
            </p:cNvSpPr>
            <p:nvPr/>
          </p:nvSpPr>
          <p:spPr>
            <a:xfrm>
              <a:off x="1297750" y="3680132"/>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1</a:t>
              </a:r>
            </a:p>
          </p:txBody>
        </p:sp>
        <p:cxnSp>
          <p:nvCxnSpPr>
            <p:cNvPr id="7" name="Straight Arrow Connector 6">
              <a:extLst>
                <a:ext uri="{FF2B5EF4-FFF2-40B4-BE49-F238E27FC236}">
                  <a16:creationId xmlns:a16="http://schemas.microsoft.com/office/drawing/2014/main" id="{C715ACEB-CA9A-851E-29D3-06478C6ED8D1}"/>
                </a:ext>
              </a:extLst>
            </p:cNvPr>
            <p:cNvCxnSpPr>
              <a:cxnSpLocks/>
            </p:cNvCxnSpPr>
            <p:nvPr/>
          </p:nvCxnSpPr>
          <p:spPr>
            <a:xfrm>
              <a:off x="1130060" y="3969359"/>
              <a:ext cx="586597"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E16F0F26-7A4A-6248-0182-FD32BDB0CCFE}"/>
              </a:ext>
            </a:extLst>
          </p:cNvPr>
          <p:cNvGrpSpPr/>
          <p:nvPr/>
        </p:nvGrpSpPr>
        <p:grpSpPr>
          <a:xfrm>
            <a:off x="2407223" y="3680132"/>
            <a:ext cx="941767" cy="289227"/>
            <a:chOff x="2407223" y="3680132"/>
            <a:chExt cx="941767" cy="289227"/>
          </a:xfrm>
        </p:grpSpPr>
        <p:sp>
          <p:nvSpPr>
            <p:cNvPr id="20" name="Oval 19">
              <a:extLst>
                <a:ext uri="{FF2B5EF4-FFF2-40B4-BE49-F238E27FC236}">
                  <a16:creationId xmlns:a16="http://schemas.microsoft.com/office/drawing/2014/main" id="{5EFD2CE0-4BE7-1EF3-F6CE-C07A0D1778B6}"/>
                </a:ext>
              </a:extLst>
            </p:cNvPr>
            <p:cNvSpPr>
              <a:spLocks noChangeAspect="1"/>
            </p:cNvSpPr>
            <p:nvPr/>
          </p:nvSpPr>
          <p:spPr>
            <a:xfrm>
              <a:off x="2484522" y="3680132"/>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2</a:t>
              </a:r>
            </a:p>
          </p:txBody>
        </p:sp>
        <p:cxnSp>
          <p:nvCxnSpPr>
            <p:cNvPr id="8" name="Straight Arrow Connector 7">
              <a:extLst>
                <a:ext uri="{FF2B5EF4-FFF2-40B4-BE49-F238E27FC236}">
                  <a16:creationId xmlns:a16="http://schemas.microsoft.com/office/drawing/2014/main" id="{42577D6C-BBE7-ECA4-CD62-A46E0972E526}"/>
                </a:ext>
              </a:extLst>
            </p:cNvPr>
            <p:cNvCxnSpPr>
              <a:cxnSpLocks/>
            </p:cNvCxnSpPr>
            <p:nvPr/>
          </p:nvCxnSpPr>
          <p:spPr>
            <a:xfrm>
              <a:off x="2407223" y="3969359"/>
              <a:ext cx="941767"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6217E0B6-60C5-04A7-6CA9-D3D9D52283ED}"/>
              </a:ext>
            </a:extLst>
          </p:cNvPr>
          <p:cNvGrpSpPr/>
          <p:nvPr/>
        </p:nvGrpSpPr>
        <p:grpSpPr>
          <a:xfrm>
            <a:off x="3876564" y="3157979"/>
            <a:ext cx="346907" cy="650450"/>
            <a:chOff x="3876564" y="3157979"/>
            <a:chExt cx="346907" cy="650450"/>
          </a:xfrm>
        </p:grpSpPr>
        <p:sp>
          <p:nvSpPr>
            <p:cNvPr id="22" name="Oval 21">
              <a:extLst>
                <a:ext uri="{FF2B5EF4-FFF2-40B4-BE49-F238E27FC236}">
                  <a16:creationId xmlns:a16="http://schemas.microsoft.com/office/drawing/2014/main" id="{4A7D9385-F17E-E641-FA80-2BD52E516B1C}"/>
                </a:ext>
              </a:extLst>
            </p:cNvPr>
            <p:cNvSpPr>
              <a:spLocks noChangeAspect="1"/>
            </p:cNvSpPr>
            <p:nvPr/>
          </p:nvSpPr>
          <p:spPr>
            <a:xfrm>
              <a:off x="3876564" y="3297581"/>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3</a:t>
              </a:r>
            </a:p>
          </p:txBody>
        </p:sp>
        <p:cxnSp>
          <p:nvCxnSpPr>
            <p:cNvPr id="9" name="Straight Arrow Connector 8">
              <a:extLst>
                <a:ext uri="{FF2B5EF4-FFF2-40B4-BE49-F238E27FC236}">
                  <a16:creationId xmlns:a16="http://schemas.microsoft.com/office/drawing/2014/main" id="{3E3DC730-370A-A561-9CCE-1006718263FE}"/>
                </a:ext>
              </a:extLst>
            </p:cNvPr>
            <p:cNvCxnSpPr>
              <a:cxnSpLocks/>
            </p:cNvCxnSpPr>
            <p:nvPr/>
          </p:nvCxnSpPr>
          <p:spPr>
            <a:xfrm flipV="1">
              <a:off x="4223471" y="3157979"/>
              <a:ext cx="0" cy="65045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grpSp>
        <p:nvGrpSpPr>
          <p:cNvPr id="36" name="Group 35">
            <a:extLst>
              <a:ext uri="{FF2B5EF4-FFF2-40B4-BE49-F238E27FC236}">
                <a16:creationId xmlns:a16="http://schemas.microsoft.com/office/drawing/2014/main" id="{F432E33B-1485-CC1D-84CC-20ACB3DF3523}"/>
              </a:ext>
            </a:extLst>
          </p:cNvPr>
          <p:cNvGrpSpPr/>
          <p:nvPr/>
        </p:nvGrpSpPr>
        <p:grpSpPr>
          <a:xfrm>
            <a:off x="3876564" y="4221133"/>
            <a:ext cx="346907" cy="789017"/>
            <a:chOff x="3876564" y="4221133"/>
            <a:chExt cx="346907" cy="789017"/>
          </a:xfrm>
        </p:grpSpPr>
        <p:sp>
          <p:nvSpPr>
            <p:cNvPr id="91" name="Oval 90">
              <a:extLst>
                <a:ext uri="{FF2B5EF4-FFF2-40B4-BE49-F238E27FC236}">
                  <a16:creationId xmlns:a16="http://schemas.microsoft.com/office/drawing/2014/main" id="{58BC5805-6B9B-15E7-E1C8-043DDEC20ECE}"/>
                </a:ext>
              </a:extLst>
            </p:cNvPr>
            <p:cNvSpPr>
              <a:spLocks noChangeAspect="1"/>
            </p:cNvSpPr>
            <p:nvPr/>
          </p:nvSpPr>
          <p:spPr>
            <a:xfrm>
              <a:off x="3876564" y="4530376"/>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4</a:t>
              </a:r>
            </a:p>
          </p:txBody>
        </p:sp>
        <p:cxnSp>
          <p:nvCxnSpPr>
            <p:cNvPr id="15" name="Straight Arrow Connector 14">
              <a:extLst>
                <a:ext uri="{FF2B5EF4-FFF2-40B4-BE49-F238E27FC236}">
                  <a16:creationId xmlns:a16="http://schemas.microsoft.com/office/drawing/2014/main" id="{8B0BF585-7F65-54F5-96E6-3DF682F49155}"/>
                </a:ext>
              </a:extLst>
            </p:cNvPr>
            <p:cNvCxnSpPr>
              <a:cxnSpLocks/>
            </p:cNvCxnSpPr>
            <p:nvPr/>
          </p:nvCxnSpPr>
          <p:spPr>
            <a:xfrm>
              <a:off x="4223471" y="4221133"/>
              <a:ext cx="0" cy="789017"/>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5FF432AF-C300-672B-13BF-F9E6F917F8FA}"/>
              </a:ext>
            </a:extLst>
          </p:cNvPr>
          <p:cNvGrpSpPr/>
          <p:nvPr/>
        </p:nvGrpSpPr>
        <p:grpSpPr>
          <a:xfrm>
            <a:off x="2407223" y="4175392"/>
            <a:ext cx="941767" cy="282656"/>
            <a:chOff x="2407223" y="4175392"/>
            <a:chExt cx="941767" cy="282656"/>
          </a:xfrm>
        </p:grpSpPr>
        <p:sp>
          <p:nvSpPr>
            <p:cNvPr id="92" name="Oval 91">
              <a:extLst>
                <a:ext uri="{FF2B5EF4-FFF2-40B4-BE49-F238E27FC236}">
                  <a16:creationId xmlns:a16="http://schemas.microsoft.com/office/drawing/2014/main" id="{81B384E2-A7EB-5483-006C-6B7594B42669}"/>
                </a:ext>
              </a:extLst>
            </p:cNvPr>
            <p:cNvSpPr>
              <a:spLocks noChangeAspect="1"/>
            </p:cNvSpPr>
            <p:nvPr/>
          </p:nvSpPr>
          <p:spPr>
            <a:xfrm>
              <a:off x="2484522" y="424204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5</a:t>
              </a:r>
            </a:p>
          </p:txBody>
        </p:sp>
        <p:cxnSp>
          <p:nvCxnSpPr>
            <p:cNvPr id="23" name="Straight Arrow Connector 22">
              <a:extLst>
                <a:ext uri="{FF2B5EF4-FFF2-40B4-BE49-F238E27FC236}">
                  <a16:creationId xmlns:a16="http://schemas.microsoft.com/office/drawing/2014/main" id="{93C69747-49E1-6E55-8165-A03F23CDAE05}"/>
                </a:ext>
              </a:extLst>
            </p:cNvPr>
            <p:cNvCxnSpPr>
              <a:cxnSpLocks/>
            </p:cNvCxnSpPr>
            <p:nvPr/>
          </p:nvCxnSpPr>
          <p:spPr>
            <a:xfrm flipH="1">
              <a:off x="2407223" y="4175392"/>
              <a:ext cx="941767"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D9680E22-44D1-CBE3-29FE-3886D60170C4}"/>
              </a:ext>
            </a:extLst>
          </p:cNvPr>
          <p:cNvGrpSpPr/>
          <p:nvPr/>
        </p:nvGrpSpPr>
        <p:grpSpPr>
          <a:xfrm>
            <a:off x="1151332" y="4175392"/>
            <a:ext cx="565325" cy="293067"/>
            <a:chOff x="1151332" y="4175392"/>
            <a:chExt cx="565325" cy="293067"/>
          </a:xfrm>
        </p:grpSpPr>
        <p:sp>
          <p:nvSpPr>
            <p:cNvPr id="93" name="Oval 92">
              <a:extLst>
                <a:ext uri="{FF2B5EF4-FFF2-40B4-BE49-F238E27FC236}">
                  <a16:creationId xmlns:a16="http://schemas.microsoft.com/office/drawing/2014/main" id="{97A0C4C8-218E-134C-69DA-5B8CA33949DB}"/>
                </a:ext>
              </a:extLst>
            </p:cNvPr>
            <p:cNvSpPr>
              <a:spLocks noChangeAspect="1"/>
            </p:cNvSpPr>
            <p:nvPr/>
          </p:nvSpPr>
          <p:spPr>
            <a:xfrm>
              <a:off x="1293785" y="4252459"/>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6</a:t>
              </a:r>
            </a:p>
          </p:txBody>
        </p:sp>
        <p:cxnSp>
          <p:nvCxnSpPr>
            <p:cNvPr id="29" name="Straight Arrow Connector 28">
              <a:extLst>
                <a:ext uri="{FF2B5EF4-FFF2-40B4-BE49-F238E27FC236}">
                  <a16:creationId xmlns:a16="http://schemas.microsoft.com/office/drawing/2014/main" id="{B78454A1-967D-F9FA-46CA-C8E2B76D0267}"/>
                </a:ext>
              </a:extLst>
            </p:cNvPr>
            <p:cNvCxnSpPr>
              <a:cxnSpLocks/>
            </p:cNvCxnSpPr>
            <p:nvPr/>
          </p:nvCxnSpPr>
          <p:spPr>
            <a:xfrm flipH="1">
              <a:off x="1151332" y="4175392"/>
              <a:ext cx="565325"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8476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0" grpId="0" animBg="1"/>
      <p:bldP spid="7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3653087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0" name="Picture 89">
            <a:extLst>
              <a:ext uri="{FF2B5EF4-FFF2-40B4-BE49-F238E27FC236}">
                <a16:creationId xmlns:a16="http://schemas.microsoft.com/office/drawing/2014/main" id="{5A027F7B-32B6-6C70-AA9B-BAA39ADB309D}"/>
              </a:ext>
            </a:extLst>
          </p:cNvPr>
          <p:cNvPicPr>
            <a:picLocks noChangeAspect="1"/>
          </p:cNvPicPr>
          <p:nvPr/>
        </p:nvPicPr>
        <p:blipFill>
          <a:blip r:embed="rId5"/>
          <a:stretch>
            <a:fillRect/>
          </a:stretch>
        </p:blipFill>
        <p:spPr>
          <a:xfrm>
            <a:off x="654101" y="2913000"/>
            <a:ext cx="4636894" cy="2027387"/>
          </a:xfrm>
          <a:prstGeom prst="rect">
            <a:avLst/>
          </a:prstGeom>
        </p:spPr>
      </p:pic>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6. Asynchronous Communication</a:t>
            </a:r>
          </a:p>
        </p:txBody>
      </p:sp>
      <p:grpSp>
        <p:nvGrpSpPr>
          <p:cNvPr id="3" name="Group 2">
            <a:extLst>
              <a:ext uri="{FF2B5EF4-FFF2-40B4-BE49-F238E27FC236}">
                <a16:creationId xmlns:a16="http://schemas.microsoft.com/office/drawing/2014/main" id="{5AD3F980-69AC-AB40-17D8-7567737986EC}"/>
              </a:ext>
            </a:extLst>
          </p:cNvPr>
          <p:cNvGrpSpPr/>
          <p:nvPr/>
        </p:nvGrpSpPr>
        <p:grpSpPr>
          <a:xfrm>
            <a:off x="553336" y="868345"/>
            <a:ext cx="11133386" cy="768874"/>
            <a:chOff x="553336" y="868345"/>
            <a:chExt cx="11133386" cy="768874"/>
          </a:xfrm>
        </p:grpSpPr>
        <p:sp>
          <p:nvSpPr>
            <p:cNvPr id="6" name="Rectangle 5">
              <a:extLst>
                <a:ext uri="{FF2B5EF4-FFF2-40B4-BE49-F238E27FC236}">
                  <a16:creationId xmlns:a16="http://schemas.microsoft.com/office/drawing/2014/main" id="{BF6B7B85-F9F6-4677-032E-05CA5186CBCD}"/>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i="1" dirty="0">
                  <a:solidFill>
                    <a:schemeClr val="tx1"/>
                  </a:solidFill>
                  <a:latin typeface="Calibri (Body)"/>
                </a:rPr>
                <a:t>When a customer places an order, the Order Service asynchronously checks product stock and validates client information with the respective services before confirming and saving the order.</a:t>
              </a:r>
            </a:p>
          </p:txBody>
        </p:sp>
        <p:sp>
          <p:nvSpPr>
            <p:cNvPr id="11" name="TextBox 10">
              <a:extLst>
                <a:ext uri="{FF2B5EF4-FFF2-40B4-BE49-F238E27FC236}">
                  <a16:creationId xmlns:a16="http://schemas.microsoft.com/office/drawing/2014/main" id="{F85E4719-F6F0-27FE-ECC7-E836C57011A9}"/>
                </a:ext>
              </a:extLst>
            </p:cNvPr>
            <p:cNvSpPr txBox="1"/>
            <p:nvPr/>
          </p:nvSpPr>
          <p:spPr>
            <a:xfrm>
              <a:off x="635387" y="868345"/>
              <a:ext cx="690493" cy="261610"/>
            </a:xfrm>
            <a:prstGeom prst="rect">
              <a:avLst/>
            </a:prstGeom>
            <a:solidFill>
              <a:schemeClr val="bg1"/>
            </a:solidFill>
          </p:spPr>
          <p:txBody>
            <a:bodyPr wrap="square">
              <a:spAutoFit/>
            </a:bodyPr>
            <a:lstStyle/>
            <a:p>
              <a:r>
                <a:rPr lang="en-BE" sz="1050" i="1" dirty="0">
                  <a:latin typeface="Calibri (Body)"/>
                </a:rPr>
                <a:t>example</a:t>
              </a:r>
            </a:p>
          </p:txBody>
        </p:sp>
      </p:grpSp>
      <p:sp>
        <p:nvSpPr>
          <p:cNvPr id="12" name="Rectangle 11">
            <a:extLst>
              <a:ext uri="{FF2B5EF4-FFF2-40B4-BE49-F238E27FC236}">
                <a16:creationId xmlns:a16="http://schemas.microsoft.com/office/drawing/2014/main" id="{AADA3CE8-EE49-4BD1-F9E8-E85D9469299D}"/>
              </a:ext>
            </a:extLst>
          </p:cNvPr>
          <p:cNvSpPr/>
          <p:nvPr/>
        </p:nvSpPr>
        <p:spPr>
          <a:xfrm>
            <a:off x="553336" y="1766032"/>
            <a:ext cx="4838424" cy="4900986"/>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grpSp>
        <p:nvGrpSpPr>
          <p:cNvPr id="101" name="Group 100">
            <a:extLst>
              <a:ext uri="{FF2B5EF4-FFF2-40B4-BE49-F238E27FC236}">
                <a16:creationId xmlns:a16="http://schemas.microsoft.com/office/drawing/2014/main" id="{0FB67FB7-CD66-57BF-3A2D-C6E7DE5796C9}"/>
              </a:ext>
            </a:extLst>
          </p:cNvPr>
          <p:cNvGrpSpPr/>
          <p:nvPr/>
        </p:nvGrpSpPr>
        <p:grpSpPr>
          <a:xfrm>
            <a:off x="5473810" y="2021518"/>
            <a:ext cx="3033582" cy="558850"/>
            <a:chOff x="5473810" y="2021518"/>
            <a:chExt cx="3033582" cy="558850"/>
          </a:xfrm>
        </p:grpSpPr>
        <p:sp>
          <p:nvSpPr>
            <p:cNvPr id="28" name="Rectangle 27">
              <a:extLst>
                <a:ext uri="{FF2B5EF4-FFF2-40B4-BE49-F238E27FC236}">
                  <a16:creationId xmlns:a16="http://schemas.microsoft.com/office/drawing/2014/main" id="{3AB25A5C-A6E8-DB4B-48D2-64C19195E81C}"/>
                </a:ext>
              </a:extLst>
            </p:cNvPr>
            <p:cNvSpPr/>
            <p:nvPr/>
          </p:nvSpPr>
          <p:spPr>
            <a:xfrm>
              <a:off x="5566408" y="2129519"/>
              <a:ext cx="2940984" cy="45084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User (Client) sends a request through the application interface to place a new order.</a:t>
              </a:r>
            </a:p>
          </p:txBody>
        </p:sp>
        <p:sp>
          <p:nvSpPr>
            <p:cNvPr id="26" name="Oval 25">
              <a:extLst>
                <a:ext uri="{FF2B5EF4-FFF2-40B4-BE49-F238E27FC236}">
                  <a16:creationId xmlns:a16="http://schemas.microsoft.com/office/drawing/2014/main" id="{786162E5-D0DE-2ED4-4F89-995E11CA5169}"/>
                </a:ext>
              </a:extLst>
            </p:cNvPr>
            <p:cNvSpPr>
              <a:spLocks noChangeAspect="1"/>
            </p:cNvSpPr>
            <p:nvPr/>
          </p:nvSpPr>
          <p:spPr>
            <a:xfrm>
              <a:off x="5473810" y="202151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1</a:t>
              </a:r>
            </a:p>
          </p:txBody>
        </p:sp>
      </p:grpSp>
      <p:grpSp>
        <p:nvGrpSpPr>
          <p:cNvPr id="52" name="Group 51">
            <a:extLst>
              <a:ext uri="{FF2B5EF4-FFF2-40B4-BE49-F238E27FC236}">
                <a16:creationId xmlns:a16="http://schemas.microsoft.com/office/drawing/2014/main" id="{668F0B9B-53B4-E3A8-DCA9-D1122E7F72F3}"/>
              </a:ext>
            </a:extLst>
          </p:cNvPr>
          <p:cNvGrpSpPr/>
          <p:nvPr/>
        </p:nvGrpSpPr>
        <p:grpSpPr>
          <a:xfrm>
            <a:off x="5473810" y="3518031"/>
            <a:ext cx="3033582" cy="558850"/>
            <a:chOff x="5473810" y="2741075"/>
            <a:chExt cx="3033582" cy="558850"/>
          </a:xfrm>
        </p:grpSpPr>
        <p:sp>
          <p:nvSpPr>
            <p:cNvPr id="34" name="Rectangle 33">
              <a:extLst>
                <a:ext uri="{FF2B5EF4-FFF2-40B4-BE49-F238E27FC236}">
                  <a16:creationId xmlns:a16="http://schemas.microsoft.com/office/drawing/2014/main" id="{95378530-D12E-15A4-82A1-CBD159113CD6}"/>
                </a:ext>
              </a:extLst>
            </p:cNvPr>
            <p:cNvSpPr/>
            <p:nvPr/>
          </p:nvSpPr>
          <p:spPr>
            <a:xfrm>
              <a:off x="5566408" y="2849076"/>
              <a:ext cx="2940984" cy="45084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API Gateway forwards the request to the Order Service. The user receives a response.</a:t>
              </a:r>
            </a:p>
          </p:txBody>
        </p:sp>
        <p:sp>
          <p:nvSpPr>
            <p:cNvPr id="35" name="Oval 34">
              <a:extLst>
                <a:ext uri="{FF2B5EF4-FFF2-40B4-BE49-F238E27FC236}">
                  <a16:creationId xmlns:a16="http://schemas.microsoft.com/office/drawing/2014/main" id="{7AAD961A-D31D-8F59-C9D9-49DD67A9F395}"/>
                </a:ext>
              </a:extLst>
            </p:cNvPr>
            <p:cNvSpPr>
              <a:spLocks noChangeAspect="1"/>
            </p:cNvSpPr>
            <p:nvPr/>
          </p:nvSpPr>
          <p:spPr>
            <a:xfrm>
              <a:off x="5473810" y="2741075"/>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3</a:t>
              </a:r>
              <a:endParaRPr lang="en-BE" sz="1200" b="1" dirty="0">
                <a:solidFill>
                  <a:schemeClr val="tx1"/>
                </a:solidFill>
              </a:endParaRPr>
            </a:p>
          </p:txBody>
        </p:sp>
      </p:grpSp>
      <p:grpSp>
        <p:nvGrpSpPr>
          <p:cNvPr id="100" name="Group 99">
            <a:extLst>
              <a:ext uri="{FF2B5EF4-FFF2-40B4-BE49-F238E27FC236}">
                <a16:creationId xmlns:a16="http://schemas.microsoft.com/office/drawing/2014/main" id="{267DBB05-D157-3D73-2719-FEB0BCE5A56B}"/>
              </a:ext>
            </a:extLst>
          </p:cNvPr>
          <p:cNvGrpSpPr/>
          <p:nvPr/>
        </p:nvGrpSpPr>
        <p:grpSpPr>
          <a:xfrm>
            <a:off x="5473810" y="2715774"/>
            <a:ext cx="3033582" cy="666851"/>
            <a:chOff x="5473810" y="3656178"/>
            <a:chExt cx="3033582" cy="666851"/>
          </a:xfrm>
        </p:grpSpPr>
        <p:sp>
          <p:nvSpPr>
            <p:cNvPr id="37" name="Rectangle 36">
              <a:extLst>
                <a:ext uri="{FF2B5EF4-FFF2-40B4-BE49-F238E27FC236}">
                  <a16:creationId xmlns:a16="http://schemas.microsoft.com/office/drawing/2014/main" id="{2CEDFC4D-9BEC-CD03-9596-8361FFD21522}"/>
                </a:ext>
              </a:extLst>
            </p:cNvPr>
            <p:cNvSpPr/>
            <p:nvPr/>
          </p:nvSpPr>
          <p:spPr>
            <a:xfrm>
              <a:off x="5566408" y="3764179"/>
              <a:ext cx="2940984" cy="55885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Order Service publishes an </a:t>
              </a:r>
              <a:r>
                <a:rPr lang="en-BE" sz="1200" dirty="0" err="1">
                  <a:solidFill>
                    <a:schemeClr val="tx1"/>
                  </a:solidFill>
                  <a:latin typeface="Calibri (Body)"/>
                </a:rPr>
                <a:t>OrderCreated</a:t>
              </a:r>
              <a:r>
                <a:rPr lang="en-BE" sz="1200" dirty="0">
                  <a:solidFill>
                    <a:schemeClr val="tx1"/>
                  </a:solidFill>
                  <a:latin typeface="Calibri (Body)"/>
                </a:rPr>
                <a:t> event to the message broker instead of calling other services directly. </a:t>
              </a:r>
            </a:p>
          </p:txBody>
        </p:sp>
        <p:sp>
          <p:nvSpPr>
            <p:cNvPr id="38" name="Oval 37">
              <a:extLst>
                <a:ext uri="{FF2B5EF4-FFF2-40B4-BE49-F238E27FC236}">
                  <a16:creationId xmlns:a16="http://schemas.microsoft.com/office/drawing/2014/main" id="{C1816B8B-1F78-2164-0591-42AD54DAA20C}"/>
                </a:ext>
              </a:extLst>
            </p:cNvPr>
            <p:cNvSpPr>
              <a:spLocks noChangeAspect="1"/>
            </p:cNvSpPr>
            <p:nvPr/>
          </p:nvSpPr>
          <p:spPr>
            <a:xfrm>
              <a:off x="5473810" y="365617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a:t>
              </a:r>
              <a:endParaRPr lang="en-BE" sz="1200" b="1" dirty="0">
                <a:solidFill>
                  <a:schemeClr val="tx1"/>
                </a:solidFill>
              </a:endParaRPr>
            </a:p>
          </p:txBody>
        </p:sp>
      </p:grpSp>
      <p:grpSp>
        <p:nvGrpSpPr>
          <p:cNvPr id="99" name="Group 98">
            <a:extLst>
              <a:ext uri="{FF2B5EF4-FFF2-40B4-BE49-F238E27FC236}">
                <a16:creationId xmlns:a16="http://schemas.microsoft.com/office/drawing/2014/main" id="{158241D1-EBB1-1E89-BBFB-59708414DB60}"/>
              </a:ext>
            </a:extLst>
          </p:cNvPr>
          <p:cNvGrpSpPr/>
          <p:nvPr/>
        </p:nvGrpSpPr>
        <p:grpSpPr>
          <a:xfrm>
            <a:off x="5473810" y="4212287"/>
            <a:ext cx="3033582" cy="727973"/>
            <a:chOff x="5473810" y="4473508"/>
            <a:chExt cx="3033582" cy="727973"/>
          </a:xfrm>
        </p:grpSpPr>
        <p:sp>
          <p:nvSpPr>
            <p:cNvPr id="40" name="Rectangle 39">
              <a:extLst>
                <a:ext uri="{FF2B5EF4-FFF2-40B4-BE49-F238E27FC236}">
                  <a16:creationId xmlns:a16="http://schemas.microsoft.com/office/drawing/2014/main" id="{A9A886BD-CA84-1320-8E49-469378BC655B}"/>
                </a:ext>
              </a:extLst>
            </p:cNvPr>
            <p:cNvSpPr/>
            <p:nvPr/>
          </p:nvSpPr>
          <p:spPr>
            <a:xfrm>
              <a:off x="5566408" y="4581509"/>
              <a:ext cx="2940984" cy="619972"/>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Product Service consumes the event to check and reserve stock, then publishes a </a:t>
              </a:r>
              <a:r>
                <a:rPr lang="en-BE" sz="1200" dirty="0" err="1">
                  <a:solidFill>
                    <a:schemeClr val="tx1"/>
                  </a:solidFill>
                  <a:latin typeface="Calibri (Body)"/>
                </a:rPr>
                <a:t>StockReserved</a:t>
              </a:r>
              <a:r>
                <a:rPr lang="en-BE" sz="1200" dirty="0">
                  <a:solidFill>
                    <a:schemeClr val="tx1"/>
                  </a:solidFill>
                  <a:latin typeface="Calibri (Body)"/>
                </a:rPr>
                <a:t> or </a:t>
              </a:r>
              <a:r>
                <a:rPr lang="en-BE" sz="1200" dirty="0" err="1">
                  <a:solidFill>
                    <a:schemeClr val="tx1"/>
                  </a:solidFill>
                  <a:latin typeface="Calibri (Body)"/>
                </a:rPr>
                <a:t>StockRejected</a:t>
              </a:r>
              <a:r>
                <a:rPr lang="en-BE" sz="1200" dirty="0">
                  <a:solidFill>
                    <a:schemeClr val="tx1"/>
                  </a:solidFill>
                  <a:latin typeface="Calibri (Body)"/>
                </a:rPr>
                <a:t> event. </a:t>
              </a:r>
            </a:p>
          </p:txBody>
        </p:sp>
        <p:sp>
          <p:nvSpPr>
            <p:cNvPr id="41" name="Oval 40">
              <a:extLst>
                <a:ext uri="{FF2B5EF4-FFF2-40B4-BE49-F238E27FC236}">
                  <a16:creationId xmlns:a16="http://schemas.microsoft.com/office/drawing/2014/main" id="{B56BA8C2-2A42-9293-BACE-5577E93B2FEF}"/>
                </a:ext>
              </a:extLst>
            </p:cNvPr>
            <p:cNvSpPr>
              <a:spLocks noChangeAspect="1"/>
            </p:cNvSpPr>
            <p:nvPr/>
          </p:nvSpPr>
          <p:spPr>
            <a:xfrm>
              <a:off x="5473810" y="447350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4</a:t>
              </a:r>
            </a:p>
          </p:txBody>
        </p:sp>
      </p:grpSp>
      <p:grpSp>
        <p:nvGrpSpPr>
          <p:cNvPr id="98" name="Group 97">
            <a:extLst>
              <a:ext uri="{FF2B5EF4-FFF2-40B4-BE49-F238E27FC236}">
                <a16:creationId xmlns:a16="http://schemas.microsoft.com/office/drawing/2014/main" id="{08CEDF72-56C7-52AC-43EE-04982C3A5C82}"/>
              </a:ext>
            </a:extLst>
          </p:cNvPr>
          <p:cNvGrpSpPr/>
          <p:nvPr/>
        </p:nvGrpSpPr>
        <p:grpSpPr>
          <a:xfrm>
            <a:off x="5473810" y="5075666"/>
            <a:ext cx="3033582" cy="727973"/>
            <a:chOff x="5473810" y="5290838"/>
            <a:chExt cx="3033582" cy="727973"/>
          </a:xfrm>
        </p:grpSpPr>
        <p:sp>
          <p:nvSpPr>
            <p:cNvPr id="43" name="Rectangle 42">
              <a:extLst>
                <a:ext uri="{FF2B5EF4-FFF2-40B4-BE49-F238E27FC236}">
                  <a16:creationId xmlns:a16="http://schemas.microsoft.com/office/drawing/2014/main" id="{CEA65B44-9BF2-FDA0-4E84-3F402EB33861}"/>
                </a:ext>
              </a:extLst>
            </p:cNvPr>
            <p:cNvSpPr/>
            <p:nvPr/>
          </p:nvSpPr>
          <p:spPr>
            <a:xfrm>
              <a:off x="5566408" y="5398839"/>
              <a:ext cx="2940984" cy="619972"/>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Client Service consumes the event to validate customer details and may publish a </a:t>
              </a:r>
              <a:r>
                <a:rPr lang="en-BE" sz="1200" dirty="0" err="1">
                  <a:solidFill>
                    <a:schemeClr val="tx1"/>
                  </a:solidFill>
                  <a:latin typeface="Calibri (Body)"/>
                </a:rPr>
                <a:t>CustomerValidated</a:t>
              </a:r>
              <a:r>
                <a:rPr lang="en-BE" sz="1200" dirty="0">
                  <a:solidFill>
                    <a:schemeClr val="tx1"/>
                  </a:solidFill>
                  <a:latin typeface="Calibri (Body)"/>
                </a:rPr>
                <a:t> or Rejected event. </a:t>
              </a:r>
            </a:p>
          </p:txBody>
        </p:sp>
        <p:sp>
          <p:nvSpPr>
            <p:cNvPr id="44" name="Oval 43">
              <a:extLst>
                <a:ext uri="{FF2B5EF4-FFF2-40B4-BE49-F238E27FC236}">
                  <a16:creationId xmlns:a16="http://schemas.microsoft.com/office/drawing/2014/main" id="{C807CC5A-BC15-E79E-2497-A613D88D22FD}"/>
                </a:ext>
              </a:extLst>
            </p:cNvPr>
            <p:cNvSpPr>
              <a:spLocks noChangeAspect="1"/>
            </p:cNvSpPr>
            <p:nvPr/>
          </p:nvSpPr>
          <p:spPr>
            <a:xfrm>
              <a:off x="5473810" y="529083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5</a:t>
              </a:r>
            </a:p>
          </p:txBody>
        </p:sp>
      </p:grpSp>
      <p:grpSp>
        <p:nvGrpSpPr>
          <p:cNvPr id="97" name="Group 96">
            <a:extLst>
              <a:ext uri="{FF2B5EF4-FFF2-40B4-BE49-F238E27FC236}">
                <a16:creationId xmlns:a16="http://schemas.microsoft.com/office/drawing/2014/main" id="{4786C195-5FF4-CF17-A952-766A8A1CE302}"/>
              </a:ext>
            </a:extLst>
          </p:cNvPr>
          <p:cNvGrpSpPr/>
          <p:nvPr/>
        </p:nvGrpSpPr>
        <p:grpSpPr>
          <a:xfrm>
            <a:off x="5473810" y="5939045"/>
            <a:ext cx="3033582" cy="727973"/>
            <a:chOff x="5473810" y="6108168"/>
            <a:chExt cx="3033582" cy="727973"/>
          </a:xfrm>
        </p:grpSpPr>
        <p:sp>
          <p:nvSpPr>
            <p:cNvPr id="46" name="Rectangle 45">
              <a:extLst>
                <a:ext uri="{FF2B5EF4-FFF2-40B4-BE49-F238E27FC236}">
                  <a16:creationId xmlns:a16="http://schemas.microsoft.com/office/drawing/2014/main" id="{93C8E4B3-5DE0-6C6F-3C97-A18866EDCB53}"/>
                </a:ext>
              </a:extLst>
            </p:cNvPr>
            <p:cNvSpPr/>
            <p:nvPr/>
          </p:nvSpPr>
          <p:spPr>
            <a:xfrm>
              <a:off x="5566408" y="6216169"/>
              <a:ext cx="2940984" cy="619972"/>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Order Service listens for these events from Product and Client, updates the order state, and continues the workflow.</a:t>
              </a:r>
            </a:p>
          </p:txBody>
        </p:sp>
        <p:sp>
          <p:nvSpPr>
            <p:cNvPr id="47" name="Oval 46">
              <a:extLst>
                <a:ext uri="{FF2B5EF4-FFF2-40B4-BE49-F238E27FC236}">
                  <a16:creationId xmlns:a16="http://schemas.microsoft.com/office/drawing/2014/main" id="{ECC22D03-90F8-15E1-F494-643F1A89E797}"/>
                </a:ext>
              </a:extLst>
            </p:cNvPr>
            <p:cNvSpPr>
              <a:spLocks noChangeAspect="1"/>
            </p:cNvSpPr>
            <p:nvPr/>
          </p:nvSpPr>
          <p:spPr>
            <a:xfrm>
              <a:off x="5473810" y="6108168"/>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6</a:t>
              </a:r>
            </a:p>
          </p:txBody>
        </p:sp>
      </p:grpSp>
      <p:grpSp>
        <p:nvGrpSpPr>
          <p:cNvPr id="48" name="Group 47">
            <a:extLst>
              <a:ext uri="{FF2B5EF4-FFF2-40B4-BE49-F238E27FC236}">
                <a16:creationId xmlns:a16="http://schemas.microsoft.com/office/drawing/2014/main" id="{8DD7075E-FCD6-1F08-5A9D-1A17ED588AD5}"/>
              </a:ext>
            </a:extLst>
          </p:cNvPr>
          <p:cNvGrpSpPr/>
          <p:nvPr/>
        </p:nvGrpSpPr>
        <p:grpSpPr>
          <a:xfrm>
            <a:off x="5473810" y="1656519"/>
            <a:ext cx="2750930" cy="307777"/>
            <a:chOff x="7448309" y="802039"/>
            <a:chExt cx="2750930" cy="307777"/>
          </a:xfrm>
        </p:grpSpPr>
        <p:sp>
          <p:nvSpPr>
            <p:cNvPr id="49" name="TextBox 48">
              <a:extLst>
                <a:ext uri="{FF2B5EF4-FFF2-40B4-BE49-F238E27FC236}">
                  <a16:creationId xmlns:a16="http://schemas.microsoft.com/office/drawing/2014/main" id="{70AF5412-977B-44D9-FC80-4BBDAD73FFE1}"/>
                </a:ext>
              </a:extLst>
            </p:cNvPr>
            <p:cNvSpPr txBox="1"/>
            <p:nvPr/>
          </p:nvSpPr>
          <p:spPr>
            <a:xfrm>
              <a:off x="7448309" y="802039"/>
              <a:ext cx="2750930" cy="307777"/>
            </a:xfrm>
            <a:prstGeom prst="rect">
              <a:avLst/>
            </a:prstGeom>
            <a:noFill/>
          </p:spPr>
          <p:txBody>
            <a:bodyPr wrap="square">
              <a:spAutoFit/>
            </a:bodyPr>
            <a:lstStyle/>
            <a:p>
              <a:r>
                <a:rPr lang="en-BE" sz="1400" b="1" dirty="0">
                  <a:latin typeface="Calibri (Body)"/>
                </a:rPr>
                <a:t>Description</a:t>
              </a:r>
            </a:p>
          </p:txBody>
        </p:sp>
        <p:cxnSp>
          <p:nvCxnSpPr>
            <p:cNvPr id="50" name="Straight Connector 49">
              <a:extLst>
                <a:ext uri="{FF2B5EF4-FFF2-40B4-BE49-F238E27FC236}">
                  <a16:creationId xmlns:a16="http://schemas.microsoft.com/office/drawing/2014/main" id="{6792D452-8A6C-5BE2-12CD-16EFBFA8B4B9}"/>
                </a:ext>
              </a:extLst>
            </p:cNvPr>
            <p:cNvCxnSpPr/>
            <p:nvPr/>
          </p:nvCxnSpPr>
          <p:spPr>
            <a:xfrm>
              <a:off x="7556934" y="107425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nvGrpSpPr>
          <p:cNvPr id="67" name="Group 66">
            <a:extLst>
              <a:ext uri="{FF2B5EF4-FFF2-40B4-BE49-F238E27FC236}">
                <a16:creationId xmlns:a16="http://schemas.microsoft.com/office/drawing/2014/main" id="{E4FE8EB1-399D-1D73-9418-A168D0F61AB1}"/>
              </a:ext>
            </a:extLst>
          </p:cNvPr>
          <p:cNvGrpSpPr/>
          <p:nvPr/>
        </p:nvGrpSpPr>
        <p:grpSpPr>
          <a:xfrm>
            <a:off x="8599990" y="1656519"/>
            <a:ext cx="2750930" cy="307777"/>
            <a:chOff x="8599990" y="1656519"/>
            <a:chExt cx="2750930" cy="307777"/>
          </a:xfrm>
        </p:grpSpPr>
        <p:sp>
          <p:nvSpPr>
            <p:cNvPr id="58" name="TextBox 57">
              <a:extLst>
                <a:ext uri="{FF2B5EF4-FFF2-40B4-BE49-F238E27FC236}">
                  <a16:creationId xmlns:a16="http://schemas.microsoft.com/office/drawing/2014/main" id="{73A8C2ED-5CFA-B513-7F8B-5ECFE04A9383}"/>
                </a:ext>
              </a:extLst>
            </p:cNvPr>
            <p:cNvSpPr txBox="1"/>
            <p:nvPr/>
          </p:nvSpPr>
          <p:spPr>
            <a:xfrm>
              <a:off x="8599990" y="1656519"/>
              <a:ext cx="2750930" cy="307777"/>
            </a:xfrm>
            <a:prstGeom prst="rect">
              <a:avLst/>
            </a:prstGeom>
            <a:noFill/>
          </p:spPr>
          <p:txBody>
            <a:bodyPr wrap="square">
              <a:spAutoFit/>
            </a:bodyPr>
            <a:lstStyle/>
            <a:p>
              <a:r>
                <a:rPr lang="en-BE" sz="1400" b="1" dirty="0">
                  <a:latin typeface="Calibri (Body)"/>
                </a:rPr>
                <a:t>Pros</a:t>
              </a:r>
            </a:p>
          </p:txBody>
        </p:sp>
        <p:cxnSp>
          <p:nvCxnSpPr>
            <p:cNvPr id="59" name="Straight Connector 58">
              <a:extLst>
                <a:ext uri="{FF2B5EF4-FFF2-40B4-BE49-F238E27FC236}">
                  <a16:creationId xmlns:a16="http://schemas.microsoft.com/office/drawing/2014/main" id="{53DA4644-222A-1BA4-C407-226D59C5CCBD}"/>
                </a:ext>
              </a:extLst>
            </p:cNvPr>
            <p:cNvCxnSpPr>
              <a:cxnSpLocks/>
            </p:cNvCxnSpPr>
            <p:nvPr/>
          </p:nvCxnSpPr>
          <p:spPr>
            <a:xfrm>
              <a:off x="8708615" y="1928736"/>
              <a:ext cx="272825" cy="0"/>
            </a:xfrm>
            <a:prstGeom prst="line">
              <a:avLst/>
            </a:prstGeom>
            <a:ln w="25400">
              <a:solidFill>
                <a:srgbClr val="00B050"/>
              </a:solidFill>
            </a:ln>
          </p:spPr>
          <p:style>
            <a:lnRef idx="2">
              <a:schemeClr val="accent1"/>
            </a:lnRef>
            <a:fillRef idx="0">
              <a:schemeClr val="accent1"/>
            </a:fillRef>
            <a:effectRef idx="1">
              <a:schemeClr val="accent1"/>
            </a:effectRef>
            <a:fontRef idx="minor">
              <a:schemeClr val="tx1"/>
            </a:fontRef>
          </p:style>
        </p:cxnSp>
      </p:grpSp>
      <p:sp>
        <p:nvSpPr>
          <p:cNvPr id="60" name="Rectangle 59">
            <a:extLst>
              <a:ext uri="{FF2B5EF4-FFF2-40B4-BE49-F238E27FC236}">
                <a16:creationId xmlns:a16="http://schemas.microsoft.com/office/drawing/2014/main" id="{FB387406-09D9-C69D-6FD3-8A7175C68976}"/>
              </a:ext>
            </a:extLst>
          </p:cNvPr>
          <p:cNvSpPr/>
          <p:nvPr/>
        </p:nvSpPr>
        <p:spPr>
          <a:xfrm>
            <a:off x="8668302" y="2129520"/>
            <a:ext cx="3001960" cy="1947362"/>
          </a:xfrm>
          <a:prstGeom prst="rect">
            <a:avLst/>
          </a:prstGeom>
          <a:noFill/>
          <a:ln w="127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BE" sz="1200" dirty="0">
                <a:solidFill>
                  <a:schemeClr val="tx1"/>
                </a:solidFill>
                <a:latin typeface="Calibri (Body)"/>
              </a:rPr>
              <a:t>Loose coupling → services don’t block each other.</a:t>
            </a:r>
          </a:p>
          <a:p>
            <a:pPr marL="171450" indent="-171450" algn="just">
              <a:buFont typeface="Arial" panose="020B0604020202020204" pitchFamily="34" charset="0"/>
              <a:buChar char="•"/>
            </a:pPr>
            <a:r>
              <a:rPr lang="en-BE" sz="1200" dirty="0">
                <a:solidFill>
                  <a:schemeClr val="tx1"/>
                </a:solidFill>
                <a:latin typeface="Calibri (Body)"/>
              </a:rPr>
              <a:t>Scalable &amp; resilient → consumers scale, retries possible.</a:t>
            </a:r>
          </a:p>
          <a:p>
            <a:pPr marL="171450" indent="-171450" algn="just">
              <a:buFont typeface="Arial" panose="020B0604020202020204" pitchFamily="34" charset="0"/>
              <a:buChar char="•"/>
            </a:pPr>
            <a:r>
              <a:rPr lang="en-BE" sz="1200" dirty="0">
                <a:solidFill>
                  <a:schemeClr val="tx1"/>
                </a:solidFill>
                <a:latin typeface="Calibri (Body)"/>
              </a:rPr>
              <a:t>Flexible → easy to add new consumers.</a:t>
            </a:r>
          </a:p>
          <a:p>
            <a:pPr marL="171450" indent="-171450" algn="just">
              <a:buFont typeface="Arial" panose="020B0604020202020204" pitchFamily="34" charset="0"/>
              <a:buChar char="•"/>
            </a:pPr>
            <a:r>
              <a:rPr lang="en-BE" sz="1200" dirty="0">
                <a:solidFill>
                  <a:schemeClr val="tx1"/>
                </a:solidFill>
                <a:latin typeface="Calibri (Body)"/>
              </a:rPr>
              <a:t>Smooths load with message buffering.</a:t>
            </a:r>
          </a:p>
        </p:txBody>
      </p:sp>
      <p:grpSp>
        <p:nvGrpSpPr>
          <p:cNvPr id="68" name="Group 67">
            <a:extLst>
              <a:ext uri="{FF2B5EF4-FFF2-40B4-BE49-F238E27FC236}">
                <a16:creationId xmlns:a16="http://schemas.microsoft.com/office/drawing/2014/main" id="{077C8554-5ADC-C0E3-5215-F133C5DAE9DD}"/>
              </a:ext>
            </a:extLst>
          </p:cNvPr>
          <p:cNvGrpSpPr/>
          <p:nvPr/>
        </p:nvGrpSpPr>
        <p:grpSpPr>
          <a:xfrm>
            <a:off x="8599990" y="4196160"/>
            <a:ext cx="2750930" cy="307777"/>
            <a:chOff x="8599990" y="4256479"/>
            <a:chExt cx="2750930" cy="307777"/>
          </a:xfrm>
        </p:grpSpPr>
        <p:sp>
          <p:nvSpPr>
            <p:cNvPr id="63" name="TextBox 62">
              <a:extLst>
                <a:ext uri="{FF2B5EF4-FFF2-40B4-BE49-F238E27FC236}">
                  <a16:creationId xmlns:a16="http://schemas.microsoft.com/office/drawing/2014/main" id="{6670EE35-5165-652C-BC5D-32A70AFD5F61}"/>
                </a:ext>
              </a:extLst>
            </p:cNvPr>
            <p:cNvSpPr txBox="1"/>
            <p:nvPr/>
          </p:nvSpPr>
          <p:spPr>
            <a:xfrm>
              <a:off x="8599990" y="4256479"/>
              <a:ext cx="2750930" cy="307777"/>
            </a:xfrm>
            <a:prstGeom prst="rect">
              <a:avLst/>
            </a:prstGeom>
            <a:noFill/>
          </p:spPr>
          <p:txBody>
            <a:bodyPr wrap="square">
              <a:spAutoFit/>
            </a:bodyPr>
            <a:lstStyle/>
            <a:p>
              <a:r>
                <a:rPr lang="en-BE" sz="1400" b="1" dirty="0">
                  <a:latin typeface="Calibri (Body)"/>
                </a:rPr>
                <a:t>Cons</a:t>
              </a:r>
            </a:p>
          </p:txBody>
        </p:sp>
        <p:cxnSp>
          <p:nvCxnSpPr>
            <p:cNvPr id="64" name="Straight Connector 63">
              <a:extLst>
                <a:ext uri="{FF2B5EF4-FFF2-40B4-BE49-F238E27FC236}">
                  <a16:creationId xmlns:a16="http://schemas.microsoft.com/office/drawing/2014/main" id="{4981B142-5F5B-049B-0E71-9205A298A23C}"/>
                </a:ext>
              </a:extLst>
            </p:cNvPr>
            <p:cNvCxnSpPr>
              <a:cxnSpLocks/>
            </p:cNvCxnSpPr>
            <p:nvPr/>
          </p:nvCxnSpPr>
          <p:spPr>
            <a:xfrm>
              <a:off x="8708615" y="4528696"/>
              <a:ext cx="272825"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71" name="Rectangle 70">
            <a:extLst>
              <a:ext uri="{FF2B5EF4-FFF2-40B4-BE49-F238E27FC236}">
                <a16:creationId xmlns:a16="http://schemas.microsoft.com/office/drawing/2014/main" id="{B522AFBB-50EB-01A9-B3BE-B15F87BF8A75}"/>
              </a:ext>
            </a:extLst>
          </p:cNvPr>
          <p:cNvSpPr/>
          <p:nvPr/>
        </p:nvSpPr>
        <p:spPr>
          <a:xfrm>
            <a:off x="8682040" y="4581509"/>
            <a:ext cx="3001960" cy="2085509"/>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BE" sz="1200" dirty="0">
                <a:solidFill>
                  <a:schemeClr val="tx1"/>
                </a:solidFill>
                <a:latin typeface="Calibri (Body)"/>
              </a:rPr>
              <a:t>Eventual consistency → data not always up to date.</a:t>
            </a:r>
          </a:p>
          <a:p>
            <a:pPr marL="171450" indent="-171450" algn="just">
              <a:buFont typeface="Arial" panose="020B0604020202020204" pitchFamily="34" charset="0"/>
              <a:buChar char="•"/>
            </a:pPr>
            <a:r>
              <a:rPr lang="en-BE" sz="1200" dirty="0">
                <a:solidFill>
                  <a:schemeClr val="tx1"/>
                </a:solidFill>
                <a:latin typeface="Calibri (Body)"/>
              </a:rPr>
              <a:t>More complex → broker + event management.</a:t>
            </a:r>
          </a:p>
          <a:p>
            <a:pPr marL="171450" indent="-171450" algn="just">
              <a:buFont typeface="Arial" panose="020B0604020202020204" pitchFamily="34" charset="0"/>
              <a:buChar char="•"/>
            </a:pPr>
            <a:r>
              <a:rPr lang="en-BE" sz="1200" dirty="0">
                <a:solidFill>
                  <a:schemeClr val="tx1"/>
                </a:solidFill>
                <a:latin typeface="Calibri (Body)"/>
              </a:rPr>
              <a:t>Harder to debug distributed flows.</a:t>
            </a:r>
          </a:p>
          <a:p>
            <a:pPr marL="171450" indent="-171450" algn="just">
              <a:buFont typeface="Arial" panose="020B0604020202020204" pitchFamily="34" charset="0"/>
              <a:buChar char="•"/>
            </a:pPr>
            <a:r>
              <a:rPr lang="en-BE" sz="1200" dirty="0">
                <a:solidFill>
                  <a:schemeClr val="tx1"/>
                </a:solidFill>
                <a:latin typeface="Calibri (Body)"/>
              </a:rPr>
              <a:t>Delivery issues → need idempotency/deduplication.</a:t>
            </a:r>
          </a:p>
          <a:p>
            <a:pPr marL="171450" indent="-171450" algn="just">
              <a:buFont typeface="Arial" panose="020B0604020202020204" pitchFamily="34" charset="0"/>
              <a:buChar char="•"/>
            </a:pPr>
            <a:r>
              <a:rPr lang="en-BE" sz="1200" dirty="0">
                <a:solidFill>
                  <a:schemeClr val="tx1"/>
                </a:solidFill>
                <a:latin typeface="Calibri (Body)"/>
              </a:rPr>
              <a:t>Slower user feedback → usually requires a Notification Service.</a:t>
            </a:r>
          </a:p>
        </p:txBody>
      </p:sp>
      <p:sp>
        <p:nvSpPr>
          <p:cNvPr id="93" name="Oval 92">
            <a:extLst>
              <a:ext uri="{FF2B5EF4-FFF2-40B4-BE49-F238E27FC236}">
                <a16:creationId xmlns:a16="http://schemas.microsoft.com/office/drawing/2014/main" id="{97A0C4C8-218E-134C-69DA-5B8CA33949DB}"/>
              </a:ext>
            </a:extLst>
          </p:cNvPr>
          <p:cNvSpPr>
            <a:spLocks noChangeAspect="1"/>
          </p:cNvSpPr>
          <p:nvPr/>
        </p:nvSpPr>
        <p:spPr>
          <a:xfrm>
            <a:off x="4296528" y="3618520"/>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6</a:t>
            </a:r>
          </a:p>
        </p:txBody>
      </p:sp>
      <p:grpSp>
        <p:nvGrpSpPr>
          <p:cNvPr id="16" name="Group 15">
            <a:extLst>
              <a:ext uri="{FF2B5EF4-FFF2-40B4-BE49-F238E27FC236}">
                <a16:creationId xmlns:a16="http://schemas.microsoft.com/office/drawing/2014/main" id="{D7922C29-0B22-CEA6-5376-711E6566F3E9}"/>
              </a:ext>
            </a:extLst>
          </p:cNvPr>
          <p:cNvGrpSpPr/>
          <p:nvPr/>
        </p:nvGrpSpPr>
        <p:grpSpPr>
          <a:xfrm>
            <a:off x="929099" y="3319760"/>
            <a:ext cx="1113061" cy="324000"/>
            <a:chOff x="929099" y="3319760"/>
            <a:chExt cx="1113061" cy="324000"/>
          </a:xfrm>
        </p:grpSpPr>
        <p:sp>
          <p:nvSpPr>
            <p:cNvPr id="18" name="Oval 17">
              <a:extLst>
                <a:ext uri="{FF2B5EF4-FFF2-40B4-BE49-F238E27FC236}">
                  <a16:creationId xmlns:a16="http://schemas.microsoft.com/office/drawing/2014/main" id="{AE10E295-036B-F188-C419-C9D23AA8C687}"/>
                </a:ext>
              </a:extLst>
            </p:cNvPr>
            <p:cNvSpPr>
              <a:spLocks noChangeAspect="1"/>
            </p:cNvSpPr>
            <p:nvPr/>
          </p:nvSpPr>
          <p:spPr>
            <a:xfrm>
              <a:off x="1325880" y="3319760"/>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1</a:t>
              </a:r>
            </a:p>
          </p:txBody>
        </p:sp>
        <p:cxnSp>
          <p:nvCxnSpPr>
            <p:cNvPr id="7" name="Straight Arrow Connector 6">
              <a:extLst>
                <a:ext uri="{FF2B5EF4-FFF2-40B4-BE49-F238E27FC236}">
                  <a16:creationId xmlns:a16="http://schemas.microsoft.com/office/drawing/2014/main" id="{C0F16431-3245-1C09-3BFB-6BA7059FB44C}"/>
                </a:ext>
              </a:extLst>
            </p:cNvPr>
            <p:cNvCxnSpPr/>
            <p:nvPr/>
          </p:nvCxnSpPr>
          <p:spPr>
            <a:xfrm>
              <a:off x="929099" y="3643760"/>
              <a:ext cx="11130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C25B76A7-7C89-9DC2-A881-5738914693C7}"/>
              </a:ext>
            </a:extLst>
          </p:cNvPr>
          <p:cNvGrpSpPr/>
          <p:nvPr/>
        </p:nvGrpSpPr>
        <p:grpSpPr>
          <a:xfrm>
            <a:off x="929099" y="4357748"/>
            <a:ext cx="1071600" cy="304279"/>
            <a:chOff x="929099" y="4357748"/>
            <a:chExt cx="1071600" cy="304279"/>
          </a:xfrm>
        </p:grpSpPr>
        <p:sp>
          <p:nvSpPr>
            <p:cNvPr id="20" name="Oval 19">
              <a:extLst>
                <a:ext uri="{FF2B5EF4-FFF2-40B4-BE49-F238E27FC236}">
                  <a16:creationId xmlns:a16="http://schemas.microsoft.com/office/drawing/2014/main" id="{5EFD2CE0-4BE7-1EF3-F6CE-C07A0D1778B6}"/>
                </a:ext>
              </a:extLst>
            </p:cNvPr>
            <p:cNvSpPr>
              <a:spLocks noChangeAspect="1"/>
            </p:cNvSpPr>
            <p:nvPr/>
          </p:nvSpPr>
          <p:spPr>
            <a:xfrm>
              <a:off x="1325609" y="4446027"/>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3</a:t>
              </a:r>
              <a:endParaRPr lang="en-BE" sz="1200" b="1" dirty="0">
                <a:solidFill>
                  <a:schemeClr val="tx1"/>
                </a:solidFill>
              </a:endParaRPr>
            </a:p>
          </p:txBody>
        </p:sp>
        <p:cxnSp>
          <p:nvCxnSpPr>
            <p:cNvPr id="8" name="Straight Arrow Connector 7">
              <a:extLst>
                <a:ext uri="{FF2B5EF4-FFF2-40B4-BE49-F238E27FC236}">
                  <a16:creationId xmlns:a16="http://schemas.microsoft.com/office/drawing/2014/main" id="{CDF853DD-A24F-E229-47AE-D675A78C9FDE}"/>
                </a:ext>
              </a:extLst>
            </p:cNvPr>
            <p:cNvCxnSpPr>
              <a:cxnSpLocks/>
            </p:cNvCxnSpPr>
            <p:nvPr/>
          </p:nvCxnSpPr>
          <p:spPr>
            <a:xfrm flipH="1">
              <a:off x="929099" y="4357748"/>
              <a:ext cx="1071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FD721626-3D65-D3C7-8C9A-577C6783FAB1}"/>
              </a:ext>
            </a:extLst>
          </p:cNvPr>
          <p:cNvGrpSpPr/>
          <p:nvPr/>
        </p:nvGrpSpPr>
        <p:grpSpPr>
          <a:xfrm>
            <a:off x="3014821" y="3319760"/>
            <a:ext cx="332879" cy="324000"/>
            <a:chOff x="3014821" y="3319760"/>
            <a:chExt cx="332879" cy="324000"/>
          </a:xfrm>
        </p:grpSpPr>
        <p:sp>
          <p:nvSpPr>
            <p:cNvPr id="22" name="Oval 21">
              <a:extLst>
                <a:ext uri="{FF2B5EF4-FFF2-40B4-BE49-F238E27FC236}">
                  <a16:creationId xmlns:a16="http://schemas.microsoft.com/office/drawing/2014/main" id="{4A7D9385-F17E-E641-FA80-2BD52E516B1C}"/>
                </a:ext>
              </a:extLst>
            </p:cNvPr>
            <p:cNvSpPr>
              <a:spLocks noChangeAspect="1"/>
            </p:cNvSpPr>
            <p:nvPr/>
          </p:nvSpPr>
          <p:spPr>
            <a:xfrm>
              <a:off x="3073261" y="3319760"/>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a:t>
              </a:r>
              <a:endParaRPr lang="en-BE" sz="1200" b="1" dirty="0">
                <a:solidFill>
                  <a:schemeClr val="tx1"/>
                </a:solidFill>
              </a:endParaRPr>
            </a:p>
          </p:txBody>
        </p:sp>
        <p:cxnSp>
          <p:nvCxnSpPr>
            <p:cNvPr id="15" name="Straight Arrow Connector 14">
              <a:extLst>
                <a:ext uri="{FF2B5EF4-FFF2-40B4-BE49-F238E27FC236}">
                  <a16:creationId xmlns:a16="http://schemas.microsoft.com/office/drawing/2014/main" id="{30ED9B77-1E67-0960-5667-5ECE39A189C4}"/>
                </a:ext>
              </a:extLst>
            </p:cNvPr>
            <p:cNvCxnSpPr>
              <a:cxnSpLocks/>
            </p:cNvCxnSpPr>
            <p:nvPr/>
          </p:nvCxnSpPr>
          <p:spPr>
            <a:xfrm>
              <a:off x="3014821" y="3643760"/>
              <a:ext cx="33287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AECBAA48-4421-BCF8-D3DC-9037AAE70618}"/>
              </a:ext>
            </a:extLst>
          </p:cNvPr>
          <p:cNvGrpSpPr/>
          <p:nvPr/>
        </p:nvGrpSpPr>
        <p:grpSpPr>
          <a:xfrm>
            <a:off x="4080528" y="3160921"/>
            <a:ext cx="605774" cy="636536"/>
            <a:chOff x="4080528" y="3160921"/>
            <a:chExt cx="605774" cy="636536"/>
          </a:xfrm>
        </p:grpSpPr>
        <p:sp>
          <p:nvSpPr>
            <p:cNvPr id="91" name="Oval 90">
              <a:extLst>
                <a:ext uri="{FF2B5EF4-FFF2-40B4-BE49-F238E27FC236}">
                  <a16:creationId xmlns:a16="http://schemas.microsoft.com/office/drawing/2014/main" id="{58BC5805-6B9B-15E7-E1C8-043DDEC20ECE}"/>
                </a:ext>
              </a:extLst>
            </p:cNvPr>
            <p:cNvSpPr>
              <a:spLocks noChangeAspect="1"/>
            </p:cNvSpPr>
            <p:nvPr/>
          </p:nvSpPr>
          <p:spPr>
            <a:xfrm>
              <a:off x="4080528" y="3211760"/>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4</a:t>
              </a:r>
            </a:p>
          </p:txBody>
        </p:sp>
        <p:cxnSp>
          <p:nvCxnSpPr>
            <p:cNvPr id="27" name="Connector: Elbow 26">
              <a:extLst>
                <a:ext uri="{FF2B5EF4-FFF2-40B4-BE49-F238E27FC236}">
                  <a16:creationId xmlns:a16="http://schemas.microsoft.com/office/drawing/2014/main" id="{F09D1E7D-C32D-526A-3ED7-4040FB3492A8}"/>
                </a:ext>
              </a:extLst>
            </p:cNvPr>
            <p:cNvCxnSpPr>
              <a:cxnSpLocks/>
            </p:cNvCxnSpPr>
            <p:nvPr/>
          </p:nvCxnSpPr>
          <p:spPr>
            <a:xfrm rot="5400000">
              <a:off x="4094367" y="3205521"/>
              <a:ext cx="636536" cy="54733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54" name="Group 53">
            <a:extLst>
              <a:ext uri="{FF2B5EF4-FFF2-40B4-BE49-F238E27FC236}">
                <a16:creationId xmlns:a16="http://schemas.microsoft.com/office/drawing/2014/main" id="{1F6B72B9-C9A4-712E-CB0B-6EA64965EDA1}"/>
              </a:ext>
            </a:extLst>
          </p:cNvPr>
          <p:cNvGrpSpPr/>
          <p:nvPr/>
        </p:nvGrpSpPr>
        <p:grpSpPr>
          <a:xfrm>
            <a:off x="4080528" y="3956602"/>
            <a:ext cx="371262" cy="827624"/>
            <a:chOff x="4080528" y="3956602"/>
            <a:chExt cx="371262" cy="827624"/>
          </a:xfrm>
        </p:grpSpPr>
        <p:sp>
          <p:nvSpPr>
            <p:cNvPr id="92" name="Oval 91">
              <a:extLst>
                <a:ext uri="{FF2B5EF4-FFF2-40B4-BE49-F238E27FC236}">
                  <a16:creationId xmlns:a16="http://schemas.microsoft.com/office/drawing/2014/main" id="{81B384E2-A7EB-5483-006C-6B7594B42669}"/>
                </a:ext>
              </a:extLst>
            </p:cNvPr>
            <p:cNvSpPr>
              <a:spLocks noChangeAspect="1"/>
            </p:cNvSpPr>
            <p:nvPr/>
          </p:nvSpPr>
          <p:spPr>
            <a:xfrm>
              <a:off x="4080528" y="4568226"/>
              <a:ext cx="216000" cy="216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5</a:t>
              </a:r>
            </a:p>
          </p:txBody>
        </p:sp>
        <p:cxnSp>
          <p:nvCxnSpPr>
            <p:cNvPr id="36" name="Connector: Elbow 35">
              <a:extLst>
                <a:ext uri="{FF2B5EF4-FFF2-40B4-BE49-F238E27FC236}">
                  <a16:creationId xmlns:a16="http://schemas.microsoft.com/office/drawing/2014/main" id="{1D60BB00-C016-FD87-C50A-7D8CB5236000}"/>
                </a:ext>
              </a:extLst>
            </p:cNvPr>
            <p:cNvCxnSpPr>
              <a:cxnSpLocks/>
            </p:cNvCxnSpPr>
            <p:nvPr/>
          </p:nvCxnSpPr>
          <p:spPr>
            <a:xfrm rot="16200000" flipV="1">
              <a:off x="3936875" y="4208255"/>
              <a:ext cx="766568" cy="26326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9461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0" grpId="0" animBg="1"/>
      <p:bldP spid="71" grpId="0" animBg="1"/>
      <p:bldP spid="9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3988783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a:xfrm>
            <a:off x="528320" y="365125"/>
            <a:ext cx="11155680" cy="530421"/>
          </a:xfrm>
        </p:spPr>
        <p:txBody>
          <a:bodyPr vert="horz"/>
          <a:lstStyle/>
          <a:p>
            <a:r>
              <a:rPr lang="en-BE" dirty="0"/>
              <a:t>7. Typical Challenges (1/2)</a:t>
            </a:r>
          </a:p>
        </p:txBody>
      </p:sp>
      <p:sp>
        <p:nvSpPr>
          <p:cNvPr id="7" name="Rectangle 6">
            <a:extLst>
              <a:ext uri="{FF2B5EF4-FFF2-40B4-BE49-F238E27FC236}">
                <a16:creationId xmlns:a16="http://schemas.microsoft.com/office/drawing/2014/main" id="{91CE7D81-68C5-44D1-5A08-F2F77E1BC9D4}"/>
              </a:ext>
            </a:extLst>
          </p:cNvPr>
          <p:cNvSpPr/>
          <p:nvPr/>
        </p:nvSpPr>
        <p:spPr>
          <a:xfrm>
            <a:off x="0" y="1463040"/>
            <a:ext cx="12192000" cy="8940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9" name="Rectangle 8">
            <a:extLst>
              <a:ext uri="{FF2B5EF4-FFF2-40B4-BE49-F238E27FC236}">
                <a16:creationId xmlns:a16="http://schemas.microsoft.com/office/drawing/2014/main" id="{0A7BB65B-FDDD-E09E-A6FD-E182F7E6BBEB}"/>
              </a:ext>
            </a:extLst>
          </p:cNvPr>
          <p:cNvSpPr/>
          <p:nvPr/>
        </p:nvSpPr>
        <p:spPr>
          <a:xfrm>
            <a:off x="0" y="3251200"/>
            <a:ext cx="12192000" cy="8940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0" name="Rectangle 9">
            <a:extLst>
              <a:ext uri="{FF2B5EF4-FFF2-40B4-BE49-F238E27FC236}">
                <a16:creationId xmlns:a16="http://schemas.microsoft.com/office/drawing/2014/main" id="{ADE5B651-3E65-E16B-3969-83E552BC106E}"/>
              </a:ext>
            </a:extLst>
          </p:cNvPr>
          <p:cNvSpPr/>
          <p:nvPr/>
        </p:nvSpPr>
        <p:spPr>
          <a:xfrm>
            <a:off x="0" y="5039360"/>
            <a:ext cx="12192000" cy="8940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2" name="TextBox 11">
            <a:extLst>
              <a:ext uri="{FF2B5EF4-FFF2-40B4-BE49-F238E27FC236}">
                <a16:creationId xmlns:a16="http://schemas.microsoft.com/office/drawing/2014/main" id="{EA898C88-03E4-151E-0030-3E4842219B00}"/>
              </a:ext>
            </a:extLst>
          </p:cNvPr>
          <p:cNvSpPr txBox="1"/>
          <p:nvPr/>
        </p:nvSpPr>
        <p:spPr>
          <a:xfrm>
            <a:off x="1096945" y="1025404"/>
            <a:ext cx="1170830" cy="307777"/>
          </a:xfrm>
          <a:prstGeom prst="rect">
            <a:avLst/>
          </a:prstGeom>
          <a:noFill/>
        </p:spPr>
        <p:txBody>
          <a:bodyPr wrap="square">
            <a:spAutoFit/>
          </a:bodyPr>
          <a:lstStyle/>
          <a:p>
            <a:r>
              <a:rPr lang="en-BE" sz="1400" b="1" dirty="0">
                <a:latin typeface="Calibri (Body)"/>
              </a:rPr>
              <a:t>Challenge</a:t>
            </a:r>
          </a:p>
        </p:txBody>
      </p:sp>
      <p:sp>
        <p:nvSpPr>
          <p:cNvPr id="13" name="TextBox 12">
            <a:extLst>
              <a:ext uri="{FF2B5EF4-FFF2-40B4-BE49-F238E27FC236}">
                <a16:creationId xmlns:a16="http://schemas.microsoft.com/office/drawing/2014/main" id="{DF76D24B-7AB5-2A85-D6EB-970BD1BC5F04}"/>
              </a:ext>
            </a:extLst>
          </p:cNvPr>
          <p:cNvSpPr txBox="1"/>
          <p:nvPr/>
        </p:nvSpPr>
        <p:spPr>
          <a:xfrm>
            <a:off x="4644104" y="1025404"/>
            <a:ext cx="1170830" cy="307777"/>
          </a:xfrm>
          <a:prstGeom prst="rect">
            <a:avLst/>
          </a:prstGeom>
          <a:noFill/>
        </p:spPr>
        <p:txBody>
          <a:bodyPr wrap="square">
            <a:spAutoFit/>
          </a:bodyPr>
          <a:lstStyle/>
          <a:p>
            <a:r>
              <a:rPr lang="en-BE" sz="1400" b="1" dirty="0">
                <a:latin typeface="Calibri (Body)"/>
              </a:rPr>
              <a:t>Description</a:t>
            </a:r>
          </a:p>
        </p:txBody>
      </p:sp>
      <p:sp>
        <p:nvSpPr>
          <p:cNvPr id="14" name="TextBox 13">
            <a:extLst>
              <a:ext uri="{FF2B5EF4-FFF2-40B4-BE49-F238E27FC236}">
                <a16:creationId xmlns:a16="http://schemas.microsoft.com/office/drawing/2014/main" id="{E8B45C78-EB6C-F541-25A1-56B7748FD6DF}"/>
              </a:ext>
            </a:extLst>
          </p:cNvPr>
          <p:cNvSpPr txBox="1"/>
          <p:nvPr/>
        </p:nvSpPr>
        <p:spPr>
          <a:xfrm>
            <a:off x="8983852" y="1025404"/>
            <a:ext cx="1170830" cy="307777"/>
          </a:xfrm>
          <a:prstGeom prst="rect">
            <a:avLst/>
          </a:prstGeom>
          <a:noFill/>
        </p:spPr>
        <p:txBody>
          <a:bodyPr wrap="square">
            <a:spAutoFit/>
          </a:bodyPr>
          <a:lstStyle/>
          <a:p>
            <a:r>
              <a:rPr lang="en-BE" sz="1400" b="1" dirty="0">
                <a:latin typeface="Calibri (Body)"/>
              </a:rPr>
              <a:t>Solution</a:t>
            </a:r>
          </a:p>
        </p:txBody>
      </p:sp>
      <p:cxnSp>
        <p:nvCxnSpPr>
          <p:cNvPr id="19" name="Straight Connector 18">
            <a:extLst>
              <a:ext uri="{FF2B5EF4-FFF2-40B4-BE49-F238E27FC236}">
                <a16:creationId xmlns:a16="http://schemas.microsoft.com/office/drawing/2014/main" id="{7CC09C64-927B-3CC4-CAA2-5E204745F2A3}"/>
              </a:ext>
            </a:extLst>
          </p:cNvPr>
          <p:cNvCxnSpPr>
            <a:cxnSpLocks/>
          </p:cNvCxnSpPr>
          <p:nvPr/>
        </p:nvCxnSpPr>
        <p:spPr>
          <a:xfrm>
            <a:off x="2998143" y="1242204"/>
            <a:ext cx="0" cy="5615796"/>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25E3B3-5FC3-B2FC-942B-904455EB496E}"/>
              </a:ext>
            </a:extLst>
          </p:cNvPr>
          <p:cNvCxnSpPr>
            <a:cxnSpLocks/>
          </p:cNvCxnSpPr>
          <p:nvPr/>
        </p:nvCxnSpPr>
        <p:spPr>
          <a:xfrm>
            <a:off x="7341071" y="1242204"/>
            <a:ext cx="0" cy="5615796"/>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7AFD1A35-69CF-2141-C457-564B463B38D5}"/>
              </a:ext>
            </a:extLst>
          </p:cNvPr>
          <p:cNvGrpSpPr/>
          <p:nvPr/>
        </p:nvGrpSpPr>
        <p:grpSpPr>
          <a:xfrm>
            <a:off x="874576" y="1606009"/>
            <a:ext cx="10709250" cy="574091"/>
            <a:chOff x="874576" y="1606009"/>
            <a:chExt cx="10709250" cy="574091"/>
          </a:xfrm>
        </p:grpSpPr>
        <p:sp>
          <p:nvSpPr>
            <p:cNvPr id="22" name="Rectangle 21">
              <a:extLst>
                <a:ext uri="{FF2B5EF4-FFF2-40B4-BE49-F238E27FC236}">
                  <a16:creationId xmlns:a16="http://schemas.microsoft.com/office/drawing/2014/main" id="{0C925051-AC6E-336D-B80D-7B0E0A34086D}"/>
                </a:ext>
              </a:extLst>
            </p:cNvPr>
            <p:cNvSpPr/>
            <p:nvPr/>
          </p:nvSpPr>
          <p:spPr>
            <a:xfrm>
              <a:off x="3214960" y="1606009"/>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When one service depends on another, an outage in the callee can block the caller. This can create a chain reaction where one failure brings down multiple parts of the system.</a:t>
              </a:r>
            </a:p>
          </p:txBody>
        </p:sp>
        <p:sp>
          <p:nvSpPr>
            <p:cNvPr id="28" name="Rectangle 27">
              <a:extLst>
                <a:ext uri="{FF2B5EF4-FFF2-40B4-BE49-F238E27FC236}">
                  <a16:creationId xmlns:a16="http://schemas.microsoft.com/office/drawing/2014/main" id="{08D405BC-9279-5F17-B5EE-D84543792FF2}"/>
                </a:ext>
              </a:extLst>
            </p:cNvPr>
            <p:cNvSpPr/>
            <p:nvPr/>
          </p:nvSpPr>
          <p:spPr>
            <a:xfrm>
              <a:off x="874576" y="1729251"/>
              <a:ext cx="1615568"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Service Unavailability</a:t>
              </a:r>
            </a:p>
          </p:txBody>
        </p:sp>
        <p:sp>
          <p:nvSpPr>
            <p:cNvPr id="36" name="Rectangle 35">
              <a:extLst>
                <a:ext uri="{FF2B5EF4-FFF2-40B4-BE49-F238E27FC236}">
                  <a16:creationId xmlns:a16="http://schemas.microsoft.com/office/drawing/2014/main" id="{41BDD0DF-5390-A969-CE72-30F90ACDB382}"/>
                </a:ext>
              </a:extLst>
            </p:cNvPr>
            <p:cNvSpPr/>
            <p:nvPr/>
          </p:nvSpPr>
          <p:spPr>
            <a:xfrm>
              <a:off x="7554708" y="1606009"/>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Add timeouts and retries so the caller doesn’t wait forever. Use a circuit breaker pattern to temporarily stop calling failing services until they recover.</a:t>
              </a:r>
            </a:p>
          </p:txBody>
        </p:sp>
      </p:grpSp>
      <p:grpSp>
        <p:nvGrpSpPr>
          <p:cNvPr id="4" name="Group 3">
            <a:extLst>
              <a:ext uri="{FF2B5EF4-FFF2-40B4-BE49-F238E27FC236}">
                <a16:creationId xmlns:a16="http://schemas.microsoft.com/office/drawing/2014/main" id="{D9EBF9D9-3240-F594-2A93-27DE23D7124D}"/>
              </a:ext>
            </a:extLst>
          </p:cNvPr>
          <p:cNvGrpSpPr/>
          <p:nvPr/>
        </p:nvGrpSpPr>
        <p:grpSpPr>
          <a:xfrm>
            <a:off x="874576" y="2427772"/>
            <a:ext cx="10709250" cy="574091"/>
            <a:chOff x="874576" y="2427772"/>
            <a:chExt cx="10709250" cy="574091"/>
          </a:xfrm>
        </p:grpSpPr>
        <p:sp>
          <p:nvSpPr>
            <p:cNvPr id="41" name="Rectangle 40">
              <a:extLst>
                <a:ext uri="{FF2B5EF4-FFF2-40B4-BE49-F238E27FC236}">
                  <a16:creationId xmlns:a16="http://schemas.microsoft.com/office/drawing/2014/main" id="{073A8096-2D9B-E5C7-340C-B2837462E5B9}"/>
                </a:ext>
              </a:extLst>
            </p:cNvPr>
            <p:cNvSpPr/>
            <p:nvPr/>
          </p:nvSpPr>
          <p:spPr>
            <a:xfrm>
              <a:off x="3214960" y="2427772"/>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A single user request may pass through many services. Each extra hop adds waiting time, so the total response can become very slow if one service is delayed.</a:t>
              </a:r>
            </a:p>
          </p:txBody>
        </p:sp>
        <p:sp>
          <p:nvSpPr>
            <p:cNvPr id="42" name="Rectangle 41">
              <a:extLst>
                <a:ext uri="{FF2B5EF4-FFF2-40B4-BE49-F238E27FC236}">
                  <a16:creationId xmlns:a16="http://schemas.microsoft.com/office/drawing/2014/main" id="{E52B1C47-860E-1432-6D0D-C92AFDA9EA5F}"/>
                </a:ext>
              </a:extLst>
            </p:cNvPr>
            <p:cNvSpPr/>
            <p:nvPr/>
          </p:nvSpPr>
          <p:spPr>
            <a:xfrm>
              <a:off x="874576" y="2551014"/>
              <a:ext cx="1615568"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High Latency</a:t>
              </a:r>
            </a:p>
          </p:txBody>
        </p:sp>
        <p:sp>
          <p:nvSpPr>
            <p:cNvPr id="43" name="Rectangle 42">
              <a:extLst>
                <a:ext uri="{FF2B5EF4-FFF2-40B4-BE49-F238E27FC236}">
                  <a16:creationId xmlns:a16="http://schemas.microsoft.com/office/drawing/2014/main" id="{8F8EAFCE-1975-08FB-9CF6-846D88B58471}"/>
                </a:ext>
              </a:extLst>
            </p:cNvPr>
            <p:cNvSpPr/>
            <p:nvPr/>
          </p:nvSpPr>
          <p:spPr>
            <a:xfrm>
              <a:off x="7554708" y="2427772"/>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Reduce the number of hops where possible, use caching for common data, and let the API Gateway aggregate calls to reduce round trips.</a:t>
              </a:r>
            </a:p>
          </p:txBody>
        </p:sp>
      </p:grpSp>
      <p:grpSp>
        <p:nvGrpSpPr>
          <p:cNvPr id="6" name="Group 5">
            <a:extLst>
              <a:ext uri="{FF2B5EF4-FFF2-40B4-BE49-F238E27FC236}">
                <a16:creationId xmlns:a16="http://schemas.microsoft.com/office/drawing/2014/main" id="{DB202B46-C14A-DB00-C30C-7B7453F76A15}"/>
              </a:ext>
            </a:extLst>
          </p:cNvPr>
          <p:cNvGrpSpPr/>
          <p:nvPr/>
        </p:nvGrpSpPr>
        <p:grpSpPr>
          <a:xfrm>
            <a:off x="874576" y="3349434"/>
            <a:ext cx="10709250" cy="574091"/>
            <a:chOff x="874576" y="3349434"/>
            <a:chExt cx="10709250" cy="574091"/>
          </a:xfrm>
        </p:grpSpPr>
        <p:sp>
          <p:nvSpPr>
            <p:cNvPr id="44" name="Rectangle 43">
              <a:extLst>
                <a:ext uri="{FF2B5EF4-FFF2-40B4-BE49-F238E27FC236}">
                  <a16:creationId xmlns:a16="http://schemas.microsoft.com/office/drawing/2014/main" id="{7D7D9EA0-EE35-4901-7FC9-3552813B8FEB}"/>
                </a:ext>
              </a:extLst>
            </p:cNvPr>
            <p:cNvSpPr/>
            <p:nvPr/>
          </p:nvSpPr>
          <p:spPr>
            <a:xfrm>
              <a:off x="3214960" y="3349434"/>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A sudden burst of requests can overwhelm a service and cause it to crash or reject users.</a:t>
              </a:r>
            </a:p>
          </p:txBody>
        </p:sp>
        <p:sp>
          <p:nvSpPr>
            <p:cNvPr id="45" name="Rectangle 44">
              <a:extLst>
                <a:ext uri="{FF2B5EF4-FFF2-40B4-BE49-F238E27FC236}">
                  <a16:creationId xmlns:a16="http://schemas.microsoft.com/office/drawing/2014/main" id="{A4CC1649-B15A-5530-75A2-6496A15E842A}"/>
                </a:ext>
              </a:extLst>
            </p:cNvPr>
            <p:cNvSpPr/>
            <p:nvPr/>
          </p:nvSpPr>
          <p:spPr>
            <a:xfrm>
              <a:off x="874576" y="3472676"/>
              <a:ext cx="1615568"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Traffic Spikes</a:t>
              </a:r>
            </a:p>
          </p:txBody>
        </p:sp>
        <p:sp>
          <p:nvSpPr>
            <p:cNvPr id="46" name="Rectangle 45">
              <a:extLst>
                <a:ext uri="{FF2B5EF4-FFF2-40B4-BE49-F238E27FC236}">
                  <a16:creationId xmlns:a16="http://schemas.microsoft.com/office/drawing/2014/main" id="{F18D9201-296D-3BC3-ABAB-EB47F1D8453F}"/>
                </a:ext>
              </a:extLst>
            </p:cNvPr>
            <p:cNvSpPr/>
            <p:nvPr/>
          </p:nvSpPr>
          <p:spPr>
            <a:xfrm>
              <a:off x="7554708" y="3349434"/>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Use asynchronous queues to absorb peaks. Enable auto-scaling and apply rate limiting to protect services under high load.</a:t>
              </a:r>
            </a:p>
          </p:txBody>
        </p:sp>
      </p:grpSp>
      <p:grpSp>
        <p:nvGrpSpPr>
          <p:cNvPr id="8" name="Group 7">
            <a:extLst>
              <a:ext uri="{FF2B5EF4-FFF2-40B4-BE49-F238E27FC236}">
                <a16:creationId xmlns:a16="http://schemas.microsoft.com/office/drawing/2014/main" id="{654C0EAB-B1AB-CA1D-E6B1-2C46C069DF0A}"/>
              </a:ext>
            </a:extLst>
          </p:cNvPr>
          <p:cNvGrpSpPr/>
          <p:nvPr/>
        </p:nvGrpSpPr>
        <p:grpSpPr>
          <a:xfrm>
            <a:off x="874576" y="4260203"/>
            <a:ext cx="10709250" cy="574091"/>
            <a:chOff x="874576" y="4260203"/>
            <a:chExt cx="10709250" cy="574091"/>
          </a:xfrm>
        </p:grpSpPr>
        <p:sp>
          <p:nvSpPr>
            <p:cNvPr id="47" name="Rectangle 46">
              <a:extLst>
                <a:ext uri="{FF2B5EF4-FFF2-40B4-BE49-F238E27FC236}">
                  <a16:creationId xmlns:a16="http://schemas.microsoft.com/office/drawing/2014/main" id="{5924E168-92DB-5351-E29A-30D7C546DE71}"/>
                </a:ext>
              </a:extLst>
            </p:cNvPr>
            <p:cNvSpPr/>
            <p:nvPr/>
          </p:nvSpPr>
          <p:spPr>
            <a:xfrm>
              <a:off x="3214960" y="4260203"/>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When services communicate through events, a message may be delivered more than once. Without precautions, this can lead to duplicate actions such as double-charging a customer.</a:t>
              </a:r>
            </a:p>
          </p:txBody>
        </p:sp>
        <p:sp>
          <p:nvSpPr>
            <p:cNvPr id="48" name="Rectangle 47">
              <a:extLst>
                <a:ext uri="{FF2B5EF4-FFF2-40B4-BE49-F238E27FC236}">
                  <a16:creationId xmlns:a16="http://schemas.microsoft.com/office/drawing/2014/main" id="{E51B4BED-570A-D31E-F238-C60CF0CCB352}"/>
                </a:ext>
              </a:extLst>
            </p:cNvPr>
            <p:cNvSpPr/>
            <p:nvPr/>
          </p:nvSpPr>
          <p:spPr>
            <a:xfrm>
              <a:off x="874576" y="4383445"/>
              <a:ext cx="1615568"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Messages Duplication</a:t>
              </a:r>
            </a:p>
          </p:txBody>
        </p:sp>
        <p:sp>
          <p:nvSpPr>
            <p:cNvPr id="49" name="Rectangle 48">
              <a:extLst>
                <a:ext uri="{FF2B5EF4-FFF2-40B4-BE49-F238E27FC236}">
                  <a16:creationId xmlns:a16="http://schemas.microsoft.com/office/drawing/2014/main" id="{57820EA0-E27C-DCE4-6CDC-4808167FDB5C}"/>
                </a:ext>
              </a:extLst>
            </p:cNvPr>
            <p:cNvSpPr/>
            <p:nvPr/>
          </p:nvSpPr>
          <p:spPr>
            <a:xfrm>
              <a:off x="7554708" y="4260203"/>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Design services to be idempotent (safe to process the same message twice). Add deduplication logic or unique request IDs.</a:t>
              </a:r>
            </a:p>
          </p:txBody>
        </p:sp>
      </p:grpSp>
      <p:grpSp>
        <p:nvGrpSpPr>
          <p:cNvPr id="11" name="Group 10">
            <a:extLst>
              <a:ext uri="{FF2B5EF4-FFF2-40B4-BE49-F238E27FC236}">
                <a16:creationId xmlns:a16="http://schemas.microsoft.com/office/drawing/2014/main" id="{C79F1A1A-64CF-923E-A09C-68939EE9BA0A}"/>
              </a:ext>
            </a:extLst>
          </p:cNvPr>
          <p:cNvGrpSpPr/>
          <p:nvPr/>
        </p:nvGrpSpPr>
        <p:grpSpPr>
          <a:xfrm>
            <a:off x="874576" y="5165581"/>
            <a:ext cx="10709250" cy="574091"/>
            <a:chOff x="874576" y="5165581"/>
            <a:chExt cx="10709250" cy="574091"/>
          </a:xfrm>
        </p:grpSpPr>
        <p:sp>
          <p:nvSpPr>
            <p:cNvPr id="50" name="Rectangle 49">
              <a:extLst>
                <a:ext uri="{FF2B5EF4-FFF2-40B4-BE49-F238E27FC236}">
                  <a16:creationId xmlns:a16="http://schemas.microsoft.com/office/drawing/2014/main" id="{F036AF28-DD4F-6133-CBCA-AFEAA31DAA72}"/>
                </a:ext>
              </a:extLst>
            </p:cNvPr>
            <p:cNvSpPr/>
            <p:nvPr/>
          </p:nvSpPr>
          <p:spPr>
            <a:xfrm>
              <a:off x="3214960" y="5165581"/>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In a distributed system, a single request can touch many services. If something fails, it is hard to trace the cause without visibility across services.</a:t>
              </a:r>
            </a:p>
          </p:txBody>
        </p:sp>
        <p:sp>
          <p:nvSpPr>
            <p:cNvPr id="51" name="Rectangle 50">
              <a:extLst>
                <a:ext uri="{FF2B5EF4-FFF2-40B4-BE49-F238E27FC236}">
                  <a16:creationId xmlns:a16="http://schemas.microsoft.com/office/drawing/2014/main" id="{0570FE88-352C-AE89-DF3D-73AF7FC5CEE8}"/>
                </a:ext>
              </a:extLst>
            </p:cNvPr>
            <p:cNvSpPr/>
            <p:nvPr/>
          </p:nvSpPr>
          <p:spPr>
            <a:xfrm>
              <a:off x="874576" y="5288823"/>
              <a:ext cx="1615568"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Debugging Difficulty</a:t>
              </a:r>
            </a:p>
          </p:txBody>
        </p:sp>
        <p:sp>
          <p:nvSpPr>
            <p:cNvPr id="52" name="Rectangle 51">
              <a:extLst>
                <a:ext uri="{FF2B5EF4-FFF2-40B4-BE49-F238E27FC236}">
                  <a16:creationId xmlns:a16="http://schemas.microsoft.com/office/drawing/2014/main" id="{C6FD6250-BDC4-A694-A46C-371555419134}"/>
                </a:ext>
              </a:extLst>
            </p:cNvPr>
            <p:cNvSpPr/>
            <p:nvPr/>
          </p:nvSpPr>
          <p:spPr>
            <a:xfrm>
              <a:off x="7554708" y="5165581"/>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Use logging with correlation IDs and distributed tracing tools to follow requests from start to finish. This makes it easier to locate issues.</a:t>
              </a:r>
            </a:p>
          </p:txBody>
        </p:sp>
      </p:grpSp>
      <p:grpSp>
        <p:nvGrpSpPr>
          <p:cNvPr id="15" name="Group 14">
            <a:extLst>
              <a:ext uri="{FF2B5EF4-FFF2-40B4-BE49-F238E27FC236}">
                <a16:creationId xmlns:a16="http://schemas.microsoft.com/office/drawing/2014/main" id="{8ADA03C3-7F3D-18E3-84EA-3A9607FE2291}"/>
              </a:ext>
            </a:extLst>
          </p:cNvPr>
          <p:cNvGrpSpPr/>
          <p:nvPr/>
        </p:nvGrpSpPr>
        <p:grpSpPr>
          <a:xfrm>
            <a:off x="874576" y="6059661"/>
            <a:ext cx="10709250" cy="574091"/>
            <a:chOff x="874576" y="6059661"/>
            <a:chExt cx="10709250" cy="574091"/>
          </a:xfrm>
        </p:grpSpPr>
        <p:sp>
          <p:nvSpPr>
            <p:cNvPr id="53" name="Rectangle 52">
              <a:extLst>
                <a:ext uri="{FF2B5EF4-FFF2-40B4-BE49-F238E27FC236}">
                  <a16:creationId xmlns:a16="http://schemas.microsoft.com/office/drawing/2014/main" id="{EB0EAF3F-6FEB-1E21-499E-ED2368BDB33A}"/>
                </a:ext>
              </a:extLst>
            </p:cNvPr>
            <p:cNvSpPr/>
            <p:nvPr/>
          </p:nvSpPr>
          <p:spPr>
            <a:xfrm>
              <a:off x="3214960" y="6059661"/>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In microservices, services move, scale, or restart dynamically. Their IPs and ports can change, so hardcoding addresses doesn’t work.</a:t>
              </a:r>
            </a:p>
          </p:txBody>
        </p:sp>
        <p:sp>
          <p:nvSpPr>
            <p:cNvPr id="54" name="Rectangle 53">
              <a:extLst>
                <a:ext uri="{FF2B5EF4-FFF2-40B4-BE49-F238E27FC236}">
                  <a16:creationId xmlns:a16="http://schemas.microsoft.com/office/drawing/2014/main" id="{5C0259E7-BB8C-074E-0E9B-8F5880661ADD}"/>
                </a:ext>
              </a:extLst>
            </p:cNvPr>
            <p:cNvSpPr/>
            <p:nvPr/>
          </p:nvSpPr>
          <p:spPr>
            <a:xfrm>
              <a:off x="874576" y="6182903"/>
              <a:ext cx="1615568"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Finding Services</a:t>
              </a:r>
            </a:p>
          </p:txBody>
        </p:sp>
        <p:sp>
          <p:nvSpPr>
            <p:cNvPr id="55" name="Rectangle 54">
              <a:extLst>
                <a:ext uri="{FF2B5EF4-FFF2-40B4-BE49-F238E27FC236}">
                  <a16:creationId xmlns:a16="http://schemas.microsoft.com/office/drawing/2014/main" id="{F3C09FA1-45D0-2CB1-1653-4D9B621E91A8}"/>
                </a:ext>
              </a:extLst>
            </p:cNvPr>
            <p:cNvSpPr/>
            <p:nvPr/>
          </p:nvSpPr>
          <p:spPr>
            <a:xfrm>
              <a:off x="7554708" y="6059661"/>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Use a service registry (e.g., Consul, Eureka) or service mesh. An API Gateway can act as a single entry point for clients.</a:t>
              </a:r>
            </a:p>
          </p:txBody>
        </p:sp>
      </p:grpSp>
    </p:spTree>
    <p:extLst>
      <p:ext uri="{BB962C8B-B14F-4D97-AF65-F5344CB8AC3E}">
        <p14:creationId xmlns:p14="http://schemas.microsoft.com/office/powerpoint/2010/main" val="238764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742569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a:xfrm>
            <a:off x="528320" y="365125"/>
            <a:ext cx="11155680" cy="530421"/>
          </a:xfrm>
        </p:spPr>
        <p:txBody>
          <a:bodyPr vert="horz"/>
          <a:lstStyle/>
          <a:p>
            <a:r>
              <a:rPr lang="en-BE" dirty="0"/>
              <a:t>7. Typical Challenges (2/2)</a:t>
            </a:r>
          </a:p>
        </p:txBody>
      </p:sp>
      <p:sp>
        <p:nvSpPr>
          <p:cNvPr id="7" name="Rectangle 6">
            <a:extLst>
              <a:ext uri="{FF2B5EF4-FFF2-40B4-BE49-F238E27FC236}">
                <a16:creationId xmlns:a16="http://schemas.microsoft.com/office/drawing/2014/main" id="{91CE7D81-68C5-44D1-5A08-F2F77E1BC9D4}"/>
              </a:ext>
            </a:extLst>
          </p:cNvPr>
          <p:cNvSpPr/>
          <p:nvPr/>
        </p:nvSpPr>
        <p:spPr>
          <a:xfrm>
            <a:off x="0" y="1463040"/>
            <a:ext cx="12192000" cy="8940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9" name="Rectangle 8">
            <a:extLst>
              <a:ext uri="{FF2B5EF4-FFF2-40B4-BE49-F238E27FC236}">
                <a16:creationId xmlns:a16="http://schemas.microsoft.com/office/drawing/2014/main" id="{0A7BB65B-FDDD-E09E-A6FD-E182F7E6BBEB}"/>
              </a:ext>
            </a:extLst>
          </p:cNvPr>
          <p:cNvSpPr/>
          <p:nvPr/>
        </p:nvSpPr>
        <p:spPr>
          <a:xfrm>
            <a:off x="0" y="3251200"/>
            <a:ext cx="12192000" cy="8940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2" name="TextBox 11">
            <a:extLst>
              <a:ext uri="{FF2B5EF4-FFF2-40B4-BE49-F238E27FC236}">
                <a16:creationId xmlns:a16="http://schemas.microsoft.com/office/drawing/2014/main" id="{EA898C88-03E4-151E-0030-3E4842219B00}"/>
              </a:ext>
            </a:extLst>
          </p:cNvPr>
          <p:cNvSpPr txBox="1"/>
          <p:nvPr/>
        </p:nvSpPr>
        <p:spPr>
          <a:xfrm>
            <a:off x="1096945" y="1025404"/>
            <a:ext cx="1170830" cy="307777"/>
          </a:xfrm>
          <a:prstGeom prst="rect">
            <a:avLst/>
          </a:prstGeom>
          <a:noFill/>
        </p:spPr>
        <p:txBody>
          <a:bodyPr wrap="square">
            <a:spAutoFit/>
          </a:bodyPr>
          <a:lstStyle/>
          <a:p>
            <a:r>
              <a:rPr lang="en-BE" sz="1400" b="1" dirty="0">
                <a:latin typeface="Calibri (Body)"/>
              </a:rPr>
              <a:t>Challenge</a:t>
            </a:r>
          </a:p>
        </p:txBody>
      </p:sp>
      <p:sp>
        <p:nvSpPr>
          <p:cNvPr id="13" name="TextBox 12">
            <a:extLst>
              <a:ext uri="{FF2B5EF4-FFF2-40B4-BE49-F238E27FC236}">
                <a16:creationId xmlns:a16="http://schemas.microsoft.com/office/drawing/2014/main" id="{DF76D24B-7AB5-2A85-D6EB-970BD1BC5F04}"/>
              </a:ext>
            </a:extLst>
          </p:cNvPr>
          <p:cNvSpPr txBox="1"/>
          <p:nvPr/>
        </p:nvSpPr>
        <p:spPr>
          <a:xfrm>
            <a:off x="4644104" y="1025404"/>
            <a:ext cx="1170830" cy="307777"/>
          </a:xfrm>
          <a:prstGeom prst="rect">
            <a:avLst/>
          </a:prstGeom>
          <a:noFill/>
        </p:spPr>
        <p:txBody>
          <a:bodyPr wrap="square">
            <a:spAutoFit/>
          </a:bodyPr>
          <a:lstStyle/>
          <a:p>
            <a:r>
              <a:rPr lang="en-BE" sz="1400" b="1" dirty="0">
                <a:latin typeface="Calibri (Body)"/>
              </a:rPr>
              <a:t>Description</a:t>
            </a:r>
          </a:p>
        </p:txBody>
      </p:sp>
      <p:sp>
        <p:nvSpPr>
          <p:cNvPr id="14" name="TextBox 13">
            <a:extLst>
              <a:ext uri="{FF2B5EF4-FFF2-40B4-BE49-F238E27FC236}">
                <a16:creationId xmlns:a16="http://schemas.microsoft.com/office/drawing/2014/main" id="{E8B45C78-EB6C-F541-25A1-56B7748FD6DF}"/>
              </a:ext>
            </a:extLst>
          </p:cNvPr>
          <p:cNvSpPr txBox="1"/>
          <p:nvPr/>
        </p:nvSpPr>
        <p:spPr>
          <a:xfrm>
            <a:off x="8983852" y="1025404"/>
            <a:ext cx="1170830" cy="307777"/>
          </a:xfrm>
          <a:prstGeom prst="rect">
            <a:avLst/>
          </a:prstGeom>
          <a:noFill/>
        </p:spPr>
        <p:txBody>
          <a:bodyPr wrap="square">
            <a:spAutoFit/>
          </a:bodyPr>
          <a:lstStyle/>
          <a:p>
            <a:r>
              <a:rPr lang="en-BE" sz="1400" b="1" dirty="0">
                <a:latin typeface="Calibri (Body)"/>
              </a:rPr>
              <a:t>Solution</a:t>
            </a:r>
          </a:p>
        </p:txBody>
      </p:sp>
      <p:cxnSp>
        <p:nvCxnSpPr>
          <p:cNvPr id="19" name="Straight Connector 18">
            <a:extLst>
              <a:ext uri="{FF2B5EF4-FFF2-40B4-BE49-F238E27FC236}">
                <a16:creationId xmlns:a16="http://schemas.microsoft.com/office/drawing/2014/main" id="{7CC09C64-927B-3CC4-CAA2-5E204745F2A3}"/>
              </a:ext>
            </a:extLst>
          </p:cNvPr>
          <p:cNvCxnSpPr>
            <a:cxnSpLocks/>
          </p:cNvCxnSpPr>
          <p:nvPr/>
        </p:nvCxnSpPr>
        <p:spPr>
          <a:xfrm>
            <a:off x="2998143" y="1242204"/>
            <a:ext cx="0" cy="3040429"/>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25E3B3-5FC3-B2FC-942B-904455EB496E}"/>
              </a:ext>
            </a:extLst>
          </p:cNvPr>
          <p:cNvCxnSpPr>
            <a:cxnSpLocks/>
          </p:cNvCxnSpPr>
          <p:nvPr/>
        </p:nvCxnSpPr>
        <p:spPr>
          <a:xfrm>
            <a:off x="7341071" y="1242204"/>
            <a:ext cx="0" cy="3040429"/>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2756C3B0-4783-D480-AA3B-D01C245548B7}"/>
              </a:ext>
            </a:extLst>
          </p:cNvPr>
          <p:cNvGrpSpPr/>
          <p:nvPr/>
        </p:nvGrpSpPr>
        <p:grpSpPr>
          <a:xfrm>
            <a:off x="874576" y="1606009"/>
            <a:ext cx="10709250" cy="574091"/>
            <a:chOff x="874576" y="1606009"/>
            <a:chExt cx="10709250" cy="574091"/>
          </a:xfrm>
        </p:grpSpPr>
        <p:sp>
          <p:nvSpPr>
            <p:cNvPr id="22" name="Rectangle 21">
              <a:extLst>
                <a:ext uri="{FF2B5EF4-FFF2-40B4-BE49-F238E27FC236}">
                  <a16:creationId xmlns:a16="http://schemas.microsoft.com/office/drawing/2014/main" id="{0C925051-AC6E-336D-B80D-7B0E0A34086D}"/>
                </a:ext>
              </a:extLst>
            </p:cNvPr>
            <p:cNvSpPr/>
            <p:nvPr/>
          </p:nvSpPr>
          <p:spPr>
            <a:xfrm>
              <a:off x="3214960" y="1606009"/>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If a service changes its API or event format, consumers may break unexpectedly. This makes systems fragile and hard to evolve.</a:t>
              </a:r>
            </a:p>
          </p:txBody>
        </p:sp>
        <p:sp>
          <p:nvSpPr>
            <p:cNvPr id="28" name="Rectangle 27">
              <a:extLst>
                <a:ext uri="{FF2B5EF4-FFF2-40B4-BE49-F238E27FC236}">
                  <a16:creationId xmlns:a16="http://schemas.microsoft.com/office/drawing/2014/main" id="{08D405BC-9279-5F17-B5EE-D84543792FF2}"/>
                </a:ext>
              </a:extLst>
            </p:cNvPr>
            <p:cNvSpPr/>
            <p:nvPr/>
          </p:nvSpPr>
          <p:spPr>
            <a:xfrm>
              <a:off x="874576" y="1729251"/>
              <a:ext cx="1615568"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API &amp; Contract Drift</a:t>
              </a:r>
            </a:p>
          </p:txBody>
        </p:sp>
        <p:sp>
          <p:nvSpPr>
            <p:cNvPr id="36" name="Rectangle 35">
              <a:extLst>
                <a:ext uri="{FF2B5EF4-FFF2-40B4-BE49-F238E27FC236}">
                  <a16:creationId xmlns:a16="http://schemas.microsoft.com/office/drawing/2014/main" id="{41BDD0DF-5390-A969-CE72-30F90ACDB382}"/>
                </a:ext>
              </a:extLst>
            </p:cNvPr>
            <p:cNvSpPr/>
            <p:nvPr/>
          </p:nvSpPr>
          <p:spPr>
            <a:xfrm>
              <a:off x="7554708" y="1606009"/>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Keep backward compatibility, version APIs and events, and use schema validation (</a:t>
              </a:r>
              <a:r>
                <a:rPr lang="en-BE" sz="1200" dirty="0" err="1">
                  <a:solidFill>
                    <a:schemeClr val="tx1"/>
                  </a:solidFill>
                  <a:latin typeface="Calibri (Body)"/>
                </a:rPr>
                <a:t>OpenAPI</a:t>
              </a:r>
              <a:r>
                <a:rPr lang="en-BE" sz="1200" dirty="0">
                  <a:solidFill>
                    <a:schemeClr val="tx1"/>
                  </a:solidFill>
                  <a:latin typeface="Calibri (Body)"/>
                </a:rPr>
                <a:t>, </a:t>
              </a:r>
              <a:r>
                <a:rPr lang="en-BE" sz="1200" dirty="0" err="1">
                  <a:solidFill>
                    <a:schemeClr val="tx1"/>
                  </a:solidFill>
                  <a:latin typeface="Calibri (Body)"/>
                </a:rPr>
                <a:t>gRPC</a:t>
              </a:r>
              <a:r>
                <a:rPr lang="en-BE" sz="1200" dirty="0">
                  <a:solidFill>
                    <a:schemeClr val="tx1"/>
                  </a:solidFill>
                  <a:latin typeface="Calibri (Body)"/>
                </a:rPr>
                <a:t>, or Schema Registry) to prevent breaking changes.</a:t>
              </a:r>
            </a:p>
          </p:txBody>
        </p:sp>
      </p:grpSp>
      <p:grpSp>
        <p:nvGrpSpPr>
          <p:cNvPr id="4" name="Group 3">
            <a:extLst>
              <a:ext uri="{FF2B5EF4-FFF2-40B4-BE49-F238E27FC236}">
                <a16:creationId xmlns:a16="http://schemas.microsoft.com/office/drawing/2014/main" id="{13222B27-7F3E-6B6C-E545-2B641E8F50AA}"/>
              </a:ext>
            </a:extLst>
          </p:cNvPr>
          <p:cNvGrpSpPr/>
          <p:nvPr/>
        </p:nvGrpSpPr>
        <p:grpSpPr>
          <a:xfrm>
            <a:off x="874575" y="2427772"/>
            <a:ext cx="10709251" cy="574091"/>
            <a:chOff x="874575" y="2427772"/>
            <a:chExt cx="10709251" cy="574091"/>
          </a:xfrm>
        </p:grpSpPr>
        <p:sp>
          <p:nvSpPr>
            <p:cNvPr id="41" name="Rectangle 40">
              <a:extLst>
                <a:ext uri="{FF2B5EF4-FFF2-40B4-BE49-F238E27FC236}">
                  <a16:creationId xmlns:a16="http://schemas.microsoft.com/office/drawing/2014/main" id="{073A8096-2D9B-E5C7-340C-B2837462E5B9}"/>
                </a:ext>
              </a:extLst>
            </p:cNvPr>
            <p:cNvSpPr/>
            <p:nvPr/>
          </p:nvSpPr>
          <p:spPr>
            <a:xfrm>
              <a:off x="3214960" y="2427772"/>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In a microservices system, every service-to-service call is a potential attack path. Without proper authentication and encryption, malicious access is possible.</a:t>
              </a:r>
            </a:p>
          </p:txBody>
        </p:sp>
        <p:sp>
          <p:nvSpPr>
            <p:cNvPr id="42" name="Rectangle 41">
              <a:extLst>
                <a:ext uri="{FF2B5EF4-FFF2-40B4-BE49-F238E27FC236}">
                  <a16:creationId xmlns:a16="http://schemas.microsoft.com/office/drawing/2014/main" id="{E52B1C47-860E-1432-6D0D-C92AFDA9EA5F}"/>
                </a:ext>
              </a:extLst>
            </p:cNvPr>
            <p:cNvSpPr/>
            <p:nvPr/>
          </p:nvSpPr>
          <p:spPr>
            <a:xfrm>
              <a:off x="874575" y="2551014"/>
              <a:ext cx="1906751"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Security Between Services</a:t>
              </a:r>
            </a:p>
          </p:txBody>
        </p:sp>
        <p:sp>
          <p:nvSpPr>
            <p:cNvPr id="43" name="Rectangle 42">
              <a:extLst>
                <a:ext uri="{FF2B5EF4-FFF2-40B4-BE49-F238E27FC236}">
                  <a16:creationId xmlns:a16="http://schemas.microsoft.com/office/drawing/2014/main" id="{8F8EAFCE-1975-08FB-9CF6-846D88B58471}"/>
                </a:ext>
              </a:extLst>
            </p:cNvPr>
            <p:cNvSpPr/>
            <p:nvPr/>
          </p:nvSpPr>
          <p:spPr>
            <a:xfrm>
              <a:off x="7554708" y="2427772"/>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Use </a:t>
              </a:r>
              <a:r>
                <a:rPr lang="en-BE" sz="1200" dirty="0" err="1">
                  <a:solidFill>
                    <a:schemeClr val="tx1"/>
                  </a:solidFill>
                  <a:latin typeface="Calibri (Body)"/>
                </a:rPr>
                <a:t>mTLS</a:t>
              </a:r>
              <a:r>
                <a:rPr lang="en-BE" sz="1200" dirty="0">
                  <a:solidFill>
                    <a:schemeClr val="tx1"/>
                  </a:solidFill>
                  <a:latin typeface="Calibri (Body)"/>
                </a:rPr>
                <a:t> for service-to-service calls, enforce authentication with tokens (e.g., JWT), and apply least privilege on APIs.</a:t>
              </a:r>
            </a:p>
          </p:txBody>
        </p:sp>
      </p:grpSp>
      <p:grpSp>
        <p:nvGrpSpPr>
          <p:cNvPr id="6" name="Group 5">
            <a:extLst>
              <a:ext uri="{FF2B5EF4-FFF2-40B4-BE49-F238E27FC236}">
                <a16:creationId xmlns:a16="http://schemas.microsoft.com/office/drawing/2014/main" id="{933CBEF8-F6D4-968A-E88E-FDB5FF1E57B6}"/>
              </a:ext>
            </a:extLst>
          </p:cNvPr>
          <p:cNvGrpSpPr/>
          <p:nvPr/>
        </p:nvGrpSpPr>
        <p:grpSpPr>
          <a:xfrm>
            <a:off x="874575" y="3349434"/>
            <a:ext cx="10709251" cy="574091"/>
            <a:chOff x="874575" y="3349434"/>
            <a:chExt cx="10709251" cy="574091"/>
          </a:xfrm>
        </p:grpSpPr>
        <p:sp>
          <p:nvSpPr>
            <p:cNvPr id="44" name="Rectangle 43">
              <a:extLst>
                <a:ext uri="{FF2B5EF4-FFF2-40B4-BE49-F238E27FC236}">
                  <a16:creationId xmlns:a16="http://schemas.microsoft.com/office/drawing/2014/main" id="{7D7D9EA0-EE35-4901-7FC9-3552813B8FEB}"/>
                </a:ext>
              </a:extLst>
            </p:cNvPr>
            <p:cNvSpPr/>
            <p:nvPr/>
          </p:nvSpPr>
          <p:spPr>
            <a:xfrm>
              <a:off x="3214960" y="3349434"/>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If services exchange many small requests, network overhead grows and response times degrade. This is especially problematic when services call each other in loops.</a:t>
              </a:r>
            </a:p>
          </p:txBody>
        </p:sp>
        <p:sp>
          <p:nvSpPr>
            <p:cNvPr id="45" name="Rectangle 44">
              <a:extLst>
                <a:ext uri="{FF2B5EF4-FFF2-40B4-BE49-F238E27FC236}">
                  <a16:creationId xmlns:a16="http://schemas.microsoft.com/office/drawing/2014/main" id="{A4CC1649-B15A-5530-75A2-6496A15E842A}"/>
                </a:ext>
              </a:extLst>
            </p:cNvPr>
            <p:cNvSpPr/>
            <p:nvPr/>
          </p:nvSpPr>
          <p:spPr>
            <a:xfrm>
              <a:off x="874575" y="3472676"/>
              <a:ext cx="1732205"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Chatty Communication</a:t>
              </a:r>
            </a:p>
          </p:txBody>
        </p:sp>
        <p:sp>
          <p:nvSpPr>
            <p:cNvPr id="46" name="Rectangle 45">
              <a:extLst>
                <a:ext uri="{FF2B5EF4-FFF2-40B4-BE49-F238E27FC236}">
                  <a16:creationId xmlns:a16="http://schemas.microsoft.com/office/drawing/2014/main" id="{F18D9201-296D-3BC3-ABAB-EB47F1D8453F}"/>
                </a:ext>
              </a:extLst>
            </p:cNvPr>
            <p:cNvSpPr/>
            <p:nvPr/>
          </p:nvSpPr>
          <p:spPr>
            <a:xfrm>
              <a:off x="7554708" y="3349434"/>
              <a:ext cx="4029118" cy="552011"/>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Batch requests where possible, use pagination, or introduce </a:t>
              </a:r>
              <a:r>
                <a:rPr lang="en-BE" sz="1200" dirty="0" err="1">
                  <a:solidFill>
                    <a:schemeClr val="tx1"/>
                  </a:solidFill>
                  <a:latin typeface="Calibri (Body)"/>
                </a:rPr>
                <a:t>GraphQL</a:t>
              </a:r>
              <a:r>
                <a:rPr lang="en-BE" sz="1200" dirty="0">
                  <a:solidFill>
                    <a:schemeClr val="tx1"/>
                  </a:solidFill>
                  <a:latin typeface="Calibri (Body)"/>
                </a:rPr>
                <a:t>/aggregated endpoints to reduce network calls.</a:t>
              </a:r>
            </a:p>
          </p:txBody>
        </p:sp>
      </p:grpSp>
      <p:grpSp>
        <p:nvGrpSpPr>
          <p:cNvPr id="61" name="Group 60">
            <a:extLst>
              <a:ext uri="{FF2B5EF4-FFF2-40B4-BE49-F238E27FC236}">
                <a16:creationId xmlns:a16="http://schemas.microsoft.com/office/drawing/2014/main" id="{A438A1AE-70D2-286B-7FB5-70CAB7E1B4C9}"/>
              </a:ext>
            </a:extLst>
          </p:cNvPr>
          <p:cNvGrpSpPr/>
          <p:nvPr/>
        </p:nvGrpSpPr>
        <p:grpSpPr>
          <a:xfrm>
            <a:off x="325146" y="5615796"/>
            <a:ext cx="11361576" cy="979946"/>
            <a:chOff x="325146" y="5362981"/>
            <a:chExt cx="11361576" cy="979946"/>
          </a:xfrm>
        </p:grpSpPr>
        <p:sp>
          <p:nvSpPr>
            <p:cNvPr id="59" name="Rectangle 58">
              <a:extLst>
                <a:ext uri="{FF2B5EF4-FFF2-40B4-BE49-F238E27FC236}">
                  <a16:creationId xmlns:a16="http://schemas.microsoft.com/office/drawing/2014/main" id="{25005D8B-2E5D-3F76-0A19-FD18C30C6873}"/>
                </a:ext>
              </a:extLst>
            </p:cNvPr>
            <p:cNvSpPr/>
            <p:nvPr/>
          </p:nvSpPr>
          <p:spPr>
            <a:xfrm>
              <a:off x="553336" y="5591170"/>
              <a:ext cx="11133386" cy="751757"/>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i="1" dirty="0">
                  <a:solidFill>
                    <a:schemeClr val="tx1"/>
                  </a:solidFill>
                  <a:latin typeface="Calibri (Body)"/>
                </a:rPr>
                <a:t>Communication is at the heart of microservices. Each challenge has proven solutions, but all designs must balance simplicity, performance, and resilience.</a:t>
              </a:r>
            </a:p>
          </p:txBody>
        </p:sp>
        <p:pic>
          <p:nvPicPr>
            <p:cNvPr id="60" name="Graphic 59" descr="Megaphone with solid fill">
              <a:extLst>
                <a:ext uri="{FF2B5EF4-FFF2-40B4-BE49-F238E27FC236}">
                  <a16:creationId xmlns:a16="http://schemas.microsoft.com/office/drawing/2014/main" id="{A6378AE7-4D55-50DC-0956-E43BE53C8B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146" y="5362981"/>
              <a:ext cx="456378" cy="456378"/>
            </a:xfrm>
            <a:prstGeom prst="rect">
              <a:avLst/>
            </a:prstGeom>
          </p:spPr>
        </p:pic>
      </p:grpSp>
    </p:spTree>
    <p:extLst>
      <p:ext uri="{BB962C8B-B14F-4D97-AF65-F5344CB8AC3E}">
        <p14:creationId xmlns:p14="http://schemas.microsoft.com/office/powerpoint/2010/main" val="257740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39024218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Rectangle 31">
            <a:extLst>
              <a:ext uri="{FF2B5EF4-FFF2-40B4-BE49-F238E27FC236}">
                <a16:creationId xmlns:a16="http://schemas.microsoft.com/office/drawing/2014/main" id="{BE381BE8-8669-3BA5-CA89-0AE15FBD41EB}"/>
              </a:ext>
            </a:extLst>
          </p:cNvPr>
          <p:cNvSpPr/>
          <p:nvPr/>
        </p:nvSpPr>
        <p:spPr>
          <a:xfrm>
            <a:off x="0" y="5125774"/>
            <a:ext cx="12192000" cy="7369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31" name="Rectangle 30">
            <a:extLst>
              <a:ext uri="{FF2B5EF4-FFF2-40B4-BE49-F238E27FC236}">
                <a16:creationId xmlns:a16="http://schemas.microsoft.com/office/drawing/2014/main" id="{EDBBECBE-548D-EB32-7092-2991D87B6A4C}"/>
              </a:ext>
            </a:extLst>
          </p:cNvPr>
          <p:cNvSpPr/>
          <p:nvPr/>
        </p:nvSpPr>
        <p:spPr>
          <a:xfrm>
            <a:off x="0" y="3695387"/>
            <a:ext cx="12192000" cy="7369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a:xfrm>
            <a:off x="528320" y="365125"/>
            <a:ext cx="11155680" cy="530421"/>
          </a:xfrm>
        </p:spPr>
        <p:txBody>
          <a:bodyPr vert="horz"/>
          <a:lstStyle/>
          <a:p>
            <a:r>
              <a:rPr lang="en-BE" dirty="0"/>
              <a:t>8. Synchronous vs Asynchronous</a:t>
            </a:r>
          </a:p>
        </p:txBody>
      </p:sp>
      <p:sp>
        <p:nvSpPr>
          <p:cNvPr id="7" name="Rectangle 6">
            <a:extLst>
              <a:ext uri="{FF2B5EF4-FFF2-40B4-BE49-F238E27FC236}">
                <a16:creationId xmlns:a16="http://schemas.microsoft.com/office/drawing/2014/main" id="{91CE7D81-68C5-44D1-5A08-F2F77E1BC9D4}"/>
              </a:ext>
            </a:extLst>
          </p:cNvPr>
          <p:cNvSpPr/>
          <p:nvPr/>
        </p:nvSpPr>
        <p:spPr>
          <a:xfrm>
            <a:off x="0" y="2223019"/>
            <a:ext cx="12192000" cy="7369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2" name="TextBox 11">
            <a:extLst>
              <a:ext uri="{FF2B5EF4-FFF2-40B4-BE49-F238E27FC236}">
                <a16:creationId xmlns:a16="http://schemas.microsoft.com/office/drawing/2014/main" id="{EA898C88-03E4-151E-0030-3E4842219B00}"/>
              </a:ext>
            </a:extLst>
          </p:cNvPr>
          <p:cNvSpPr txBox="1"/>
          <p:nvPr/>
        </p:nvSpPr>
        <p:spPr>
          <a:xfrm>
            <a:off x="1096944" y="1847525"/>
            <a:ext cx="1258065" cy="307777"/>
          </a:xfrm>
          <a:prstGeom prst="rect">
            <a:avLst/>
          </a:prstGeom>
          <a:noFill/>
        </p:spPr>
        <p:txBody>
          <a:bodyPr wrap="square">
            <a:spAutoFit/>
          </a:bodyPr>
          <a:lstStyle/>
          <a:p>
            <a:r>
              <a:rPr lang="en-BE" sz="1400" b="1" dirty="0">
                <a:latin typeface="Calibri (Body)"/>
              </a:rPr>
              <a:t>Scenario</a:t>
            </a:r>
          </a:p>
        </p:txBody>
      </p:sp>
      <p:sp>
        <p:nvSpPr>
          <p:cNvPr id="13" name="TextBox 12">
            <a:extLst>
              <a:ext uri="{FF2B5EF4-FFF2-40B4-BE49-F238E27FC236}">
                <a16:creationId xmlns:a16="http://schemas.microsoft.com/office/drawing/2014/main" id="{DF76D24B-7AB5-2A85-D6EB-970BD1BC5F04}"/>
              </a:ext>
            </a:extLst>
          </p:cNvPr>
          <p:cNvSpPr txBox="1"/>
          <p:nvPr/>
        </p:nvSpPr>
        <p:spPr>
          <a:xfrm>
            <a:off x="3303057" y="1843980"/>
            <a:ext cx="1258065" cy="307777"/>
          </a:xfrm>
          <a:prstGeom prst="rect">
            <a:avLst/>
          </a:prstGeom>
          <a:noFill/>
        </p:spPr>
        <p:txBody>
          <a:bodyPr wrap="square">
            <a:spAutoFit/>
          </a:bodyPr>
          <a:lstStyle/>
          <a:p>
            <a:r>
              <a:rPr lang="en-BE" sz="1400" b="1" dirty="0">
                <a:latin typeface="Calibri (Body)"/>
              </a:rPr>
              <a:t>Synchronous</a:t>
            </a:r>
          </a:p>
        </p:txBody>
      </p:sp>
      <p:sp>
        <p:nvSpPr>
          <p:cNvPr id="14" name="TextBox 13">
            <a:extLst>
              <a:ext uri="{FF2B5EF4-FFF2-40B4-BE49-F238E27FC236}">
                <a16:creationId xmlns:a16="http://schemas.microsoft.com/office/drawing/2014/main" id="{E8B45C78-EB6C-F541-25A1-56B7748FD6DF}"/>
              </a:ext>
            </a:extLst>
          </p:cNvPr>
          <p:cNvSpPr txBox="1"/>
          <p:nvPr/>
        </p:nvSpPr>
        <p:spPr>
          <a:xfrm>
            <a:off x="5170950" y="1843979"/>
            <a:ext cx="1258065" cy="307777"/>
          </a:xfrm>
          <a:prstGeom prst="rect">
            <a:avLst/>
          </a:prstGeom>
          <a:noFill/>
        </p:spPr>
        <p:txBody>
          <a:bodyPr wrap="square">
            <a:spAutoFit/>
          </a:bodyPr>
          <a:lstStyle/>
          <a:p>
            <a:r>
              <a:rPr lang="en-BE" sz="1400" b="1" dirty="0">
                <a:latin typeface="Calibri (Body)"/>
              </a:rPr>
              <a:t>Asynchronous</a:t>
            </a:r>
          </a:p>
        </p:txBody>
      </p:sp>
      <p:cxnSp>
        <p:nvCxnSpPr>
          <p:cNvPr id="19" name="Straight Connector 18">
            <a:extLst>
              <a:ext uri="{FF2B5EF4-FFF2-40B4-BE49-F238E27FC236}">
                <a16:creationId xmlns:a16="http://schemas.microsoft.com/office/drawing/2014/main" id="{7CC09C64-927B-3CC4-CAA2-5E204745F2A3}"/>
              </a:ext>
            </a:extLst>
          </p:cNvPr>
          <p:cNvCxnSpPr>
            <a:cxnSpLocks/>
          </p:cNvCxnSpPr>
          <p:nvPr/>
        </p:nvCxnSpPr>
        <p:spPr>
          <a:xfrm>
            <a:off x="2998143" y="2086971"/>
            <a:ext cx="0" cy="3851916"/>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25E3B3-5FC3-B2FC-942B-904455EB496E}"/>
              </a:ext>
            </a:extLst>
          </p:cNvPr>
          <p:cNvCxnSpPr>
            <a:cxnSpLocks/>
          </p:cNvCxnSpPr>
          <p:nvPr/>
        </p:nvCxnSpPr>
        <p:spPr>
          <a:xfrm>
            <a:off x="6733930" y="2086971"/>
            <a:ext cx="0" cy="3851916"/>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24756868-EE2B-8EC0-44F9-1A030059AED0}"/>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i="1" dirty="0">
                <a:solidFill>
                  <a:schemeClr val="tx1"/>
                </a:solidFill>
                <a:latin typeface="Calibri (Body)"/>
              </a:rPr>
              <a:t>Synchronous and asynchronous communication each have strengths; the best choice depends on the situation.</a:t>
            </a:r>
          </a:p>
        </p:txBody>
      </p:sp>
      <p:sp>
        <p:nvSpPr>
          <p:cNvPr id="8" name="TextBox 7">
            <a:extLst>
              <a:ext uri="{FF2B5EF4-FFF2-40B4-BE49-F238E27FC236}">
                <a16:creationId xmlns:a16="http://schemas.microsoft.com/office/drawing/2014/main" id="{95D6A165-507A-8E40-CF7B-5DA3EDF07A3F}"/>
              </a:ext>
            </a:extLst>
          </p:cNvPr>
          <p:cNvSpPr txBox="1"/>
          <p:nvPr/>
        </p:nvSpPr>
        <p:spPr>
          <a:xfrm>
            <a:off x="8606677" y="1843979"/>
            <a:ext cx="1258065" cy="307777"/>
          </a:xfrm>
          <a:prstGeom prst="rect">
            <a:avLst/>
          </a:prstGeom>
          <a:noFill/>
        </p:spPr>
        <p:txBody>
          <a:bodyPr wrap="square">
            <a:spAutoFit/>
          </a:bodyPr>
          <a:lstStyle/>
          <a:p>
            <a:r>
              <a:rPr lang="en-BE" sz="1400" b="1" dirty="0">
                <a:latin typeface="Calibri (Body)"/>
              </a:rPr>
              <a:t>Justification</a:t>
            </a:r>
          </a:p>
        </p:txBody>
      </p:sp>
      <p:cxnSp>
        <p:nvCxnSpPr>
          <p:cNvPr id="10" name="Straight Connector 9">
            <a:extLst>
              <a:ext uri="{FF2B5EF4-FFF2-40B4-BE49-F238E27FC236}">
                <a16:creationId xmlns:a16="http://schemas.microsoft.com/office/drawing/2014/main" id="{528B1BCB-A516-F4BB-E2D7-09436C0ECD51}"/>
              </a:ext>
            </a:extLst>
          </p:cNvPr>
          <p:cNvCxnSpPr>
            <a:cxnSpLocks/>
          </p:cNvCxnSpPr>
          <p:nvPr/>
        </p:nvCxnSpPr>
        <p:spPr>
          <a:xfrm>
            <a:off x="4866036" y="2086971"/>
            <a:ext cx="0" cy="3842489"/>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08D405BC-9279-5F17-B5EE-D84543792FF2}"/>
              </a:ext>
            </a:extLst>
          </p:cNvPr>
          <p:cNvSpPr/>
          <p:nvPr/>
        </p:nvSpPr>
        <p:spPr>
          <a:xfrm>
            <a:off x="555310" y="2328288"/>
            <a:ext cx="2289739"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Checking stocks before confirming an order</a:t>
            </a:r>
          </a:p>
        </p:txBody>
      </p:sp>
      <p:pic>
        <p:nvPicPr>
          <p:cNvPr id="15" name="Graphic 14" descr="Checkmark with solid fill">
            <a:extLst>
              <a:ext uri="{FF2B5EF4-FFF2-40B4-BE49-F238E27FC236}">
                <a16:creationId xmlns:a16="http://schemas.microsoft.com/office/drawing/2014/main" id="{1A5DA3D3-28C7-C63B-4748-3415F9ED71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52089" y="2358516"/>
            <a:ext cx="360000" cy="360000"/>
          </a:xfrm>
          <a:prstGeom prst="rect">
            <a:avLst/>
          </a:prstGeom>
        </p:spPr>
      </p:pic>
      <p:pic>
        <p:nvPicPr>
          <p:cNvPr id="17" name="Graphic 16" descr="Close with solid fill">
            <a:extLst>
              <a:ext uri="{FF2B5EF4-FFF2-40B4-BE49-F238E27FC236}">
                <a16:creationId xmlns:a16="http://schemas.microsoft.com/office/drawing/2014/main" id="{5D646E2A-F53A-2C56-A73F-1727B17C2A9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19982" y="2361955"/>
            <a:ext cx="360000" cy="360000"/>
          </a:xfrm>
          <a:prstGeom prst="rect">
            <a:avLst/>
          </a:prstGeom>
        </p:spPr>
      </p:pic>
      <p:sp>
        <p:nvSpPr>
          <p:cNvPr id="18" name="Rectangle 17">
            <a:extLst>
              <a:ext uri="{FF2B5EF4-FFF2-40B4-BE49-F238E27FC236}">
                <a16:creationId xmlns:a16="http://schemas.microsoft.com/office/drawing/2014/main" id="{ACE4F1D2-A20D-4F96-97AD-231870A9EBB7}"/>
              </a:ext>
            </a:extLst>
          </p:cNvPr>
          <p:cNvSpPr/>
          <p:nvPr/>
        </p:nvSpPr>
        <p:spPr>
          <a:xfrm>
            <a:off x="6787419" y="2328288"/>
            <a:ext cx="4896580"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The user must know immediately if the product is available to complete checkout. Async would delay feedback and frustrate the user.</a:t>
            </a:r>
          </a:p>
        </p:txBody>
      </p:sp>
      <p:sp>
        <p:nvSpPr>
          <p:cNvPr id="24" name="Rectangle 23">
            <a:extLst>
              <a:ext uri="{FF2B5EF4-FFF2-40B4-BE49-F238E27FC236}">
                <a16:creationId xmlns:a16="http://schemas.microsoft.com/office/drawing/2014/main" id="{91E1FA83-D04A-9B14-F9A2-C9B60CCF2BE5}"/>
              </a:ext>
            </a:extLst>
          </p:cNvPr>
          <p:cNvSpPr/>
          <p:nvPr/>
        </p:nvSpPr>
        <p:spPr>
          <a:xfrm>
            <a:off x="555310" y="3067976"/>
            <a:ext cx="2289739"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Send a confirmation email after the order is created</a:t>
            </a:r>
          </a:p>
        </p:txBody>
      </p:sp>
      <p:pic>
        <p:nvPicPr>
          <p:cNvPr id="25" name="Graphic 24" descr="Checkmark with solid fill">
            <a:extLst>
              <a:ext uri="{FF2B5EF4-FFF2-40B4-BE49-F238E27FC236}">
                <a16:creationId xmlns:a16="http://schemas.microsoft.com/office/drawing/2014/main" id="{2BEE6B79-2E1C-2C54-829A-021D962F2C2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19978" y="3098204"/>
            <a:ext cx="360000" cy="360000"/>
          </a:xfrm>
          <a:prstGeom prst="rect">
            <a:avLst/>
          </a:prstGeom>
        </p:spPr>
      </p:pic>
      <p:pic>
        <p:nvPicPr>
          <p:cNvPr id="26" name="Graphic 25" descr="Close with solid fill">
            <a:extLst>
              <a:ext uri="{FF2B5EF4-FFF2-40B4-BE49-F238E27FC236}">
                <a16:creationId xmlns:a16="http://schemas.microsoft.com/office/drawing/2014/main" id="{2E64D6B6-7B69-7AB5-F5B4-9AA22534900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52084" y="3101643"/>
            <a:ext cx="360000" cy="360000"/>
          </a:xfrm>
          <a:prstGeom prst="rect">
            <a:avLst/>
          </a:prstGeom>
        </p:spPr>
      </p:pic>
      <p:sp>
        <p:nvSpPr>
          <p:cNvPr id="27" name="Rectangle 26">
            <a:extLst>
              <a:ext uri="{FF2B5EF4-FFF2-40B4-BE49-F238E27FC236}">
                <a16:creationId xmlns:a16="http://schemas.microsoft.com/office/drawing/2014/main" id="{4DEF9A69-4D77-7C3B-23A9-41D9D3F13644}"/>
              </a:ext>
            </a:extLst>
          </p:cNvPr>
          <p:cNvSpPr/>
          <p:nvPr/>
        </p:nvSpPr>
        <p:spPr>
          <a:xfrm>
            <a:off x="6787419" y="3067976"/>
            <a:ext cx="4896580"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Email is not required immediately; it can be triggered by an </a:t>
            </a:r>
            <a:r>
              <a:rPr lang="en-BE" sz="1200" dirty="0" err="1">
                <a:solidFill>
                  <a:schemeClr val="tx1"/>
                </a:solidFill>
                <a:latin typeface="Calibri (Body)"/>
              </a:rPr>
              <a:t>OrderConfirmed</a:t>
            </a:r>
            <a:r>
              <a:rPr lang="en-BE" sz="1200" dirty="0">
                <a:solidFill>
                  <a:schemeClr val="tx1"/>
                </a:solidFill>
                <a:latin typeface="Calibri (Body)"/>
              </a:rPr>
              <a:t> event. Async ensures the checkout flow is fast for the user. </a:t>
            </a:r>
          </a:p>
        </p:txBody>
      </p:sp>
      <p:sp>
        <p:nvSpPr>
          <p:cNvPr id="53" name="Rectangle 52">
            <a:extLst>
              <a:ext uri="{FF2B5EF4-FFF2-40B4-BE49-F238E27FC236}">
                <a16:creationId xmlns:a16="http://schemas.microsoft.com/office/drawing/2014/main" id="{22E9ABED-EAAE-F7BF-505D-819317061ACA}"/>
              </a:ext>
            </a:extLst>
          </p:cNvPr>
          <p:cNvSpPr/>
          <p:nvPr/>
        </p:nvSpPr>
        <p:spPr>
          <a:xfrm>
            <a:off x="555310" y="3807664"/>
            <a:ext cx="2289739"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Managing Black Friday traffic spikes</a:t>
            </a:r>
          </a:p>
        </p:txBody>
      </p:sp>
      <p:pic>
        <p:nvPicPr>
          <p:cNvPr id="54" name="Graphic 53" descr="Checkmark with solid fill">
            <a:extLst>
              <a:ext uri="{FF2B5EF4-FFF2-40B4-BE49-F238E27FC236}">
                <a16:creationId xmlns:a16="http://schemas.microsoft.com/office/drawing/2014/main" id="{8BCCB8BC-0057-AB28-209F-AB6A73F989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19978" y="3837892"/>
            <a:ext cx="360000" cy="360000"/>
          </a:xfrm>
          <a:prstGeom prst="rect">
            <a:avLst/>
          </a:prstGeom>
        </p:spPr>
      </p:pic>
      <p:pic>
        <p:nvPicPr>
          <p:cNvPr id="55" name="Graphic 54" descr="Close with solid fill">
            <a:extLst>
              <a:ext uri="{FF2B5EF4-FFF2-40B4-BE49-F238E27FC236}">
                <a16:creationId xmlns:a16="http://schemas.microsoft.com/office/drawing/2014/main" id="{BDD92034-F1FD-1562-C90A-E9C67138323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52084" y="3841331"/>
            <a:ext cx="360000" cy="360000"/>
          </a:xfrm>
          <a:prstGeom prst="rect">
            <a:avLst/>
          </a:prstGeom>
        </p:spPr>
      </p:pic>
      <p:sp>
        <p:nvSpPr>
          <p:cNvPr id="56" name="Rectangle 55">
            <a:extLst>
              <a:ext uri="{FF2B5EF4-FFF2-40B4-BE49-F238E27FC236}">
                <a16:creationId xmlns:a16="http://schemas.microsoft.com/office/drawing/2014/main" id="{C2ACBE47-8919-482D-A9E7-38BCAB864CFE}"/>
              </a:ext>
            </a:extLst>
          </p:cNvPr>
          <p:cNvSpPr/>
          <p:nvPr/>
        </p:nvSpPr>
        <p:spPr>
          <a:xfrm>
            <a:off x="6787419" y="3807664"/>
            <a:ext cx="4896580"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Synchronous requests would overload services under peak demand. With async queues, requests are buffered and processed as capacity allows.</a:t>
            </a:r>
          </a:p>
        </p:txBody>
      </p:sp>
      <p:sp>
        <p:nvSpPr>
          <p:cNvPr id="58" name="Rectangle 57">
            <a:extLst>
              <a:ext uri="{FF2B5EF4-FFF2-40B4-BE49-F238E27FC236}">
                <a16:creationId xmlns:a16="http://schemas.microsoft.com/office/drawing/2014/main" id="{E0A281EF-9881-A723-F500-74AC185E9EA1}"/>
              </a:ext>
            </a:extLst>
          </p:cNvPr>
          <p:cNvSpPr/>
          <p:nvPr/>
        </p:nvSpPr>
        <p:spPr>
          <a:xfrm>
            <a:off x="555310" y="4547352"/>
            <a:ext cx="2289739"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The system validates a customer account during order creation</a:t>
            </a:r>
          </a:p>
        </p:txBody>
      </p:sp>
      <p:pic>
        <p:nvPicPr>
          <p:cNvPr id="62" name="Graphic 61" descr="Checkmark with solid fill">
            <a:extLst>
              <a:ext uri="{FF2B5EF4-FFF2-40B4-BE49-F238E27FC236}">
                <a16:creationId xmlns:a16="http://schemas.microsoft.com/office/drawing/2014/main" id="{C9C0443B-8560-3A6A-2434-64E96D0C4C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52089" y="4577580"/>
            <a:ext cx="360000" cy="360000"/>
          </a:xfrm>
          <a:prstGeom prst="rect">
            <a:avLst/>
          </a:prstGeom>
        </p:spPr>
      </p:pic>
      <p:pic>
        <p:nvPicPr>
          <p:cNvPr id="63" name="Graphic 62" descr="Close with solid fill">
            <a:extLst>
              <a:ext uri="{FF2B5EF4-FFF2-40B4-BE49-F238E27FC236}">
                <a16:creationId xmlns:a16="http://schemas.microsoft.com/office/drawing/2014/main" id="{E64753C8-9745-19AA-A960-AE4985A6ADC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19982" y="4581019"/>
            <a:ext cx="360000" cy="360000"/>
          </a:xfrm>
          <a:prstGeom prst="rect">
            <a:avLst/>
          </a:prstGeom>
        </p:spPr>
      </p:pic>
      <p:sp>
        <p:nvSpPr>
          <p:cNvPr id="64" name="Rectangle 63">
            <a:extLst>
              <a:ext uri="{FF2B5EF4-FFF2-40B4-BE49-F238E27FC236}">
                <a16:creationId xmlns:a16="http://schemas.microsoft.com/office/drawing/2014/main" id="{70008F31-E262-057F-AEAA-C9FF88D16CC5}"/>
              </a:ext>
            </a:extLst>
          </p:cNvPr>
          <p:cNvSpPr/>
          <p:nvPr/>
        </p:nvSpPr>
        <p:spPr>
          <a:xfrm>
            <a:off x="6787419" y="4547352"/>
            <a:ext cx="4896580"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Validation must happen instantly to prevent invalid orders from entering the system. Async would allow orders from non-existent or blocked accounts.</a:t>
            </a:r>
          </a:p>
        </p:txBody>
      </p:sp>
      <p:sp>
        <p:nvSpPr>
          <p:cNvPr id="66" name="Rectangle 65">
            <a:extLst>
              <a:ext uri="{FF2B5EF4-FFF2-40B4-BE49-F238E27FC236}">
                <a16:creationId xmlns:a16="http://schemas.microsoft.com/office/drawing/2014/main" id="{F9F59CC6-1A62-60D7-E050-F0D102398E7E}"/>
              </a:ext>
            </a:extLst>
          </p:cNvPr>
          <p:cNvSpPr/>
          <p:nvPr/>
        </p:nvSpPr>
        <p:spPr>
          <a:xfrm>
            <a:off x="555310" y="5287039"/>
            <a:ext cx="2289739"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b="1" dirty="0">
                <a:solidFill>
                  <a:schemeClr val="tx1"/>
                </a:solidFill>
                <a:latin typeface="Calibri (Body)"/>
              </a:rPr>
              <a:t>Generating a monthly sales report</a:t>
            </a:r>
          </a:p>
        </p:txBody>
      </p:sp>
      <p:pic>
        <p:nvPicPr>
          <p:cNvPr id="67" name="Graphic 66" descr="Checkmark with solid fill">
            <a:extLst>
              <a:ext uri="{FF2B5EF4-FFF2-40B4-BE49-F238E27FC236}">
                <a16:creationId xmlns:a16="http://schemas.microsoft.com/office/drawing/2014/main" id="{3D53982B-ABC1-9DF1-3AAB-3E8D410438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19978" y="5317267"/>
            <a:ext cx="360000" cy="360000"/>
          </a:xfrm>
          <a:prstGeom prst="rect">
            <a:avLst/>
          </a:prstGeom>
        </p:spPr>
      </p:pic>
      <p:pic>
        <p:nvPicPr>
          <p:cNvPr id="68" name="Graphic 67" descr="Close with solid fill">
            <a:extLst>
              <a:ext uri="{FF2B5EF4-FFF2-40B4-BE49-F238E27FC236}">
                <a16:creationId xmlns:a16="http://schemas.microsoft.com/office/drawing/2014/main" id="{8CF7CECF-2834-96C0-091D-554902995B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52084" y="5320706"/>
            <a:ext cx="360000" cy="360000"/>
          </a:xfrm>
          <a:prstGeom prst="rect">
            <a:avLst/>
          </a:prstGeom>
        </p:spPr>
      </p:pic>
      <p:sp>
        <p:nvSpPr>
          <p:cNvPr id="69" name="Rectangle 68">
            <a:extLst>
              <a:ext uri="{FF2B5EF4-FFF2-40B4-BE49-F238E27FC236}">
                <a16:creationId xmlns:a16="http://schemas.microsoft.com/office/drawing/2014/main" id="{529EC027-F93C-056A-CC5E-D50C6560BA7D}"/>
              </a:ext>
            </a:extLst>
          </p:cNvPr>
          <p:cNvSpPr/>
          <p:nvPr/>
        </p:nvSpPr>
        <p:spPr>
          <a:xfrm>
            <a:off x="6787419" y="5287039"/>
            <a:ext cx="4896580"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200" dirty="0">
                <a:solidFill>
                  <a:schemeClr val="tx1"/>
                </a:solidFill>
                <a:latin typeface="Calibri (Body)"/>
              </a:rPr>
              <a:t>Reports don’t need to block the user experience. Events from orders can be collected asynchronously and processed later for analytics.</a:t>
            </a:r>
          </a:p>
        </p:txBody>
      </p:sp>
    </p:spTree>
    <p:extLst>
      <p:ext uri="{BB962C8B-B14F-4D97-AF65-F5344CB8AC3E}">
        <p14:creationId xmlns:p14="http://schemas.microsoft.com/office/powerpoint/2010/main" val="271017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8" grpId="0"/>
      <p:bldP spid="24" grpId="0"/>
      <p:bldP spid="27" grpId="0"/>
      <p:bldP spid="53" grpId="0"/>
      <p:bldP spid="56" grpId="0"/>
      <p:bldP spid="58" grpId="0"/>
      <p:bldP spid="64" grpId="0"/>
      <p:bldP spid="66" grpId="0"/>
      <p:bldP spid="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4241883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9. Summary</a:t>
            </a:r>
          </a:p>
        </p:txBody>
      </p:sp>
      <p:grpSp>
        <p:nvGrpSpPr>
          <p:cNvPr id="37" name="Group 36">
            <a:extLst>
              <a:ext uri="{FF2B5EF4-FFF2-40B4-BE49-F238E27FC236}">
                <a16:creationId xmlns:a16="http://schemas.microsoft.com/office/drawing/2014/main" id="{EE6C353E-DE5F-9A7E-9155-CFBB153F0DA2}"/>
              </a:ext>
            </a:extLst>
          </p:cNvPr>
          <p:cNvGrpSpPr/>
          <p:nvPr/>
        </p:nvGrpSpPr>
        <p:grpSpPr>
          <a:xfrm>
            <a:off x="528320" y="1753974"/>
            <a:ext cx="9473519" cy="450849"/>
            <a:chOff x="528320" y="1753974"/>
            <a:chExt cx="9473519" cy="450849"/>
          </a:xfrm>
        </p:grpSpPr>
        <p:grpSp>
          <p:nvGrpSpPr>
            <p:cNvPr id="23" name="Group 22">
              <a:extLst>
                <a:ext uri="{FF2B5EF4-FFF2-40B4-BE49-F238E27FC236}">
                  <a16:creationId xmlns:a16="http://schemas.microsoft.com/office/drawing/2014/main" id="{24466B5F-E0A3-2337-D4D3-07C48841A822}"/>
                </a:ext>
              </a:extLst>
            </p:cNvPr>
            <p:cNvGrpSpPr>
              <a:grpSpLocks noChangeAspect="1"/>
            </p:cNvGrpSpPr>
            <p:nvPr/>
          </p:nvGrpSpPr>
          <p:grpSpPr>
            <a:xfrm>
              <a:off x="528320" y="1799700"/>
              <a:ext cx="360000" cy="360000"/>
              <a:chOff x="2309567" y="1574276"/>
              <a:chExt cx="720000" cy="720000"/>
            </a:xfrm>
          </p:grpSpPr>
          <p:sp>
            <p:nvSpPr>
              <p:cNvPr id="13" name="Oval 12">
                <a:extLst>
                  <a:ext uri="{FF2B5EF4-FFF2-40B4-BE49-F238E27FC236}">
                    <a16:creationId xmlns:a16="http://schemas.microsoft.com/office/drawing/2014/main" id="{9283FC66-CE4E-A24F-2081-F31E648A3FA2}"/>
                  </a:ext>
                </a:extLst>
              </p:cNvPr>
              <p:cNvSpPr>
                <a:spLocks noChangeAspect="1"/>
              </p:cNvSpPr>
              <p:nvPr/>
            </p:nvSpPr>
            <p:spPr>
              <a:xfrm>
                <a:off x="2309567" y="1574276"/>
                <a:ext cx="720000" cy="72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 name="Graphic 5" descr="Gears with solid fill">
                <a:extLst>
                  <a:ext uri="{FF2B5EF4-FFF2-40B4-BE49-F238E27FC236}">
                    <a16:creationId xmlns:a16="http://schemas.microsoft.com/office/drawing/2014/main" id="{92196F84-DBA3-7EF8-527E-151AF8FBAA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54659" y="1618765"/>
                <a:ext cx="629815" cy="629815"/>
              </a:xfrm>
              <a:prstGeom prst="rect">
                <a:avLst/>
              </a:prstGeom>
            </p:spPr>
          </p:pic>
        </p:grpSp>
        <p:sp>
          <p:nvSpPr>
            <p:cNvPr id="25" name="Rectangle 24">
              <a:extLst>
                <a:ext uri="{FF2B5EF4-FFF2-40B4-BE49-F238E27FC236}">
                  <a16:creationId xmlns:a16="http://schemas.microsoft.com/office/drawing/2014/main" id="{7AE7DFFC-B861-B1B1-EB28-55432D26D74A}"/>
                </a:ext>
              </a:extLst>
            </p:cNvPr>
            <p:cNvSpPr/>
            <p:nvPr/>
          </p:nvSpPr>
          <p:spPr>
            <a:xfrm>
              <a:off x="1230077" y="1753974"/>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Microservices are independent but must collaborate to deliver value.</a:t>
              </a:r>
            </a:p>
          </p:txBody>
        </p:sp>
      </p:grpSp>
      <p:grpSp>
        <p:nvGrpSpPr>
          <p:cNvPr id="36" name="Group 35">
            <a:extLst>
              <a:ext uri="{FF2B5EF4-FFF2-40B4-BE49-F238E27FC236}">
                <a16:creationId xmlns:a16="http://schemas.microsoft.com/office/drawing/2014/main" id="{2FE09C09-B9FB-2631-70BD-3CD3CEF46501}"/>
              </a:ext>
            </a:extLst>
          </p:cNvPr>
          <p:cNvGrpSpPr/>
          <p:nvPr/>
        </p:nvGrpSpPr>
        <p:grpSpPr>
          <a:xfrm>
            <a:off x="528320" y="2735617"/>
            <a:ext cx="9473519" cy="450849"/>
            <a:chOff x="528320" y="2735617"/>
            <a:chExt cx="9473519" cy="450849"/>
          </a:xfrm>
        </p:grpSpPr>
        <p:grpSp>
          <p:nvGrpSpPr>
            <p:cNvPr id="22" name="Group 21">
              <a:extLst>
                <a:ext uri="{FF2B5EF4-FFF2-40B4-BE49-F238E27FC236}">
                  <a16:creationId xmlns:a16="http://schemas.microsoft.com/office/drawing/2014/main" id="{4AB64435-5E94-1366-08FF-500E79BBFADE}"/>
                </a:ext>
              </a:extLst>
            </p:cNvPr>
            <p:cNvGrpSpPr>
              <a:grpSpLocks noChangeAspect="1"/>
            </p:cNvGrpSpPr>
            <p:nvPr/>
          </p:nvGrpSpPr>
          <p:grpSpPr>
            <a:xfrm>
              <a:off x="528320" y="2781042"/>
              <a:ext cx="360000" cy="360000"/>
              <a:chOff x="2309567" y="3045837"/>
              <a:chExt cx="720000" cy="720000"/>
            </a:xfrm>
          </p:grpSpPr>
          <p:sp>
            <p:nvSpPr>
              <p:cNvPr id="14" name="Oval 13">
                <a:extLst>
                  <a:ext uri="{FF2B5EF4-FFF2-40B4-BE49-F238E27FC236}">
                    <a16:creationId xmlns:a16="http://schemas.microsoft.com/office/drawing/2014/main" id="{20C38D0F-11CA-F0BE-68BA-06CB8CF8F4E8}"/>
                  </a:ext>
                </a:extLst>
              </p:cNvPr>
              <p:cNvSpPr>
                <a:spLocks noChangeAspect="1"/>
              </p:cNvSpPr>
              <p:nvPr/>
            </p:nvSpPr>
            <p:spPr>
              <a:xfrm>
                <a:off x="2309567" y="3045837"/>
                <a:ext cx="720000" cy="72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8" name="Graphic 7" descr="Podcast with solid fill">
                <a:extLst>
                  <a:ext uri="{FF2B5EF4-FFF2-40B4-BE49-F238E27FC236}">
                    <a16:creationId xmlns:a16="http://schemas.microsoft.com/office/drawing/2014/main" id="{2B363C84-60B0-E189-C89C-041A9D15E3A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96569" y="3153335"/>
                <a:ext cx="545994" cy="545994"/>
              </a:xfrm>
              <a:prstGeom prst="rect">
                <a:avLst/>
              </a:prstGeom>
            </p:spPr>
          </p:pic>
        </p:grpSp>
        <p:sp>
          <p:nvSpPr>
            <p:cNvPr id="27" name="Rectangle 26">
              <a:extLst>
                <a:ext uri="{FF2B5EF4-FFF2-40B4-BE49-F238E27FC236}">
                  <a16:creationId xmlns:a16="http://schemas.microsoft.com/office/drawing/2014/main" id="{EB714575-01FB-6E32-BEE6-24F1B84C52B9}"/>
                </a:ext>
              </a:extLst>
            </p:cNvPr>
            <p:cNvSpPr/>
            <p:nvPr/>
          </p:nvSpPr>
          <p:spPr>
            <a:xfrm>
              <a:off x="1230077" y="2735617"/>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Two main communication styles: synchronous (immediate response) and asynchronous (event-driven, decoupled).</a:t>
              </a:r>
            </a:p>
          </p:txBody>
        </p:sp>
      </p:grpSp>
      <p:grpSp>
        <p:nvGrpSpPr>
          <p:cNvPr id="35" name="Group 34">
            <a:extLst>
              <a:ext uri="{FF2B5EF4-FFF2-40B4-BE49-F238E27FC236}">
                <a16:creationId xmlns:a16="http://schemas.microsoft.com/office/drawing/2014/main" id="{BBA9EFA9-6112-4245-1FB0-2288C4BA8276}"/>
              </a:ext>
            </a:extLst>
          </p:cNvPr>
          <p:cNvGrpSpPr/>
          <p:nvPr/>
        </p:nvGrpSpPr>
        <p:grpSpPr>
          <a:xfrm>
            <a:off x="528320" y="3717260"/>
            <a:ext cx="9473519" cy="450849"/>
            <a:chOff x="528320" y="3717260"/>
            <a:chExt cx="9473519" cy="450849"/>
          </a:xfrm>
        </p:grpSpPr>
        <p:grpSp>
          <p:nvGrpSpPr>
            <p:cNvPr id="21" name="Group 20">
              <a:extLst>
                <a:ext uri="{FF2B5EF4-FFF2-40B4-BE49-F238E27FC236}">
                  <a16:creationId xmlns:a16="http://schemas.microsoft.com/office/drawing/2014/main" id="{1EBA6A9E-3C78-36E2-2713-0FD45B5F1368}"/>
                </a:ext>
              </a:extLst>
            </p:cNvPr>
            <p:cNvGrpSpPr>
              <a:grpSpLocks noChangeAspect="1"/>
            </p:cNvGrpSpPr>
            <p:nvPr/>
          </p:nvGrpSpPr>
          <p:grpSpPr>
            <a:xfrm>
              <a:off x="528320" y="3762384"/>
              <a:ext cx="360000" cy="360000"/>
              <a:chOff x="2309567" y="4203724"/>
              <a:chExt cx="720000" cy="720000"/>
            </a:xfrm>
          </p:grpSpPr>
          <p:sp>
            <p:nvSpPr>
              <p:cNvPr id="16" name="Oval 15">
                <a:extLst>
                  <a:ext uri="{FF2B5EF4-FFF2-40B4-BE49-F238E27FC236}">
                    <a16:creationId xmlns:a16="http://schemas.microsoft.com/office/drawing/2014/main" id="{644A78B9-18E2-E8CA-7C85-0D15AEAECFA7}"/>
                  </a:ext>
                </a:extLst>
              </p:cNvPr>
              <p:cNvSpPr>
                <a:spLocks noChangeAspect="1"/>
              </p:cNvSpPr>
              <p:nvPr/>
            </p:nvSpPr>
            <p:spPr>
              <a:xfrm>
                <a:off x="2309567" y="4203724"/>
                <a:ext cx="720000" cy="72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10" name="Graphic 9" descr="Body builder with solid fill">
                <a:extLst>
                  <a:ext uri="{FF2B5EF4-FFF2-40B4-BE49-F238E27FC236}">
                    <a16:creationId xmlns:a16="http://schemas.microsoft.com/office/drawing/2014/main" id="{AB9CFB36-6B7C-0970-1459-E4895D4E259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96569" y="4290123"/>
                <a:ext cx="545994" cy="545994"/>
              </a:xfrm>
              <a:prstGeom prst="rect">
                <a:avLst/>
              </a:prstGeom>
            </p:spPr>
          </p:pic>
        </p:grpSp>
        <p:sp>
          <p:nvSpPr>
            <p:cNvPr id="28" name="Rectangle 27">
              <a:extLst>
                <a:ext uri="{FF2B5EF4-FFF2-40B4-BE49-F238E27FC236}">
                  <a16:creationId xmlns:a16="http://schemas.microsoft.com/office/drawing/2014/main" id="{F3171DBC-0A7A-752B-0C26-E06ABD17F306}"/>
                </a:ext>
              </a:extLst>
            </p:cNvPr>
            <p:cNvSpPr/>
            <p:nvPr/>
          </p:nvSpPr>
          <p:spPr>
            <a:xfrm>
              <a:off x="1230077" y="3717260"/>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Each style has strengths, weaknesses, and use cases.</a:t>
              </a:r>
            </a:p>
          </p:txBody>
        </p:sp>
      </p:grpSp>
      <p:grpSp>
        <p:nvGrpSpPr>
          <p:cNvPr id="34" name="Group 33">
            <a:extLst>
              <a:ext uri="{FF2B5EF4-FFF2-40B4-BE49-F238E27FC236}">
                <a16:creationId xmlns:a16="http://schemas.microsoft.com/office/drawing/2014/main" id="{80C30B8F-79DA-218B-0FBB-466E9F94ADBD}"/>
              </a:ext>
            </a:extLst>
          </p:cNvPr>
          <p:cNvGrpSpPr/>
          <p:nvPr/>
        </p:nvGrpSpPr>
        <p:grpSpPr>
          <a:xfrm>
            <a:off x="528320" y="4698903"/>
            <a:ext cx="9473519" cy="450849"/>
            <a:chOff x="528320" y="4698903"/>
            <a:chExt cx="9473519" cy="450849"/>
          </a:xfrm>
        </p:grpSpPr>
        <p:grpSp>
          <p:nvGrpSpPr>
            <p:cNvPr id="20" name="Group 19">
              <a:extLst>
                <a:ext uri="{FF2B5EF4-FFF2-40B4-BE49-F238E27FC236}">
                  <a16:creationId xmlns:a16="http://schemas.microsoft.com/office/drawing/2014/main" id="{D226908F-2937-3096-D7C5-C73F71B35468}"/>
                </a:ext>
              </a:extLst>
            </p:cNvPr>
            <p:cNvGrpSpPr>
              <a:grpSpLocks noChangeAspect="1"/>
            </p:cNvGrpSpPr>
            <p:nvPr/>
          </p:nvGrpSpPr>
          <p:grpSpPr>
            <a:xfrm>
              <a:off x="528320" y="4743725"/>
              <a:ext cx="360000" cy="360000"/>
              <a:chOff x="2309567" y="5170891"/>
              <a:chExt cx="720000" cy="720000"/>
            </a:xfrm>
          </p:grpSpPr>
          <p:sp>
            <p:nvSpPr>
              <p:cNvPr id="18" name="Oval 17">
                <a:extLst>
                  <a:ext uri="{FF2B5EF4-FFF2-40B4-BE49-F238E27FC236}">
                    <a16:creationId xmlns:a16="http://schemas.microsoft.com/office/drawing/2014/main" id="{76D306E1-C091-B34F-9CBB-51227F92A324}"/>
                  </a:ext>
                </a:extLst>
              </p:cNvPr>
              <p:cNvSpPr>
                <a:spLocks noChangeAspect="1"/>
              </p:cNvSpPr>
              <p:nvPr/>
            </p:nvSpPr>
            <p:spPr>
              <a:xfrm>
                <a:off x="2309567" y="5170891"/>
                <a:ext cx="720000" cy="72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12" name="Graphic 11" descr="Key with solid fill">
                <a:extLst>
                  <a:ext uri="{FF2B5EF4-FFF2-40B4-BE49-F238E27FC236}">
                    <a16:creationId xmlns:a16="http://schemas.microsoft.com/office/drawing/2014/main" id="{E555F6A1-7E87-9077-314C-30B4895DCF8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96569" y="5264009"/>
                <a:ext cx="545994" cy="545994"/>
              </a:xfrm>
              <a:prstGeom prst="rect">
                <a:avLst/>
              </a:prstGeom>
            </p:spPr>
          </p:pic>
        </p:grpSp>
        <p:sp>
          <p:nvSpPr>
            <p:cNvPr id="29" name="Rectangle 28">
              <a:extLst>
                <a:ext uri="{FF2B5EF4-FFF2-40B4-BE49-F238E27FC236}">
                  <a16:creationId xmlns:a16="http://schemas.microsoft.com/office/drawing/2014/main" id="{EF6927F1-AFD5-5F9E-1585-B94DEC288269}"/>
                </a:ext>
              </a:extLst>
            </p:cNvPr>
            <p:cNvSpPr/>
            <p:nvPr/>
          </p:nvSpPr>
          <p:spPr>
            <a:xfrm>
              <a:off x="1230077" y="4698903"/>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BE" sz="1400" b="1" dirty="0">
                  <a:solidFill>
                    <a:schemeClr val="tx1"/>
                  </a:solidFill>
                  <a:latin typeface="Calibri (Body)"/>
                </a:rPr>
                <a:t>The key is choosing the right tool for the right situation.</a:t>
              </a:r>
            </a:p>
          </p:txBody>
        </p:sp>
      </p:grpSp>
    </p:spTree>
    <p:extLst>
      <p:ext uri="{BB962C8B-B14F-4D97-AF65-F5344CB8AC3E}">
        <p14:creationId xmlns:p14="http://schemas.microsoft.com/office/powerpoint/2010/main" val="4198635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495521-9A34-33B3-88FB-DA024DCB7EAE}"/>
              </a:ext>
            </a:extLst>
          </p:cNvPr>
          <p:cNvGraphicFramePr>
            <a:graphicFrameLocks noChangeAspect="1"/>
          </p:cNvGraphicFramePr>
          <p:nvPr>
            <p:custDataLst>
              <p:tags r:id="rId1"/>
            </p:custDataLst>
            <p:extLst>
              <p:ext uri="{D42A27DB-BD31-4B8C-83A1-F6EECF244321}">
                <p14:modId xmlns:p14="http://schemas.microsoft.com/office/powerpoint/2010/main" val="2706183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60EE6AC7-315F-49D3-AD4C-A25F1AA1146F}"/>
              </a:ext>
            </a:extLst>
          </p:cNvPr>
          <p:cNvSpPr>
            <a:spLocks noGrp="1"/>
          </p:cNvSpPr>
          <p:nvPr>
            <p:ph type="ctrTitle"/>
          </p:nvPr>
        </p:nvSpPr>
        <p:spPr>
          <a:xfrm>
            <a:off x="773408" y="992094"/>
            <a:ext cx="3616913" cy="2795160"/>
          </a:xfrm>
        </p:spPr>
        <p:txBody>
          <a:bodyPr vert="horz">
            <a:normAutofit/>
          </a:bodyPr>
          <a:lstStyle/>
          <a:p>
            <a:pPr algn="l"/>
            <a:r>
              <a:rPr lang="en-BE" sz="4400" dirty="0"/>
              <a:t>Exercise</a:t>
            </a:r>
          </a:p>
        </p:txBody>
      </p:sp>
      <p:pic>
        <p:nvPicPr>
          <p:cNvPr id="10" name="Graphique 9">
            <a:extLst>
              <a:ext uri="{FF2B5EF4-FFF2-40B4-BE49-F238E27FC236}">
                <a16:creationId xmlns:a16="http://schemas.microsoft.com/office/drawing/2014/main" id="{F57CF551-3363-4D14-AB20-4E3BC78961E0}"/>
              </a:ext>
            </a:extLst>
          </p:cNvPr>
          <p:cNvPicPr>
            <a:picLocks noChangeAspect="1"/>
          </p:cNvPicPr>
          <p:nvPr/>
        </p:nvPicPr>
        <p:blipFill>
          <a:blip r:embed="rId5"/>
          <a:srcRect/>
          <a:stretch/>
        </p:blipFill>
        <p:spPr>
          <a:xfrm>
            <a:off x="5915935" y="1257301"/>
            <a:ext cx="5668280" cy="4313422"/>
          </a:xfrm>
          <a:prstGeom prst="rect">
            <a:avLst/>
          </a:prstGeom>
        </p:spPr>
      </p:pic>
      <p:sp>
        <p:nvSpPr>
          <p:cNvPr id="29" name="ZoneTexte 28">
            <a:extLst>
              <a:ext uri="{FF2B5EF4-FFF2-40B4-BE49-F238E27FC236}">
                <a16:creationId xmlns:a16="http://schemas.microsoft.com/office/drawing/2014/main" id="{5AF42A25-0493-4E12-B65F-57D107A706D5}"/>
              </a:ext>
            </a:extLst>
          </p:cNvPr>
          <p:cNvSpPr txBox="1"/>
          <p:nvPr/>
        </p:nvSpPr>
        <p:spPr>
          <a:xfrm>
            <a:off x="773408" y="3787253"/>
            <a:ext cx="3836692" cy="461665"/>
          </a:xfrm>
          <a:prstGeom prst="rect">
            <a:avLst/>
          </a:prstGeom>
          <a:noFill/>
        </p:spPr>
        <p:txBody>
          <a:bodyPr wrap="square" rtlCol="0">
            <a:spAutoFit/>
          </a:bodyPr>
          <a:lstStyle/>
          <a:p>
            <a:r>
              <a:rPr lang="en-BE" sz="2400" dirty="0"/>
              <a:t>Lesson 3</a:t>
            </a:r>
          </a:p>
        </p:txBody>
      </p:sp>
      <p:sp>
        <p:nvSpPr>
          <p:cNvPr id="30" name="ZoneTexte 29">
            <a:extLst>
              <a:ext uri="{FF2B5EF4-FFF2-40B4-BE49-F238E27FC236}">
                <a16:creationId xmlns:a16="http://schemas.microsoft.com/office/drawing/2014/main" id="{7B9BDEE1-A208-4642-B50F-3B97DAAAF184}"/>
              </a:ext>
            </a:extLst>
          </p:cNvPr>
          <p:cNvSpPr txBox="1"/>
          <p:nvPr/>
        </p:nvSpPr>
        <p:spPr>
          <a:xfrm>
            <a:off x="773408" y="5325957"/>
            <a:ext cx="2115936" cy="1200329"/>
          </a:xfrm>
          <a:prstGeom prst="rect">
            <a:avLst/>
          </a:prstGeom>
          <a:noFill/>
        </p:spPr>
        <p:txBody>
          <a:bodyPr wrap="square" rtlCol="0">
            <a:spAutoFit/>
          </a:bodyPr>
          <a:lstStyle/>
          <a:p>
            <a:r>
              <a:rPr lang="en-BE" dirty="0"/>
              <a:t>2025-2026</a:t>
            </a:r>
          </a:p>
          <a:p>
            <a:r>
              <a:rPr lang="en-BE" dirty="0"/>
              <a:t>Choquet Olivier</a:t>
            </a:r>
          </a:p>
          <a:p>
            <a:r>
              <a:rPr lang="en-BE" dirty="0"/>
              <a:t>Miri Tarik</a:t>
            </a:r>
          </a:p>
          <a:p>
            <a:r>
              <a:rPr lang="en-BE" dirty="0" err="1"/>
              <a:t>Strebelle</a:t>
            </a:r>
            <a:r>
              <a:rPr lang="en-BE" dirty="0"/>
              <a:t> Sébastien</a:t>
            </a:r>
          </a:p>
        </p:txBody>
      </p:sp>
    </p:spTree>
    <p:extLst>
      <p:ext uri="{BB962C8B-B14F-4D97-AF65-F5344CB8AC3E}">
        <p14:creationId xmlns:p14="http://schemas.microsoft.com/office/powerpoint/2010/main" val="3298290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6125653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a:xfrm>
            <a:off x="528320" y="365125"/>
            <a:ext cx="11155680" cy="530421"/>
          </a:xfrm>
        </p:spPr>
        <p:txBody>
          <a:bodyPr vert="horz"/>
          <a:lstStyle/>
          <a:p>
            <a:r>
              <a:rPr lang="en-US" dirty="0"/>
              <a:t>1</a:t>
            </a:r>
            <a:r>
              <a:rPr lang="en-BE" dirty="0"/>
              <a:t>. </a:t>
            </a:r>
            <a:r>
              <a:rPr lang="en-US" dirty="0"/>
              <a:t>Lesson 3 Exercise</a:t>
            </a:r>
            <a:endParaRPr lang="en-BE" dirty="0"/>
          </a:p>
        </p:txBody>
      </p:sp>
      <p:pic>
        <p:nvPicPr>
          <p:cNvPr id="16" name="Graphic 15" descr="Information with solid fill">
            <a:extLst>
              <a:ext uri="{FF2B5EF4-FFF2-40B4-BE49-F238E27FC236}">
                <a16:creationId xmlns:a16="http://schemas.microsoft.com/office/drawing/2014/main" id="{82EAFDFD-E1EC-F425-0C5E-0CFD5E77A8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5600" y="895546"/>
            <a:ext cx="540000" cy="540000"/>
          </a:xfrm>
          <a:prstGeom prst="rect">
            <a:avLst/>
          </a:prstGeom>
        </p:spPr>
      </p:pic>
      <p:sp>
        <p:nvSpPr>
          <p:cNvPr id="37" name="Rectangle 36">
            <a:extLst>
              <a:ext uri="{FF2B5EF4-FFF2-40B4-BE49-F238E27FC236}">
                <a16:creationId xmlns:a16="http://schemas.microsoft.com/office/drawing/2014/main" id="{85FF7C93-B8D2-AE84-4752-95502AAA3D1F}"/>
              </a:ext>
            </a:extLst>
          </p:cNvPr>
          <p:cNvSpPr/>
          <p:nvPr/>
        </p:nvSpPr>
        <p:spPr>
          <a:xfrm>
            <a:off x="528320" y="1165546"/>
            <a:ext cx="11133386" cy="1212896"/>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400" dirty="0">
                <a:solidFill>
                  <a:schemeClr val="tx1"/>
                </a:solidFill>
                <a:latin typeface="Calibri (Body)"/>
              </a:rPr>
              <a:t>An example of solution to address last week’s exercise is proposed to start from good foundations to complete this week’s exercise</a:t>
            </a:r>
          </a:p>
          <a:p>
            <a:pPr marL="285750" indent="-285750" algn="just">
              <a:buFont typeface="Arial" panose="020B0604020202020204" pitchFamily="34" charset="0"/>
              <a:buChar char="•"/>
            </a:pPr>
            <a:r>
              <a:rPr lang="en-US" sz="1400" dirty="0">
                <a:solidFill>
                  <a:schemeClr val="tx1"/>
                </a:solidFill>
                <a:latin typeface="Calibri (Body)"/>
              </a:rPr>
              <a:t>GitHub repository URL: </a:t>
            </a:r>
            <a:r>
              <a:rPr lang="en-US" sz="1400" dirty="0">
                <a:solidFill>
                  <a:schemeClr val="tx1"/>
                </a:solidFill>
                <a:latin typeface="Calibri (Body)"/>
                <a:hlinkClick r:id="rId7"/>
              </a:rPr>
              <a:t>https://github.com/Aktorius/microservices-lesson2-spring</a:t>
            </a:r>
            <a:r>
              <a:rPr lang="en-US" sz="1400" dirty="0">
                <a:solidFill>
                  <a:schemeClr val="tx1"/>
                </a:solidFill>
                <a:latin typeface="Calibri (Body)"/>
              </a:rPr>
              <a:t> </a:t>
            </a:r>
          </a:p>
          <a:p>
            <a:pPr marL="285750" indent="-285750" algn="just">
              <a:buFont typeface="Arial" panose="020B0604020202020204" pitchFamily="34" charset="0"/>
              <a:buChar char="•"/>
            </a:pPr>
            <a:r>
              <a:rPr lang="en-US" sz="1400" dirty="0">
                <a:solidFill>
                  <a:schemeClr val="tx1"/>
                </a:solidFill>
                <a:latin typeface="Calibri (Body)"/>
              </a:rPr>
              <a:t>Detailed steps to set-up your environment and run the solution are covered in the README.md file</a:t>
            </a:r>
            <a:endParaRPr lang="en-BE" sz="1400" dirty="0">
              <a:solidFill>
                <a:schemeClr val="tx1"/>
              </a:solidFill>
              <a:latin typeface="Calibri (Body)"/>
            </a:endParaRPr>
          </a:p>
        </p:txBody>
      </p:sp>
      <p:grpSp>
        <p:nvGrpSpPr>
          <p:cNvPr id="45" name="Group 44">
            <a:extLst>
              <a:ext uri="{FF2B5EF4-FFF2-40B4-BE49-F238E27FC236}">
                <a16:creationId xmlns:a16="http://schemas.microsoft.com/office/drawing/2014/main" id="{5C3E68C9-0FFF-0BE4-6CA8-45A42F0E3E81}"/>
              </a:ext>
            </a:extLst>
          </p:cNvPr>
          <p:cNvGrpSpPr/>
          <p:nvPr/>
        </p:nvGrpSpPr>
        <p:grpSpPr>
          <a:xfrm>
            <a:off x="355600" y="2648442"/>
            <a:ext cx="3069123" cy="540000"/>
            <a:chOff x="355600" y="2819400"/>
            <a:chExt cx="3069123" cy="540000"/>
          </a:xfrm>
        </p:grpSpPr>
        <p:pic>
          <p:nvPicPr>
            <p:cNvPr id="39" name="Graphic 38" descr="Bullseye with solid fill">
              <a:extLst>
                <a:ext uri="{FF2B5EF4-FFF2-40B4-BE49-F238E27FC236}">
                  <a16:creationId xmlns:a16="http://schemas.microsoft.com/office/drawing/2014/main" id="{C35C85C7-0002-79CD-4714-FA8B45B987C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5600" y="2819400"/>
              <a:ext cx="540000" cy="540000"/>
            </a:xfrm>
            <a:prstGeom prst="rect">
              <a:avLst/>
            </a:prstGeom>
          </p:spPr>
        </p:pic>
        <p:grpSp>
          <p:nvGrpSpPr>
            <p:cNvPr id="44" name="Group 43">
              <a:extLst>
                <a:ext uri="{FF2B5EF4-FFF2-40B4-BE49-F238E27FC236}">
                  <a16:creationId xmlns:a16="http://schemas.microsoft.com/office/drawing/2014/main" id="{27FFB784-9533-2CBF-3680-08B55F20C631}"/>
                </a:ext>
              </a:extLst>
            </p:cNvPr>
            <p:cNvGrpSpPr/>
            <p:nvPr/>
          </p:nvGrpSpPr>
          <p:grpSpPr>
            <a:xfrm>
              <a:off x="895600" y="2863975"/>
              <a:ext cx="2529123" cy="450849"/>
              <a:chOff x="895600" y="2863975"/>
              <a:chExt cx="2529123" cy="450849"/>
            </a:xfrm>
          </p:grpSpPr>
          <p:sp>
            <p:nvSpPr>
              <p:cNvPr id="40" name="Rectangle 39">
                <a:extLst>
                  <a:ext uri="{FF2B5EF4-FFF2-40B4-BE49-F238E27FC236}">
                    <a16:creationId xmlns:a16="http://schemas.microsoft.com/office/drawing/2014/main" id="{69008697-F4F8-DB5A-D208-38A77EBBED85}"/>
                  </a:ext>
                </a:extLst>
              </p:cNvPr>
              <p:cNvSpPr/>
              <p:nvPr/>
            </p:nvSpPr>
            <p:spPr>
              <a:xfrm>
                <a:off x="895600" y="2863975"/>
                <a:ext cx="2529123"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Objectives of the Exercise</a:t>
                </a:r>
                <a:endParaRPr lang="en-BE" sz="1400" b="1" dirty="0">
                  <a:solidFill>
                    <a:schemeClr val="tx1"/>
                  </a:solidFill>
                  <a:latin typeface="Calibri (Body)"/>
                </a:endParaRPr>
              </a:p>
            </p:txBody>
          </p:sp>
          <p:cxnSp>
            <p:nvCxnSpPr>
              <p:cNvPr id="41" name="Straight Connector 40">
                <a:extLst>
                  <a:ext uri="{FF2B5EF4-FFF2-40B4-BE49-F238E27FC236}">
                    <a16:creationId xmlns:a16="http://schemas.microsoft.com/office/drawing/2014/main" id="{8CF37120-27D6-CD2F-B64C-8E1BB1754580}"/>
                  </a:ext>
                </a:extLst>
              </p:cNvPr>
              <p:cNvCxnSpPr>
                <a:cxnSpLocks/>
              </p:cNvCxnSpPr>
              <p:nvPr/>
            </p:nvCxnSpPr>
            <p:spPr>
              <a:xfrm>
                <a:off x="990115" y="3198736"/>
                <a:ext cx="1072365"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sp>
        <p:nvSpPr>
          <p:cNvPr id="46" name="Rectangle 45">
            <a:extLst>
              <a:ext uri="{FF2B5EF4-FFF2-40B4-BE49-F238E27FC236}">
                <a16:creationId xmlns:a16="http://schemas.microsoft.com/office/drawing/2014/main" id="{75969C86-7F56-09FA-C72E-76876498791E}"/>
              </a:ext>
            </a:extLst>
          </p:cNvPr>
          <p:cNvSpPr/>
          <p:nvPr/>
        </p:nvSpPr>
        <p:spPr>
          <a:xfrm>
            <a:off x="528320" y="3188442"/>
            <a:ext cx="11133386" cy="121289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mj-lt"/>
              <a:buAutoNum type="arabicPeriod"/>
            </a:pPr>
            <a:r>
              <a:rPr lang="en-US" sz="1400" dirty="0">
                <a:solidFill>
                  <a:schemeClr val="tx1"/>
                </a:solidFill>
                <a:latin typeface="Calibri (Body)"/>
              </a:rPr>
              <a:t>Install a message broker on your local machine (Rabbit MQ)</a:t>
            </a:r>
          </a:p>
          <a:p>
            <a:pPr marL="342900" indent="-342900" algn="just">
              <a:buFont typeface="+mj-lt"/>
              <a:buAutoNum type="arabicPeriod"/>
            </a:pPr>
            <a:r>
              <a:rPr lang="en-US" sz="1400" dirty="0">
                <a:solidFill>
                  <a:schemeClr val="tx1"/>
                </a:solidFill>
                <a:latin typeface="Calibri (Body)"/>
              </a:rPr>
              <a:t>Replace inter-service communication with asynchronous messaging, but keep the synchronous approach for the API gateway</a:t>
            </a:r>
          </a:p>
          <a:p>
            <a:pPr marL="342900" indent="-342900" algn="just">
              <a:buFont typeface="+mj-lt"/>
              <a:buAutoNum type="arabicPeriod"/>
            </a:pPr>
            <a:r>
              <a:rPr lang="en-US" sz="1400" dirty="0">
                <a:solidFill>
                  <a:schemeClr val="tx1"/>
                </a:solidFill>
                <a:latin typeface="Calibri (Body)"/>
              </a:rPr>
              <a:t>Emit and consume events, suggestion to get you inspired</a:t>
            </a:r>
          </a:p>
          <a:p>
            <a:pPr marL="800100" lvl="1" indent="-342900" algn="just">
              <a:buFont typeface="Arial" panose="020B0604020202020204" pitchFamily="34" charset="0"/>
              <a:buChar char="•"/>
            </a:pPr>
            <a:r>
              <a:rPr lang="en-US" sz="1400" dirty="0" err="1">
                <a:solidFill>
                  <a:schemeClr val="tx1"/>
                </a:solidFill>
                <a:latin typeface="Calibri (Body)"/>
              </a:rPr>
              <a:t>OrderCreated</a:t>
            </a:r>
            <a:r>
              <a:rPr lang="en-US" sz="1400" dirty="0">
                <a:solidFill>
                  <a:schemeClr val="tx1"/>
                </a:solidFill>
                <a:latin typeface="Calibri (Body)"/>
              </a:rPr>
              <a:t> published from the Order service</a:t>
            </a:r>
          </a:p>
          <a:p>
            <a:pPr marL="800100" lvl="1" indent="-342900" algn="just">
              <a:buFont typeface="Arial" panose="020B0604020202020204" pitchFamily="34" charset="0"/>
              <a:buChar char="•"/>
            </a:pPr>
            <a:r>
              <a:rPr lang="en-US" sz="1400" dirty="0" err="1">
                <a:solidFill>
                  <a:schemeClr val="tx1"/>
                </a:solidFill>
                <a:latin typeface="Calibri (Body)"/>
              </a:rPr>
              <a:t>StockReserved</a:t>
            </a:r>
            <a:r>
              <a:rPr lang="en-US" sz="1400" dirty="0">
                <a:solidFill>
                  <a:schemeClr val="tx1"/>
                </a:solidFill>
                <a:latin typeface="Calibri (Body)"/>
              </a:rPr>
              <a:t>/</a:t>
            </a:r>
            <a:r>
              <a:rPr lang="en-US" sz="1400" dirty="0" err="1">
                <a:solidFill>
                  <a:schemeClr val="tx1"/>
                </a:solidFill>
                <a:latin typeface="Calibri (Body)"/>
              </a:rPr>
              <a:t>StockRejected</a:t>
            </a:r>
            <a:r>
              <a:rPr lang="en-US" sz="1400" dirty="0">
                <a:solidFill>
                  <a:schemeClr val="tx1"/>
                </a:solidFill>
                <a:latin typeface="Calibri (Body)"/>
              </a:rPr>
              <a:t> published from the Product service</a:t>
            </a:r>
          </a:p>
        </p:txBody>
      </p:sp>
      <p:grpSp>
        <p:nvGrpSpPr>
          <p:cNvPr id="51" name="Group 50">
            <a:extLst>
              <a:ext uri="{FF2B5EF4-FFF2-40B4-BE49-F238E27FC236}">
                <a16:creationId xmlns:a16="http://schemas.microsoft.com/office/drawing/2014/main" id="{BEFAFB8E-BD38-852B-5ED5-9F13E1BDF1D3}"/>
              </a:ext>
            </a:extLst>
          </p:cNvPr>
          <p:cNvGrpSpPr/>
          <p:nvPr/>
        </p:nvGrpSpPr>
        <p:grpSpPr>
          <a:xfrm>
            <a:off x="630115" y="4621316"/>
            <a:ext cx="11031591" cy="373076"/>
            <a:chOff x="630115" y="4621316"/>
            <a:chExt cx="11031591" cy="373076"/>
          </a:xfrm>
        </p:grpSpPr>
        <p:pic>
          <p:nvPicPr>
            <p:cNvPr id="48" name="Graphic 47" descr="Warning with solid fill">
              <a:extLst>
                <a:ext uri="{FF2B5EF4-FFF2-40B4-BE49-F238E27FC236}">
                  <a16:creationId xmlns:a16="http://schemas.microsoft.com/office/drawing/2014/main" id="{95DFDE4B-5F49-7103-C42A-DD41D621F2A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0115" y="4621316"/>
              <a:ext cx="360000" cy="360000"/>
            </a:xfrm>
            <a:prstGeom prst="rect">
              <a:avLst/>
            </a:prstGeom>
          </p:spPr>
        </p:pic>
        <p:sp>
          <p:nvSpPr>
            <p:cNvPr id="49" name="Rectangle 48">
              <a:extLst>
                <a:ext uri="{FF2B5EF4-FFF2-40B4-BE49-F238E27FC236}">
                  <a16:creationId xmlns:a16="http://schemas.microsoft.com/office/drawing/2014/main" id="{C752CE3D-4814-28C5-BC94-A098E25D4AE0}"/>
                </a:ext>
              </a:extLst>
            </p:cNvPr>
            <p:cNvSpPr/>
            <p:nvPr/>
          </p:nvSpPr>
          <p:spPr>
            <a:xfrm>
              <a:off x="990115" y="4634392"/>
              <a:ext cx="10671591" cy="360000"/>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Think about the sequence of execution when placing an order, list the steps including events published and consumed.</a:t>
              </a:r>
            </a:p>
          </p:txBody>
        </p:sp>
      </p:grpSp>
    </p:spTree>
    <p:extLst>
      <p:ext uri="{BB962C8B-B14F-4D97-AF65-F5344CB8AC3E}">
        <p14:creationId xmlns:p14="http://schemas.microsoft.com/office/powerpoint/2010/main" val="2830775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8707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a:xfrm>
            <a:off x="528320" y="365125"/>
            <a:ext cx="11155680" cy="530421"/>
          </a:xfrm>
        </p:spPr>
        <p:txBody>
          <a:bodyPr vert="horz"/>
          <a:lstStyle/>
          <a:p>
            <a:r>
              <a:rPr lang="en-US" dirty="0"/>
              <a:t>2</a:t>
            </a:r>
            <a:r>
              <a:rPr lang="en-BE" dirty="0"/>
              <a:t>. </a:t>
            </a:r>
            <a:r>
              <a:rPr lang="en-US" dirty="0"/>
              <a:t>Install and Configure RabbitMQ</a:t>
            </a:r>
            <a:endParaRPr lang="en-BE" dirty="0"/>
          </a:p>
        </p:txBody>
      </p:sp>
      <p:sp>
        <p:nvSpPr>
          <p:cNvPr id="37" name="Rectangle 36">
            <a:extLst>
              <a:ext uri="{FF2B5EF4-FFF2-40B4-BE49-F238E27FC236}">
                <a16:creationId xmlns:a16="http://schemas.microsoft.com/office/drawing/2014/main" id="{85FF7C93-B8D2-AE84-4752-95502AAA3D1F}"/>
              </a:ext>
            </a:extLst>
          </p:cNvPr>
          <p:cNvSpPr/>
          <p:nvPr/>
        </p:nvSpPr>
        <p:spPr>
          <a:xfrm>
            <a:off x="528320" y="966684"/>
            <a:ext cx="11133386" cy="1404934"/>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1400" dirty="0">
                <a:solidFill>
                  <a:schemeClr val="tx1"/>
                </a:solidFill>
                <a:latin typeface="Calibri (Body)"/>
              </a:rPr>
              <a:t>Download and install Erland: </a:t>
            </a:r>
            <a:r>
              <a:rPr lang="en-US" sz="1400" dirty="0">
                <a:solidFill>
                  <a:schemeClr val="tx1"/>
                </a:solidFill>
                <a:latin typeface="Calibri (Body)"/>
                <a:hlinkClick r:id="rId5"/>
              </a:rPr>
              <a:t>https://www.erlang.org/downloads</a:t>
            </a:r>
            <a:r>
              <a:rPr lang="en-US" sz="1400" dirty="0">
                <a:solidFill>
                  <a:schemeClr val="tx1"/>
                </a:solidFill>
                <a:latin typeface="Calibri (Body)"/>
              </a:rPr>
              <a:t> </a:t>
            </a:r>
          </a:p>
          <a:p>
            <a:pPr marL="342900" indent="-342900" algn="just">
              <a:buFont typeface="Arial" panose="020B0604020202020204" pitchFamily="34" charset="0"/>
              <a:buChar char="•"/>
            </a:pPr>
            <a:r>
              <a:rPr lang="en-US" sz="1400" dirty="0">
                <a:solidFill>
                  <a:schemeClr val="tx1"/>
                </a:solidFill>
                <a:latin typeface="Calibri (Body)"/>
              </a:rPr>
              <a:t>Download and install RabbitMQ: </a:t>
            </a:r>
            <a:r>
              <a:rPr lang="en-US" sz="1400" dirty="0">
                <a:solidFill>
                  <a:schemeClr val="tx1"/>
                </a:solidFill>
                <a:latin typeface="Calibri (Body)"/>
                <a:hlinkClick r:id="rId6"/>
              </a:rPr>
              <a:t>https://www.rabbitmq.com/docs/download</a:t>
            </a:r>
            <a:r>
              <a:rPr lang="en-US" sz="1400" dirty="0">
                <a:solidFill>
                  <a:schemeClr val="tx1"/>
                </a:solidFill>
                <a:latin typeface="Calibri (Body)"/>
              </a:rPr>
              <a:t> </a:t>
            </a:r>
          </a:p>
          <a:p>
            <a:pPr marL="342900" indent="-342900" algn="just">
              <a:buFont typeface="Arial" panose="020B0604020202020204" pitchFamily="34" charset="0"/>
              <a:buChar char="•"/>
            </a:pPr>
            <a:r>
              <a:rPr lang="en-US" sz="1400" dirty="0">
                <a:solidFill>
                  <a:schemeClr val="tx1"/>
                </a:solidFill>
                <a:latin typeface="Calibri (Body)"/>
              </a:rPr>
              <a:t>Once installed, make sure to run the RabbitMQ Service. Verify that the service is running in the task manager</a:t>
            </a:r>
          </a:p>
          <a:p>
            <a:pPr marL="342900" indent="-342900" algn="just">
              <a:buFont typeface="Arial" panose="020B0604020202020204" pitchFamily="34" charset="0"/>
              <a:buChar char="•"/>
            </a:pPr>
            <a:r>
              <a:rPr lang="en-US" sz="1400" dirty="0">
                <a:solidFill>
                  <a:schemeClr val="tx1"/>
                </a:solidFill>
                <a:latin typeface="Calibri (Body)"/>
              </a:rPr>
              <a:t>Add </a:t>
            </a:r>
            <a:r>
              <a:rPr lang="en-US" sz="1400" dirty="0" err="1">
                <a:solidFill>
                  <a:schemeClr val="tx1"/>
                </a:solidFill>
                <a:latin typeface="Calibri (Body)"/>
              </a:rPr>
              <a:t>sbin</a:t>
            </a:r>
            <a:r>
              <a:rPr lang="en-US" sz="1400" dirty="0">
                <a:solidFill>
                  <a:schemeClr val="tx1"/>
                </a:solidFill>
                <a:latin typeface="Calibri (Body)"/>
              </a:rPr>
              <a:t> folder of RabbitMQ to your PATH</a:t>
            </a:r>
          </a:p>
          <a:p>
            <a:pPr marL="342900" indent="-342900" algn="just">
              <a:buFont typeface="Arial" panose="020B0604020202020204" pitchFamily="34" charset="0"/>
              <a:buChar char="•"/>
            </a:pPr>
            <a:r>
              <a:rPr lang="en-US" sz="1400" dirty="0">
                <a:solidFill>
                  <a:schemeClr val="tx1"/>
                </a:solidFill>
                <a:latin typeface="Calibri (Body)"/>
              </a:rPr>
              <a:t>Run </a:t>
            </a:r>
            <a:r>
              <a:rPr lang="en-US" sz="1400" i="1" dirty="0" err="1">
                <a:solidFill>
                  <a:schemeClr val="tx1"/>
                </a:solidFill>
                <a:latin typeface="Calibri (Body)"/>
              </a:rPr>
              <a:t>rabbitmq</a:t>
            </a:r>
            <a:r>
              <a:rPr lang="en-US" sz="1400" i="1" dirty="0">
                <a:solidFill>
                  <a:schemeClr val="tx1"/>
                </a:solidFill>
                <a:latin typeface="Calibri (Body)"/>
              </a:rPr>
              <a:t>-plugins enable </a:t>
            </a:r>
            <a:r>
              <a:rPr lang="en-US" sz="1400" i="1" dirty="0" err="1">
                <a:solidFill>
                  <a:schemeClr val="tx1"/>
                </a:solidFill>
                <a:latin typeface="Calibri (Body)"/>
              </a:rPr>
              <a:t>rabbitmq_management</a:t>
            </a:r>
            <a:r>
              <a:rPr lang="en-US" sz="1400" dirty="0">
                <a:solidFill>
                  <a:schemeClr val="tx1"/>
                </a:solidFill>
                <a:latin typeface="Calibri (Body)"/>
              </a:rPr>
              <a:t> to enable the admin UI, then restart RabbitMQ service in task manager</a:t>
            </a:r>
          </a:p>
          <a:p>
            <a:pPr marL="342900" indent="-342900" algn="just">
              <a:buFont typeface="Arial" panose="020B0604020202020204" pitchFamily="34" charset="0"/>
              <a:buChar char="•"/>
            </a:pPr>
            <a:r>
              <a:rPr lang="en-US" sz="1400" dirty="0">
                <a:solidFill>
                  <a:schemeClr val="tx1"/>
                </a:solidFill>
                <a:latin typeface="Calibri (Body)"/>
              </a:rPr>
              <a:t>Add dependency to the pom.xml files of the projects that will interact with RabbitMQ</a:t>
            </a:r>
          </a:p>
        </p:txBody>
      </p:sp>
      <p:sp>
        <p:nvSpPr>
          <p:cNvPr id="12" name="TextBox 11">
            <a:extLst>
              <a:ext uri="{FF2B5EF4-FFF2-40B4-BE49-F238E27FC236}">
                <a16:creationId xmlns:a16="http://schemas.microsoft.com/office/drawing/2014/main" id="{46580721-E6BA-64F4-4E2F-392B201C365C}"/>
              </a:ext>
            </a:extLst>
          </p:cNvPr>
          <p:cNvSpPr txBox="1"/>
          <p:nvPr/>
        </p:nvSpPr>
        <p:spPr>
          <a:xfrm>
            <a:off x="934720" y="2442756"/>
            <a:ext cx="10726986" cy="769441"/>
          </a:xfrm>
          <a:prstGeom prst="rect">
            <a:avLst/>
          </a:prstGeom>
          <a:solidFill>
            <a:schemeClr val="tx1"/>
          </a:solidFill>
        </p:spPr>
        <p:txBody>
          <a:bodyPr wrap="square">
            <a:spAutoFit/>
          </a:bodyPr>
          <a:lstStyle/>
          <a:p>
            <a:r>
              <a:rPr lang="en-GB" sz="1100" dirty="0">
                <a:solidFill>
                  <a:schemeClr val="bg1"/>
                </a:solidFill>
              </a:rPr>
              <a:t>&lt;dependency&gt;</a:t>
            </a:r>
          </a:p>
          <a:p>
            <a:r>
              <a:rPr lang="en-GB" sz="1100" dirty="0">
                <a:solidFill>
                  <a:schemeClr val="bg1"/>
                </a:solidFill>
              </a:rPr>
              <a:t>  &lt;</a:t>
            </a:r>
            <a:r>
              <a:rPr lang="en-GB" sz="1100" dirty="0" err="1">
                <a:solidFill>
                  <a:schemeClr val="bg1"/>
                </a:solidFill>
              </a:rPr>
              <a:t>groupId</a:t>
            </a:r>
            <a:r>
              <a:rPr lang="en-GB" sz="1100" dirty="0">
                <a:solidFill>
                  <a:schemeClr val="bg1"/>
                </a:solidFill>
              </a:rPr>
              <a:t>&gt;</a:t>
            </a:r>
            <a:r>
              <a:rPr lang="en-GB" sz="1100" dirty="0" err="1">
                <a:solidFill>
                  <a:schemeClr val="bg1"/>
                </a:solidFill>
              </a:rPr>
              <a:t>org.springframework.boot</a:t>
            </a:r>
            <a:r>
              <a:rPr lang="en-GB" sz="1100" dirty="0">
                <a:solidFill>
                  <a:schemeClr val="bg1"/>
                </a:solidFill>
              </a:rPr>
              <a:t>&lt;/</a:t>
            </a:r>
            <a:r>
              <a:rPr lang="en-GB" sz="1100" dirty="0" err="1">
                <a:solidFill>
                  <a:schemeClr val="bg1"/>
                </a:solidFill>
              </a:rPr>
              <a:t>groupId</a:t>
            </a:r>
            <a:r>
              <a:rPr lang="en-GB" sz="1100" dirty="0">
                <a:solidFill>
                  <a:schemeClr val="bg1"/>
                </a:solidFill>
              </a:rPr>
              <a:t>&gt;</a:t>
            </a:r>
          </a:p>
          <a:p>
            <a:r>
              <a:rPr lang="en-GB" sz="1100" dirty="0">
                <a:solidFill>
                  <a:schemeClr val="bg1"/>
                </a:solidFill>
              </a:rPr>
              <a:t>  &lt;</a:t>
            </a:r>
            <a:r>
              <a:rPr lang="en-GB" sz="1100" dirty="0" err="1">
                <a:solidFill>
                  <a:schemeClr val="bg1"/>
                </a:solidFill>
              </a:rPr>
              <a:t>artifactId</a:t>
            </a:r>
            <a:r>
              <a:rPr lang="en-GB" sz="1100" dirty="0">
                <a:solidFill>
                  <a:schemeClr val="bg1"/>
                </a:solidFill>
              </a:rPr>
              <a:t>&gt;spring-boot-starter-</a:t>
            </a:r>
            <a:r>
              <a:rPr lang="en-GB" sz="1100" dirty="0" err="1">
                <a:solidFill>
                  <a:schemeClr val="bg1"/>
                </a:solidFill>
              </a:rPr>
              <a:t>amqp</a:t>
            </a:r>
            <a:r>
              <a:rPr lang="en-GB" sz="1100" dirty="0">
                <a:solidFill>
                  <a:schemeClr val="bg1"/>
                </a:solidFill>
              </a:rPr>
              <a:t>&lt;/</a:t>
            </a:r>
            <a:r>
              <a:rPr lang="en-GB" sz="1100" dirty="0" err="1">
                <a:solidFill>
                  <a:schemeClr val="bg1"/>
                </a:solidFill>
              </a:rPr>
              <a:t>artifactId</a:t>
            </a:r>
            <a:r>
              <a:rPr lang="en-GB" sz="1100" dirty="0">
                <a:solidFill>
                  <a:schemeClr val="bg1"/>
                </a:solidFill>
              </a:rPr>
              <a:t>&gt;</a:t>
            </a:r>
          </a:p>
          <a:p>
            <a:r>
              <a:rPr lang="en-GB" sz="1100" dirty="0">
                <a:solidFill>
                  <a:schemeClr val="bg1"/>
                </a:solidFill>
              </a:rPr>
              <a:t>&lt;/dependency&gt;</a:t>
            </a:r>
          </a:p>
        </p:txBody>
      </p:sp>
      <p:sp>
        <p:nvSpPr>
          <p:cNvPr id="13" name="Rectangle 12">
            <a:extLst>
              <a:ext uri="{FF2B5EF4-FFF2-40B4-BE49-F238E27FC236}">
                <a16:creationId xmlns:a16="http://schemas.microsoft.com/office/drawing/2014/main" id="{811710BC-BD50-407B-1847-2FF917A06B06}"/>
              </a:ext>
            </a:extLst>
          </p:cNvPr>
          <p:cNvSpPr/>
          <p:nvPr/>
        </p:nvSpPr>
        <p:spPr>
          <a:xfrm>
            <a:off x="528320" y="3283335"/>
            <a:ext cx="11133386" cy="880817"/>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1400" dirty="0">
                <a:solidFill>
                  <a:schemeClr val="tx1"/>
                </a:solidFill>
                <a:latin typeface="Calibri (Body)"/>
              </a:rPr>
              <a:t>Create the RabbitMQ configuration class in a new package messaging (in each service to simplify the exercise)</a:t>
            </a:r>
          </a:p>
          <a:p>
            <a:pPr marL="342900" indent="-342900" algn="just">
              <a:buFont typeface="Arial" panose="020B0604020202020204" pitchFamily="34" charset="0"/>
              <a:buChar char="•"/>
            </a:pPr>
            <a:r>
              <a:rPr lang="en-US" sz="1400" dirty="0">
                <a:solidFill>
                  <a:schemeClr val="tx1"/>
                </a:solidFill>
                <a:latin typeface="Calibri (Body)"/>
              </a:rPr>
              <a:t>Add the relevant event classes in </a:t>
            </a:r>
            <a:r>
              <a:rPr lang="en-US" sz="1400" dirty="0" err="1">
                <a:solidFill>
                  <a:schemeClr val="tx1"/>
                </a:solidFill>
                <a:latin typeface="Calibri (Body)"/>
              </a:rPr>
              <a:t>messaging.events</a:t>
            </a:r>
            <a:r>
              <a:rPr lang="en-US" sz="1400" dirty="0">
                <a:solidFill>
                  <a:schemeClr val="tx1"/>
                </a:solidFill>
                <a:latin typeface="Calibri (Body)"/>
              </a:rPr>
              <a:t> in the services that need them</a:t>
            </a:r>
          </a:p>
          <a:p>
            <a:pPr marL="342900" indent="-342900" algn="just">
              <a:buFont typeface="Arial" panose="020B0604020202020204" pitchFamily="34" charset="0"/>
              <a:buChar char="•"/>
            </a:pPr>
            <a:r>
              <a:rPr lang="en-US" sz="1400" dirty="0">
                <a:solidFill>
                  <a:schemeClr val="tx1"/>
                </a:solidFill>
                <a:latin typeface="Calibri (Body)"/>
              </a:rPr>
              <a:t>Add </a:t>
            </a:r>
            <a:r>
              <a:rPr lang="en-US" sz="1400" dirty="0" err="1">
                <a:solidFill>
                  <a:schemeClr val="tx1"/>
                </a:solidFill>
                <a:latin typeface="Calibri (Body)"/>
              </a:rPr>
              <a:t>rabbitmq</a:t>
            </a:r>
            <a:r>
              <a:rPr lang="en-US" sz="1400" dirty="0">
                <a:solidFill>
                  <a:schemeClr val="tx1"/>
                </a:solidFill>
                <a:latin typeface="Calibri (Body)"/>
              </a:rPr>
              <a:t> configuration to the </a:t>
            </a:r>
            <a:r>
              <a:rPr lang="en-US" sz="1400" dirty="0" err="1">
                <a:solidFill>
                  <a:schemeClr val="tx1"/>
                </a:solidFill>
                <a:latin typeface="Calibri (Body)"/>
              </a:rPr>
              <a:t>application.yml</a:t>
            </a:r>
            <a:r>
              <a:rPr lang="en-US" sz="1400" dirty="0">
                <a:solidFill>
                  <a:schemeClr val="tx1"/>
                </a:solidFill>
                <a:latin typeface="Calibri (Body)"/>
              </a:rPr>
              <a:t> of each service</a:t>
            </a:r>
          </a:p>
        </p:txBody>
      </p:sp>
      <p:sp>
        <p:nvSpPr>
          <p:cNvPr id="6" name="Rectangle 5">
            <a:extLst>
              <a:ext uri="{FF2B5EF4-FFF2-40B4-BE49-F238E27FC236}">
                <a16:creationId xmlns:a16="http://schemas.microsoft.com/office/drawing/2014/main" id="{1C152B38-D039-C799-B97B-3095EC49D633}"/>
              </a:ext>
            </a:extLst>
          </p:cNvPr>
          <p:cNvSpPr/>
          <p:nvPr/>
        </p:nvSpPr>
        <p:spPr>
          <a:xfrm>
            <a:off x="528320" y="5793937"/>
            <a:ext cx="11133386" cy="621643"/>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1400" dirty="0">
                <a:solidFill>
                  <a:schemeClr val="tx1"/>
                </a:solidFill>
                <a:latin typeface="Calibri (Body)"/>
              </a:rPr>
              <a:t>Create event listener classes</a:t>
            </a:r>
          </a:p>
          <a:p>
            <a:pPr marL="342900" indent="-342900" algn="just">
              <a:buFont typeface="Arial" panose="020B0604020202020204" pitchFamily="34" charset="0"/>
              <a:buChar char="•"/>
            </a:pPr>
            <a:r>
              <a:rPr lang="en-US" sz="1400" dirty="0">
                <a:solidFill>
                  <a:schemeClr val="tx1"/>
                </a:solidFill>
                <a:latin typeface="Calibri (Body)"/>
              </a:rPr>
              <a:t>Modify the code of the service classes to publish events</a:t>
            </a:r>
          </a:p>
        </p:txBody>
      </p:sp>
      <p:sp>
        <p:nvSpPr>
          <p:cNvPr id="8" name="TextBox 7">
            <a:extLst>
              <a:ext uri="{FF2B5EF4-FFF2-40B4-BE49-F238E27FC236}">
                <a16:creationId xmlns:a16="http://schemas.microsoft.com/office/drawing/2014/main" id="{EC659B72-D966-F9FB-1B63-E1DF4E5A78EC}"/>
              </a:ext>
            </a:extLst>
          </p:cNvPr>
          <p:cNvSpPr txBox="1"/>
          <p:nvPr/>
        </p:nvSpPr>
        <p:spPr>
          <a:xfrm>
            <a:off x="934720" y="4378880"/>
            <a:ext cx="10726986" cy="1200329"/>
          </a:xfrm>
          <a:prstGeom prst="rect">
            <a:avLst/>
          </a:prstGeom>
          <a:solidFill>
            <a:schemeClr val="tx1"/>
          </a:solidFill>
        </p:spPr>
        <p:txBody>
          <a:bodyPr wrap="square">
            <a:spAutoFit/>
          </a:bodyPr>
          <a:lstStyle/>
          <a:p>
            <a:r>
              <a:rPr lang="en-GB" sz="1200" dirty="0">
                <a:solidFill>
                  <a:schemeClr val="accent5">
                    <a:lumMod val="60000"/>
                    <a:lumOff val="40000"/>
                  </a:schemeClr>
                </a:solidFill>
              </a:rPr>
              <a:t>spring:</a:t>
            </a:r>
          </a:p>
          <a:p>
            <a:r>
              <a:rPr lang="en-GB" sz="1200" dirty="0">
                <a:solidFill>
                  <a:schemeClr val="accent5">
                    <a:lumMod val="60000"/>
                    <a:lumOff val="40000"/>
                  </a:schemeClr>
                </a:solidFill>
              </a:rPr>
              <a:t>  </a:t>
            </a:r>
            <a:r>
              <a:rPr lang="en-GB" sz="1200" dirty="0" err="1">
                <a:solidFill>
                  <a:schemeClr val="accent5">
                    <a:lumMod val="60000"/>
                    <a:lumOff val="40000"/>
                  </a:schemeClr>
                </a:solidFill>
              </a:rPr>
              <a:t>rabbitmq</a:t>
            </a:r>
            <a:r>
              <a:rPr lang="en-GB" sz="1200" dirty="0">
                <a:solidFill>
                  <a:schemeClr val="accent5">
                    <a:lumMod val="60000"/>
                    <a:lumOff val="40000"/>
                  </a:schemeClr>
                </a:solidFill>
              </a:rPr>
              <a:t>:</a:t>
            </a:r>
          </a:p>
          <a:p>
            <a:r>
              <a:rPr lang="en-GB" sz="1200" dirty="0">
                <a:solidFill>
                  <a:schemeClr val="accent5">
                    <a:lumMod val="60000"/>
                    <a:lumOff val="40000"/>
                  </a:schemeClr>
                </a:solidFill>
              </a:rPr>
              <a:t>    host: localhost</a:t>
            </a:r>
          </a:p>
          <a:p>
            <a:r>
              <a:rPr lang="en-GB" sz="1200" dirty="0">
                <a:solidFill>
                  <a:schemeClr val="accent5">
                    <a:lumMod val="60000"/>
                    <a:lumOff val="40000"/>
                  </a:schemeClr>
                </a:solidFill>
              </a:rPr>
              <a:t>    port: 5672</a:t>
            </a:r>
          </a:p>
          <a:p>
            <a:r>
              <a:rPr lang="en-GB" sz="1200" dirty="0">
                <a:solidFill>
                  <a:schemeClr val="accent5">
                    <a:lumMod val="60000"/>
                    <a:lumOff val="40000"/>
                  </a:schemeClr>
                </a:solidFill>
              </a:rPr>
              <a:t>    username: guest</a:t>
            </a:r>
          </a:p>
          <a:p>
            <a:r>
              <a:rPr lang="en-GB" sz="1200" dirty="0">
                <a:solidFill>
                  <a:schemeClr val="accent5">
                    <a:lumMod val="60000"/>
                    <a:lumOff val="40000"/>
                  </a:schemeClr>
                </a:solidFill>
              </a:rPr>
              <a:t>    password: guest</a:t>
            </a:r>
          </a:p>
        </p:txBody>
      </p:sp>
    </p:spTree>
    <p:extLst>
      <p:ext uri="{BB962C8B-B14F-4D97-AF65-F5344CB8AC3E}">
        <p14:creationId xmlns:p14="http://schemas.microsoft.com/office/powerpoint/2010/main" val="15821296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7472d64-0d3a-484e-8dae-9877b44b21bc">
      <Terms xmlns="http://schemas.microsoft.com/office/infopath/2007/PartnerControls"/>
    </lcf76f155ced4ddcb4097134ff3c332f>
    <TaxCatchAll xmlns="3f185228-d0ce-4b0b-b59f-3a34cdc9a5e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ED1306D512654B98E69FC24695A753" ma:contentTypeVersion="15" ma:contentTypeDescription="Create a new document." ma:contentTypeScope="" ma:versionID="b6aeb39ce2af34f85414e8cce077cd65">
  <xsd:schema xmlns:xsd="http://www.w3.org/2001/XMLSchema" xmlns:xs="http://www.w3.org/2001/XMLSchema" xmlns:p="http://schemas.microsoft.com/office/2006/metadata/properties" xmlns:ns2="c7472d64-0d3a-484e-8dae-9877b44b21bc" xmlns:ns3="3f185228-d0ce-4b0b-b59f-3a34cdc9a5e8" targetNamespace="http://schemas.microsoft.com/office/2006/metadata/properties" ma:root="true" ma:fieldsID="8caa9e5be2a5fdc2ec2e3ea84146db07" ns2:_="" ns3:_="">
    <xsd:import namespace="c7472d64-0d3a-484e-8dae-9877b44b21bc"/>
    <xsd:import namespace="3f185228-d0ce-4b0b-b59f-3a34cdc9a5e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472d64-0d3a-484e-8dae-9877b44b21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99b3629-034e-40d8-81e2-b8c7a4d8684e"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185228-d0ce-4b0b-b59f-3a34cdc9a5e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e68feede-4adb-4166-85fa-b177792af49a}" ma:internalName="TaxCatchAll" ma:showField="CatchAllData" ma:web="3f185228-d0ce-4b0b-b59f-3a34cdc9a5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6A60DD-0819-44A7-BCCB-22A76EDEC899}">
  <ds:schemaRefs>
    <ds:schemaRef ds:uri="http://schemas.microsoft.com/sharepoint/v3/contenttype/forms"/>
  </ds:schemaRefs>
</ds:datastoreItem>
</file>

<file path=customXml/itemProps2.xml><?xml version="1.0" encoding="utf-8"?>
<ds:datastoreItem xmlns:ds="http://schemas.openxmlformats.org/officeDocument/2006/customXml" ds:itemID="{9E48E1A7-97CF-485A-ABD4-0EF9F7BDF039}">
  <ds:schemaRefs>
    <ds:schemaRef ds:uri="c7472d64-0d3a-484e-8dae-9877b44b21bc"/>
    <ds:schemaRef ds:uri="http://purl.org/dc/dcmitype/"/>
    <ds:schemaRef ds:uri="http://schemas.microsoft.com/office/2006/metadata/properties"/>
    <ds:schemaRef ds:uri="http://purl.org/dc/elements/1.1/"/>
    <ds:schemaRef ds:uri="3f185228-d0ce-4b0b-b59f-3a34cdc9a5e8"/>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571EBD0-716C-42D6-9E97-8AAEC5D0F7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472d64-0d3a-484e-8dae-9877b44b21bc"/>
    <ds:schemaRef ds:uri="3f185228-d0ce-4b0b-b59f-3a34cdc9a5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2143</Words>
  <Application>Microsoft Office PowerPoint</Application>
  <PresentationFormat>Widescreen</PresentationFormat>
  <Paragraphs>225</Paragraphs>
  <Slides>15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1" baseType="lpstr">
      <vt:lpstr>Aptos</vt:lpstr>
      <vt:lpstr>Arial</vt:lpstr>
      <vt:lpstr>Calibri (Body)</vt:lpstr>
      <vt:lpstr>Calibri (Headings)</vt:lpstr>
      <vt:lpstr>Thème Office</vt:lpstr>
      <vt:lpstr>think-cell Slide</vt:lpstr>
      <vt:lpstr>BINV3140-D Microservices</vt:lpstr>
      <vt:lpstr>Table of Content</vt:lpstr>
      <vt:lpstr>1. Lesson’s Objectives</vt:lpstr>
      <vt:lpstr>2. Summary Lesson 1 &amp; 2</vt:lpstr>
      <vt:lpstr>3. The Communication Challenge</vt:lpstr>
      <vt:lpstr>4. Two Types of Communication</vt:lpstr>
      <vt:lpstr>5. Synchronous Communication</vt:lpstr>
      <vt:lpstr>6. Asynchronous Communication</vt:lpstr>
      <vt:lpstr>7. Typical Challenges (1/2)</vt:lpstr>
      <vt:lpstr>7. Typical Challenges (2/2)</vt:lpstr>
      <vt:lpstr>8. Synchronous vs Asynchronous</vt:lpstr>
      <vt:lpstr>9. Summary</vt:lpstr>
      <vt:lpstr>Exercise</vt:lpstr>
      <vt:lpstr>1. Lesson 3 Exercise</vt:lpstr>
      <vt:lpstr>2. Install and Configure RabbitMQ</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BINV3140-D Microservices</dc:title>
  <dc:creator>Sébastien STREBELLE</dc:creator>
  <cp:lastModifiedBy>Tarik Miri</cp:lastModifiedBy>
  <cp:revision>25</cp:revision>
  <dcterms:created xsi:type="dcterms:W3CDTF">2024-09-17T08:11:48Z</dcterms:created>
  <dcterms:modified xsi:type="dcterms:W3CDTF">2025-10-01T12:51:15Z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0x010100D3ED1306D512654B98E69FC24695A753</vt:lpwstr>
  </property>
  <property fmtid="{D5CDD505-2E9C-101B-9397-08002B2CF9AE}" pid="4" name="MSIP_Label_47c19387-3134-4ca8-87e2-20d2b663daf3_Enabled">
    <vt:lpwstr>true</vt:lpwstr>
  </property>
  <property fmtid="{D5CDD505-2E9C-101B-9397-08002B2CF9AE}" pid="5" name="MSIP_Label_47c19387-3134-4ca8-87e2-20d2b663daf3_SetDate">
    <vt:lpwstr>2025-09-30T12:00:08Z</vt:lpwstr>
  </property>
  <property fmtid="{D5CDD505-2E9C-101B-9397-08002B2CF9AE}" pid="6" name="MSIP_Label_47c19387-3134-4ca8-87e2-20d2b663daf3_Method">
    <vt:lpwstr>Standard</vt:lpwstr>
  </property>
  <property fmtid="{D5CDD505-2E9C-101B-9397-08002B2CF9AE}" pid="7" name="MSIP_Label_47c19387-3134-4ca8-87e2-20d2b663daf3_Name">
    <vt:lpwstr>Restricted distribution</vt:lpwstr>
  </property>
  <property fmtid="{D5CDD505-2E9C-101B-9397-08002B2CF9AE}" pid="8" name="MSIP_Label_47c19387-3134-4ca8-87e2-20d2b663daf3_SiteId">
    <vt:lpwstr>7919ea65-4c52-4980-bfcd-ce7ffd32f1ea</vt:lpwstr>
  </property>
  <property fmtid="{D5CDD505-2E9C-101B-9397-08002B2CF9AE}" pid="9" name="MSIP_Label_47c19387-3134-4ca8-87e2-20d2b663daf3_ActionId">
    <vt:lpwstr>b616b6f3-07fa-416e-ba68-3c77a4b97499</vt:lpwstr>
  </property>
  <property fmtid="{D5CDD505-2E9C-101B-9397-08002B2CF9AE}" pid="10" name="MSIP_Label_47c19387-3134-4ca8-87e2-20d2b663daf3_ContentBits">
    <vt:lpwstr>0</vt:lpwstr>
  </property>
</Properties>
</file>