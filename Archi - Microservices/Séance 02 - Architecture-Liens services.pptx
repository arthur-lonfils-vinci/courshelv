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331" r:id="rId6"/>
    <p:sldId id="297" r:id="rId7"/>
    <p:sldId id="348" r:id="rId8"/>
    <p:sldId id="349" r:id="rId9"/>
    <p:sldId id="350" r:id="rId10"/>
    <p:sldId id="332" r:id="rId11"/>
    <p:sldId id="333" r:id="rId12"/>
    <p:sldId id="334" r:id="rId13"/>
    <p:sldId id="335" r:id="rId14"/>
    <p:sldId id="341" r:id="rId15"/>
    <p:sldId id="342" r:id="rId16"/>
    <p:sldId id="345" r:id="rId17"/>
    <p:sldId id="323" r:id="rId18"/>
    <p:sldId id="324" r:id="rId19"/>
    <p:sldId id="266" r:id="rId20"/>
    <p:sldId id="267" r:id="rId21"/>
    <p:sldId id="270" r:id="rId22"/>
    <p:sldId id="329" r:id="rId23"/>
    <p:sldId id="285" r:id="rId24"/>
    <p:sldId id="299" r:id="rId25"/>
    <p:sldId id="351" r:id="rId26"/>
    <p:sldId id="353" r:id="rId27"/>
    <p:sldId id="354" r:id="rId28"/>
    <p:sldId id="355" r:id="rId29"/>
    <p:sldId id="356" r:id="rId30"/>
    <p:sldId id="330" r:id="rId31"/>
    <p:sldId id="357" r:id="rId32"/>
    <p:sldId id="325" r:id="rId33"/>
    <p:sldId id="336" r:id="rId34"/>
    <p:sldId id="298" r:id="rId35"/>
    <p:sldId id="271" r:id="rId36"/>
    <p:sldId id="273" r:id="rId37"/>
    <p:sldId id="327" r:id="rId38"/>
    <p:sldId id="272" r:id="rId39"/>
    <p:sldId id="328" r:id="rId40"/>
    <p:sldId id="274" r:id="rId41"/>
    <p:sldId id="275" r:id="rId42"/>
    <p:sldId id="276" r:id="rId43"/>
    <p:sldId id="278" r:id="rId44"/>
    <p:sldId id="347" r:id="rId4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6C2D5B-2714-C900-9BAA-2606E75FE1AC}" v="11" dt="2025-09-24T07:26:54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Choquet" userId="S::olivier.choquet@vinci.be::53f816d3-8107-4a93-b043-614abb2d31bd" providerId="AD" clId="Web-{C698CB7F-5D6E-88A6-A5A3-706EB562DAAD}"/>
    <pc:docChg chg="addSld delSld modSld">
      <pc:chgData name="Olivier Choquet" userId="S::olivier.choquet@vinci.be::53f816d3-8107-4a93-b043-614abb2d31bd" providerId="AD" clId="Web-{C698CB7F-5D6E-88A6-A5A3-706EB562DAAD}" dt="2025-09-17T07:20:25.149" v="496" actId="20577"/>
      <pc:docMkLst>
        <pc:docMk/>
      </pc:docMkLst>
      <pc:sldChg chg="modSp">
        <pc:chgData name="Olivier Choquet" userId="S::olivier.choquet@vinci.be::53f816d3-8107-4a93-b043-614abb2d31bd" providerId="AD" clId="Web-{C698CB7F-5D6E-88A6-A5A3-706EB562DAAD}" dt="2025-09-17T07:20:25.149" v="496" actId="20577"/>
        <pc:sldMkLst>
          <pc:docMk/>
          <pc:sldMk cId="827300269" sldId="336"/>
        </pc:sldMkLst>
        <pc:spChg chg="mod">
          <ac:chgData name="Olivier Choquet" userId="S::olivier.choquet@vinci.be::53f816d3-8107-4a93-b043-614abb2d31bd" providerId="AD" clId="Web-{C698CB7F-5D6E-88A6-A5A3-706EB562DAAD}" dt="2025-09-17T07:20:25.149" v="496" actId="20577"/>
          <ac:spMkLst>
            <pc:docMk/>
            <pc:sldMk cId="827300269" sldId="336"/>
            <ac:spMk id="5" creationId="{12E4066C-5513-6622-A0C4-65AE3C44557C}"/>
          </ac:spMkLst>
        </pc:spChg>
      </pc:sldChg>
      <pc:sldChg chg="modSp">
        <pc:chgData name="Olivier Choquet" userId="S::olivier.choquet@vinci.be::53f816d3-8107-4a93-b043-614abb2d31bd" providerId="AD" clId="Web-{C698CB7F-5D6E-88A6-A5A3-706EB562DAAD}" dt="2025-09-17T06:59:02.653" v="1" actId="20577"/>
        <pc:sldMkLst>
          <pc:docMk/>
          <pc:sldMk cId="2726941128" sldId="348"/>
        </pc:sldMkLst>
        <pc:spChg chg="mod">
          <ac:chgData name="Olivier Choquet" userId="S::olivier.choquet@vinci.be::53f816d3-8107-4a93-b043-614abb2d31bd" providerId="AD" clId="Web-{C698CB7F-5D6E-88A6-A5A3-706EB562DAAD}" dt="2025-09-17T06:59:02.653" v="1" actId="20577"/>
          <ac:spMkLst>
            <pc:docMk/>
            <pc:sldMk cId="2726941128" sldId="348"/>
            <ac:spMk id="3" creationId="{AD2084CB-F8C2-521C-5891-C22421E664AA}"/>
          </ac:spMkLst>
        </pc:spChg>
      </pc:sldChg>
    </pc:docChg>
  </pc:docChgLst>
  <pc:docChgLst>
    <pc:chgData name="Olivier Choquet" userId="S::olivier.choquet@vinci.be::53f816d3-8107-4a93-b043-614abb2d31bd" providerId="AD" clId="Web-{2EC69A76-7D1E-B509-2678-730FF82BB3C3}"/>
    <pc:docChg chg="addSld delSld modSld">
      <pc:chgData name="Olivier Choquet" userId="S::olivier.choquet@vinci.be::53f816d3-8107-4a93-b043-614abb2d31bd" providerId="AD" clId="Web-{2EC69A76-7D1E-B509-2678-730FF82BB3C3}" dt="2025-09-11T06:44:19.949" v="205" actId="20577"/>
      <pc:docMkLst>
        <pc:docMk/>
      </pc:docMkLst>
      <pc:sldChg chg="delSp modSp new">
        <pc:chgData name="Olivier Choquet" userId="S::olivier.choquet@vinci.be::53f816d3-8107-4a93-b043-614abb2d31bd" providerId="AD" clId="Web-{2EC69A76-7D1E-B509-2678-730FF82BB3C3}" dt="2025-09-11T06:22:59.293" v="30" actId="20577"/>
        <pc:sldMkLst>
          <pc:docMk/>
          <pc:sldMk cId="3216961476" sldId="351"/>
        </pc:sldMkLst>
        <pc:spChg chg="mod">
          <ac:chgData name="Olivier Choquet" userId="S::olivier.choquet@vinci.be::53f816d3-8107-4a93-b043-614abb2d31bd" providerId="AD" clId="Web-{2EC69A76-7D1E-B509-2678-730FF82BB3C3}" dt="2025-09-11T06:21:07.055" v="19" actId="20577"/>
          <ac:spMkLst>
            <pc:docMk/>
            <pc:sldMk cId="3216961476" sldId="351"/>
            <ac:spMk id="2" creationId="{C59D5591-4317-DE2B-6E5C-EFC0AF16801D}"/>
          </ac:spMkLst>
        </pc:spChg>
        <pc:spChg chg="mod">
          <ac:chgData name="Olivier Choquet" userId="S::olivier.choquet@vinci.be::53f816d3-8107-4a93-b043-614abb2d31bd" providerId="AD" clId="Web-{2EC69A76-7D1E-B509-2678-730FF82BB3C3}" dt="2025-09-11T06:22:59.293" v="30" actId="20577"/>
          <ac:spMkLst>
            <pc:docMk/>
            <pc:sldMk cId="3216961476" sldId="351"/>
            <ac:spMk id="4" creationId="{8698E562-A7FF-6433-4767-F9C8B50EF232}"/>
          </ac:spMkLst>
        </pc:spChg>
      </pc:sldChg>
      <pc:sldChg chg="modSp add replId">
        <pc:chgData name="Olivier Choquet" userId="S::olivier.choquet@vinci.be::53f816d3-8107-4a93-b043-614abb2d31bd" providerId="AD" clId="Web-{2EC69A76-7D1E-B509-2678-730FF82BB3C3}" dt="2025-09-11T06:28:00.767" v="88" actId="20577"/>
        <pc:sldMkLst>
          <pc:docMk/>
          <pc:sldMk cId="1833582326" sldId="353"/>
        </pc:sldMkLst>
        <pc:spChg chg="mod">
          <ac:chgData name="Olivier Choquet" userId="S::olivier.choquet@vinci.be::53f816d3-8107-4a93-b043-614abb2d31bd" providerId="AD" clId="Web-{2EC69A76-7D1E-B509-2678-730FF82BB3C3}" dt="2025-09-11T06:28:00.767" v="88" actId="20577"/>
          <ac:spMkLst>
            <pc:docMk/>
            <pc:sldMk cId="1833582326" sldId="353"/>
            <ac:spMk id="4" creationId="{65FFC766-C781-B0B9-BAEE-579DED31A197}"/>
          </ac:spMkLst>
        </pc:spChg>
      </pc:sldChg>
      <pc:sldChg chg="modSp add replId">
        <pc:chgData name="Olivier Choquet" userId="S::olivier.choquet@vinci.be::53f816d3-8107-4a93-b043-614abb2d31bd" providerId="AD" clId="Web-{2EC69A76-7D1E-B509-2678-730FF82BB3C3}" dt="2025-09-11T06:40:03.301" v="108" actId="20577"/>
        <pc:sldMkLst>
          <pc:docMk/>
          <pc:sldMk cId="420279400" sldId="354"/>
        </pc:sldMkLst>
        <pc:spChg chg="mod">
          <ac:chgData name="Olivier Choquet" userId="S::olivier.choquet@vinci.be::53f816d3-8107-4a93-b043-614abb2d31bd" providerId="AD" clId="Web-{2EC69A76-7D1E-B509-2678-730FF82BB3C3}" dt="2025-09-11T06:40:03.301" v="108" actId="20577"/>
          <ac:spMkLst>
            <pc:docMk/>
            <pc:sldMk cId="420279400" sldId="354"/>
            <ac:spMk id="4" creationId="{D0553D2F-A517-A413-9F34-DA3FA3D551DC}"/>
          </ac:spMkLst>
        </pc:spChg>
      </pc:sldChg>
      <pc:sldChg chg="modSp add replId">
        <pc:chgData name="Olivier Choquet" userId="S::olivier.choquet@vinci.be::53f816d3-8107-4a93-b043-614abb2d31bd" providerId="AD" clId="Web-{2EC69A76-7D1E-B509-2678-730FF82BB3C3}" dt="2025-09-11T06:42:55.994" v="165"/>
        <pc:sldMkLst>
          <pc:docMk/>
          <pc:sldMk cId="3575689766" sldId="355"/>
        </pc:sldMkLst>
        <pc:spChg chg="mod">
          <ac:chgData name="Olivier Choquet" userId="S::olivier.choquet@vinci.be::53f816d3-8107-4a93-b043-614abb2d31bd" providerId="AD" clId="Web-{2EC69A76-7D1E-B509-2678-730FF82BB3C3}" dt="2025-09-11T06:42:10.618" v="158" actId="1076"/>
          <ac:spMkLst>
            <pc:docMk/>
            <pc:sldMk cId="3575689766" sldId="355"/>
            <ac:spMk id="2" creationId="{4A741706-A5BB-0A96-FE51-6444A44267A3}"/>
          </ac:spMkLst>
        </pc:spChg>
        <pc:spChg chg="mod">
          <ac:chgData name="Olivier Choquet" userId="S::olivier.choquet@vinci.be::53f816d3-8107-4a93-b043-614abb2d31bd" providerId="AD" clId="Web-{2EC69A76-7D1E-B509-2678-730FF82BB3C3}" dt="2025-09-11T06:42:55.994" v="165"/>
          <ac:spMkLst>
            <pc:docMk/>
            <pc:sldMk cId="3575689766" sldId="355"/>
            <ac:spMk id="4" creationId="{983BA690-F950-D914-170B-6C0A58C4F749}"/>
          </ac:spMkLst>
        </pc:spChg>
      </pc:sldChg>
      <pc:sldChg chg="modSp add replId">
        <pc:chgData name="Olivier Choquet" userId="S::olivier.choquet@vinci.be::53f816d3-8107-4a93-b043-614abb2d31bd" providerId="AD" clId="Web-{2EC69A76-7D1E-B509-2678-730FF82BB3C3}" dt="2025-09-11T06:44:19.949" v="205" actId="20577"/>
        <pc:sldMkLst>
          <pc:docMk/>
          <pc:sldMk cId="686692534" sldId="356"/>
        </pc:sldMkLst>
        <pc:spChg chg="mod">
          <ac:chgData name="Olivier Choquet" userId="S::olivier.choquet@vinci.be::53f816d3-8107-4a93-b043-614abb2d31bd" providerId="AD" clId="Web-{2EC69A76-7D1E-B509-2678-730FF82BB3C3}" dt="2025-09-11T06:44:19.949" v="205" actId="20577"/>
          <ac:spMkLst>
            <pc:docMk/>
            <pc:sldMk cId="686692534" sldId="356"/>
            <ac:spMk id="4" creationId="{6006D20A-FFB5-8473-D5B8-93A88B7D907F}"/>
          </ac:spMkLst>
        </pc:spChg>
      </pc:sldChg>
    </pc:docChg>
  </pc:docChgLst>
  <pc:docChgLst>
    <pc:chgData name="Olivier Choquet" userId="S::olivier.choquet@vinci.be::53f816d3-8107-4a93-b043-614abb2d31bd" providerId="AD" clId="Web-{9982770E-6CCC-8791-18D3-AB9D79828AA6}"/>
    <pc:docChg chg="addSld delSld modSld">
      <pc:chgData name="Olivier Choquet" userId="S::olivier.choquet@vinci.be::53f816d3-8107-4a93-b043-614abb2d31bd" providerId="AD" clId="Web-{9982770E-6CCC-8791-18D3-AB9D79828AA6}" dt="2025-09-11T13:19:08.503" v="64" actId="20577"/>
      <pc:docMkLst>
        <pc:docMk/>
      </pc:docMkLst>
      <pc:sldChg chg="modSp">
        <pc:chgData name="Olivier Choquet" userId="S::olivier.choquet@vinci.be::53f816d3-8107-4a93-b043-614abb2d31bd" providerId="AD" clId="Web-{9982770E-6CCC-8791-18D3-AB9D79828AA6}" dt="2025-09-11T13:19:08.503" v="64" actId="20577"/>
        <pc:sldMkLst>
          <pc:docMk/>
          <pc:sldMk cId="827300269" sldId="336"/>
        </pc:sldMkLst>
        <pc:spChg chg="mod">
          <ac:chgData name="Olivier Choquet" userId="S::olivier.choquet@vinci.be::53f816d3-8107-4a93-b043-614abb2d31bd" providerId="AD" clId="Web-{9982770E-6CCC-8791-18D3-AB9D79828AA6}" dt="2025-09-11T13:19:08.503" v="64" actId="20577"/>
          <ac:spMkLst>
            <pc:docMk/>
            <pc:sldMk cId="827300269" sldId="336"/>
            <ac:spMk id="5" creationId="{12E4066C-5513-6622-A0C4-65AE3C44557C}"/>
          </ac:spMkLst>
        </pc:spChg>
      </pc:sldChg>
      <pc:sldChg chg="modSp">
        <pc:chgData name="Olivier Choquet" userId="S::olivier.choquet@vinci.be::53f816d3-8107-4a93-b043-614abb2d31bd" providerId="AD" clId="Web-{9982770E-6CCC-8791-18D3-AB9D79828AA6}" dt="2025-09-11T13:14:59.745" v="4" actId="1076"/>
        <pc:sldMkLst>
          <pc:docMk/>
          <pc:sldMk cId="2923369140" sldId="350"/>
        </pc:sldMkLst>
        <pc:picChg chg="mod">
          <ac:chgData name="Olivier Choquet" userId="S::olivier.choquet@vinci.be::53f816d3-8107-4a93-b043-614abb2d31bd" providerId="AD" clId="Web-{9982770E-6CCC-8791-18D3-AB9D79828AA6}" dt="2025-09-11T13:14:59.745" v="4" actId="1076"/>
          <ac:picMkLst>
            <pc:docMk/>
            <pc:sldMk cId="2923369140" sldId="350"/>
            <ac:picMk id="7" creationId="{C0B7BEC8-AE2D-C764-D609-0C716A898DD3}"/>
          </ac:picMkLst>
        </pc:picChg>
      </pc:sldChg>
      <pc:sldChg chg="modSp add del">
        <pc:chgData name="Olivier Choquet" userId="S::olivier.choquet@vinci.be::53f816d3-8107-4a93-b043-614abb2d31bd" providerId="AD" clId="Web-{9982770E-6CCC-8791-18D3-AB9D79828AA6}" dt="2025-09-11T13:17:12.453" v="19" actId="20577"/>
        <pc:sldMkLst>
          <pc:docMk/>
          <pc:sldMk cId="3216961476" sldId="351"/>
        </pc:sldMkLst>
        <pc:spChg chg="mod">
          <ac:chgData name="Olivier Choquet" userId="S::olivier.choquet@vinci.be::53f816d3-8107-4a93-b043-614abb2d31bd" providerId="AD" clId="Web-{9982770E-6CCC-8791-18D3-AB9D79828AA6}" dt="2025-09-11T13:17:12.453" v="19" actId="20577"/>
          <ac:spMkLst>
            <pc:docMk/>
            <pc:sldMk cId="3216961476" sldId="351"/>
            <ac:spMk id="2" creationId="{C59D5591-4317-DE2B-6E5C-EFC0AF16801D}"/>
          </ac:spMkLst>
        </pc:spChg>
      </pc:sldChg>
      <pc:sldChg chg="modSp add del">
        <pc:chgData name="Olivier Choquet" userId="S::olivier.choquet@vinci.be::53f816d3-8107-4a93-b043-614abb2d31bd" providerId="AD" clId="Web-{9982770E-6CCC-8791-18D3-AB9D79828AA6}" dt="2025-09-11T13:17:20.360" v="20" actId="20577"/>
        <pc:sldMkLst>
          <pc:docMk/>
          <pc:sldMk cId="1833582326" sldId="353"/>
        </pc:sldMkLst>
        <pc:spChg chg="mod">
          <ac:chgData name="Olivier Choquet" userId="S::olivier.choquet@vinci.be::53f816d3-8107-4a93-b043-614abb2d31bd" providerId="AD" clId="Web-{9982770E-6CCC-8791-18D3-AB9D79828AA6}" dt="2025-09-11T13:17:20.360" v="20" actId="20577"/>
          <ac:spMkLst>
            <pc:docMk/>
            <pc:sldMk cId="1833582326" sldId="353"/>
            <ac:spMk id="2" creationId="{B4F21DE6-432E-40FB-2754-0EA67E7920DF}"/>
          </ac:spMkLst>
        </pc:spChg>
      </pc:sldChg>
      <pc:sldChg chg="modSp add del">
        <pc:chgData name="Olivier Choquet" userId="S::olivier.choquet@vinci.be::53f816d3-8107-4a93-b043-614abb2d31bd" providerId="AD" clId="Web-{9982770E-6CCC-8791-18D3-AB9D79828AA6}" dt="2025-09-11T13:17:26.032" v="21" actId="20577"/>
        <pc:sldMkLst>
          <pc:docMk/>
          <pc:sldMk cId="420279400" sldId="354"/>
        </pc:sldMkLst>
        <pc:spChg chg="mod">
          <ac:chgData name="Olivier Choquet" userId="S::olivier.choquet@vinci.be::53f816d3-8107-4a93-b043-614abb2d31bd" providerId="AD" clId="Web-{9982770E-6CCC-8791-18D3-AB9D79828AA6}" dt="2025-09-11T13:17:26.032" v="21" actId="20577"/>
          <ac:spMkLst>
            <pc:docMk/>
            <pc:sldMk cId="420279400" sldId="354"/>
            <ac:spMk id="2" creationId="{12A2F11B-97D6-D367-2659-7EA4301F7F7A}"/>
          </ac:spMkLst>
        </pc:spChg>
      </pc:sldChg>
      <pc:sldChg chg="modSp add del">
        <pc:chgData name="Olivier Choquet" userId="S::olivier.choquet@vinci.be::53f816d3-8107-4a93-b043-614abb2d31bd" providerId="AD" clId="Web-{9982770E-6CCC-8791-18D3-AB9D79828AA6}" dt="2025-09-11T13:17:31.782" v="22" actId="20577"/>
        <pc:sldMkLst>
          <pc:docMk/>
          <pc:sldMk cId="3575689766" sldId="355"/>
        </pc:sldMkLst>
        <pc:spChg chg="mod">
          <ac:chgData name="Olivier Choquet" userId="S::olivier.choquet@vinci.be::53f816d3-8107-4a93-b043-614abb2d31bd" providerId="AD" clId="Web-{9982770E-6CCC-8791-18D3-AB9D79828AA6}" dt="2025-09-11T13:17:31.782" v="22" actId="20577"/>
          <ac:spMkLst>
            <pc:docMk/>
            <pc:sldMk cId="3575689766" sldId="355"/>
            <ac:spMk id="2" creationId="{4A741706-A5BB-0A96-FE51-6444A44267A3}"/>
          </ac:spMkLst>
        </pc:spChg>
      </pc:sldChg>
      <pc:sldChg chg="modSp add del">
        <pc:chgData name="Olivier Choquet" userId="S::olivier.choquet@vinci.be::53f816d3-8107-4a93-b043-614abb2d31bd" providerId="AD" clId="Web-{9982770E-6CCC-8791-18D3-AB9D79828AA6}" dt="2025-09-11T13:17:38.454" v="23" actId="20577"/>
        <pc:sldMkLst>
          <pc:docMk/>
          <pc:sldMk cId="686692534" sldId="356"/>
        </pc:sldMkLst>
        <pc:spChg chg="mod">
          <ac:chgData name="Olivier Choquet" userId="S::olivier.choquet@vinci.be::53f816d3-8107-4a93-b043-614abb2d31bd" providerId="AD" clId="Web-{9982770E-6CCC-8791-18D3-AB9D79828AA6}" dt="2025-09-11T13:17:38.454" v="23" actId="20577"/>
          <ac:spMkLst>
            <pc:docMk/>
            <pc:sldMk cId="686692534" sldId="356"/>
            <ac:spMk id="2" creationId="{99388A37-5442-03EC-BE18-E9274433C9D9}"/>
          </ac:spMkLst>
        </pc:spChg>
      </pc:sldChg>
      <pc:sldChg chg="modSp">
        <pc:chgData name="Olivier Choquet" userId="S::olivier.choquet@vinci.be::53f816d3-8107-4a93-b043-614abb2d31bd" providerId="AD" clId="Web-{9982770E-6CCC-8791-18D3-AB9D79828AA6}" dt="2025-09-11T13:18:14.283" v="26" actId="20577"/>
        <pc:sldMkLst>
          <pc:docMk/>
          <pc:sldMk cId="1849356399" sldId="357"/>
        </pc:sldMkLst>
        <pc:spChg chg="mod">
          <ac:chgData name="Olivier Choquet" userId="S::olivier.choquet@vinci.be::53f816d3-8107-4a93-b043-614abb2d31bd" providerId="AD" clId="Web-{9982770E-6CCC-8791-18D3-AB9D79828AA6}" dt="2025-09-11T13:18:14.283" v="26" actId="20577"/>
          <ac:spMkLst>
            <pc:docMk/>
            <pc:sldMk cId="1849356399" sldId="357"/>
            <ac:spMk id="5" creationId="{8AECC184-9E4B-B42D-3410-2E530175EC2C}"/>
          </ac:spMkLst>
        </pc:spChg>
      </pc:sldChg>
    </pc:docChg>
  </pc:docChgLst>
  <pc:docChgLst>
    <pc:chgData name="Olivier Choquet" userId="S::olivier.choquet@vinci.be::53f816d3-8107-4a93-b043-614abb2d31bd" providerId="AD" clId="Web-{C7450AA8-2792-24F5-759A-61A19AA014DE}"/>
    <pc:docChg chg="addSld delSld modSld">
      <pc:chgData name="Olivier Choquet" userId="S::olivier.choquet@vinci.be::53f816d3-8107-4a93-b043-614abb2d31bd" providerId="AD" clId="Web-{C7450AA8-2792-24F5-759A-61A19AA014DE}" dt="2025-09-11T12:13:15.167" v="80"/>
      <pc:docMkLst>
        <pc:docMk/>
      </pc:docMkLst>
      <pc:sldChg chg="modSp">
        <pc:chgData name="Olivier Choquet" userId="S::olivier.choquet@vinci.be::53f816d3-8107-4a93-b043-614abb2d31bd" providerId="AD" clId="Web-{C7450AA8-2792-24F5-759A-61A19AA014DE}" dt="2025-09-11T12:11:42.853" v="47" actId="20577"/>
        <pc:sldMkLst>
          <pc:docMk/>
          <pc:sldMk cId="3398832479" sldId="330"/>
        </pc:sldMkLst>
        <pc:spChg chg="mod">
          <ac:chgData name="Olivier Choquet" userId="S::olivier.choquet@vinci.be::53f816d3-8107-4a93-b043-614abb2d31bd" providerId="AD" clId="Web-{C7450AA8-2792-24F5-759A-61A19AA014DE}" dt="2025-09-11T12:11:42.853" v="47" actId="20577"/>
          <ac:spMkLst>
            <pc:docMk/>
            <pc:sldMk cId="3398832479" sldId="330"/>
            <ac:spMk id="2" creationId="{65E705D6-F69F-37F6-5966-55FEA9D0453E}"/>
          </ac:spMkLst>
        </pc:spChg>
        <pc:spChg chg="mod">
          <ac:chgData name="Olivier Choquet" userId="S::olivier.choquet@vinci.be::53f816d3-8107-4a93-b043-614abb2d31bd" providerId="AD" clId="Web-{C7450AA8-2792-24F5-759A-61A19AA014DE}" dt="2025-09-11T12:10:45.961" v="32" actId="20577"/>
          <ac:spMkLst>
            <pc:docMk/>
            <pc:sldMk cId="3398832479" sldId="330"/>
            <ac:spMk id="3" creationId="{417ABD7E-65F0-B7DF-7DFD-E53EE764FA09}"/>
          </ac:spMkLst>
        </pc:spChg>
      </pc:sldChg>
      <pc:sldChg chg="modSp">
        <pc:chgData name="Olivier Choquet" userId="S::olivier.choquet@vinci.be::53f816d3-8107-4a93-b043-614abb2d31bd" providerId="AD" clId="Web-{C7450AA8-2792-24F5-759A-61A19AA014DE}" dt="2025-09-11T12:10:07.303" v="30" actId="20577"/>
        <pc:sldMkLst>
          <pc:docMk/>
          <pc:sldMk cId="3691726539" sldId="345"/>
        </pc:sldMkLst>
        <pc:spChg chg="mod">
          <ac:chgData name="Olivier Choquet" userId="S::olivier.choquet@vinci.be::53f816d3-8107-4a93-b043-614abb2d31bd" providerId="AD" clId="Web-{C7450AA8-2792-24F5-759A-61A19AA014DE}" dt="2025-09-11T12:10:07.303" v="30" actId="20577"/>
          <ac:spMkLst>
            <pc:docMk/>
            <pc:sldMk cId="3691726539" sldId="345"/>
            <ac:spMk id="3" creationId="{C989D5E7-CE51-0E40-1901-21714E3791F4}"/>
          </ac:spMkLst>
        </pc:spChg>
      </pc:sldChg>
      <pc:sldChg chg="addSp delSp modSp add mod replId setBg">
        <pc:chgData name="Olivier Choquet" userId="S::olivier.choquet@vinci.be::53f816d3-8107-4a93-b043-614abb2d31bd" providerId="AD" clId="Web-{C7450AA8-2792-24F5-759A-61A19AA014DE}" dt="2025-09-11T12:13:15.167" v="80"/>
        <pc:sldMkLst>
          <pc:docMk/>
          <pc:sldMk cId="1849356399" sldId="357"/>
        </pc:sldMkLst>
        <pc:spChg chg="mod">
          <ac:chgData name="Olivier Choquet" userId="S::olivier.choquet@vinci.be::53f816d3-8107-4a93-b043-614abb2d31bd" providerId="AD" clId="Web-{C7450AA8-2792-24F5-759A-61A19AA014DE}" dt="2025-09-11T12:13:15.167" v="80"/>
          <ac:spMkLst>
            <pc:docMk/>
            <pc:sldMk cId="1849356399" sldId="357"/>
            <ac:spMk id="4" creationId="{1F4D4352-6B09-C290-1C30-0B5C482517E0}"/>
          </ac:spMkLst>
        </pc:spChg>
        <pc:spChg chg="mod">
          <ac:chgData name="Olivier Choquet" userId="S::olivier.choquet@vinci.be::53f816d3-8107-4a93-b043-614abb2d31bd" providerId="AD" clId="Web-{C7450AA8-2792-24F5-759A-61A19AA014DE}" dt="2025-09-11T12:13:15.167" v="80"/>
          <ac:spMkLst>
            <pc:docMk/>
            <pc:sldMk cId="1849356399" sldId="357"/>
            <ac:spMk id="5" creationId="{8AECC184-9E4B-B42D-3410-2E530175EC2C}"/>
          </ac:spMkLst>
        </pc:spChg>
        <pc:spChg chg="add">
          <ac:chgData name="Olivier Choquet" userId="S::olivier.choquet@vinci.be::53f816d3-8107-4a93-b043-614abb2d31bd" providerId="AD" clId="Web-{C7450AA8-2792-24F5-759A-61A19AA014DE}" dt="2025-09-11T12:13:15.167" v="80"/>
          <ac:spMkLst>
            <pc:docMk/>
            <pc:sldMk cId="1849356399" sldId="357"/>
            <ac:spMk id="7" creationId="{0B9EE3F3-89B7-43C3-8651-C4C96830993D}"/>
          </ac:spMkLst>
        </pc:spChg>
        <pc:spChg chg="add">
          <ac:chgData name="Olivier Choquet" userId="S::olivier.choquet@vinci.be::53f816d3-8107-4a93-b043-614abb2d31bd" providerId="AD" clId="Web-{C7450AA8-2792-24F5-759A-61A19AA014DE}" dt="2025-09-11T12:13:15.167" v="80"/>
          <ac:spMkLst>
            <pc:docMk/>
            <pc:sldMk cId="1849356399" sldId="357"/>
            <ac:spMk id="8" creationId="{33AE4636-AEEC-45D6-84D4-7AC2DA48ECF8}"/>
          </ac:spMkLst>
        </pc:spChg>
        <pc:spChg chg="add">
          <ac:chgData name="Olivier Choquet" userId="S::olivier.choquet@vinci.be::53f816d3-8107-4a93-b043-614abb2d31bd" providerId="AD" clId="Web-{C7450AA8-2792-24F5-759A-61A19AA014DE}" dt="2025-09-11T12:13:15.167" v="80"/>
          <ac:spMkLst>
            <pc:docMk/>
            <pc:sldMk cId="1849356399" sldId="357"/>
            <ac:spMk id="9" creationId="{8D9CE0F4-2EB2-4F1F-8AAC-DB3571D9FE10}"/>
          </ac:spMkLst>
        </pc:spChg>
        <pc:picChg chg="add mod">
          <ac:chgData name="Olivier Choquet" userId="S::olivier.choquet@vinci.be::53f816d3-8107-4a93-b043-614abb2d31bd" providerId="AD" clId="Web-{C7450AA8-2792-24F5-759A-61A19AA014DE}" dt="2025-09-11T12:13:15.167" v="80"/>
          <ac:picMkLst>
            <pc:docMk/>
            <pc:sldMk cId="1849356399" sldId="357"/>
            <ac:picMk id="2" creationId="{50CABB60-4719-0A0A-D86A-BB3624B92E74}"/>
          </ac:picMkLst>
        </pc:picChg>
      </pc:sldChg>
    </pc:docChg>
  </pc:docChgLst>
  <pc:docChgLst>
    <pc:chgData name="Olivier Choquet" userId="S::olivier.choquet@vinci.be::53f816d3-8107-4a93-b043-614abb2d31bd" providerId="AD" clId="Web-{C96C2D5B-2714-C900-9BAA-2606E75FE1AC}"/>
    <pc:docChg chg="modSld">
      <pc:chgData name="Olivier Choquet" userId="S::olivier.choquet@vinci.be::53f816d3-8107-4a93-b043-614abb2d31bd" providerId="AD" clId="Web-{C96C2D5B-2714-C900-9BAA-2606E75FE1AC}" dt="2025-09-24T07:26:52.705" v="9" actId="20577"/>
      <pc:docMkLst>
        <pc:docMk/>
      </pc:docMkLst>
      <pc:sldChg chg="modSp">
        <pc:chgData name="Olivier Choquet" userId="S::olivier.choquet@vinci.be::53f816d3-8107-4a93-b043-614abb2d31bd" providerId="AD" clId="Web-{C96C2D5B-2714-C900-9BAA-2606E75FE1AC}" dt="2025-09-24T07:26:52.705" v="9" actId="20577"/>
        <pc:sldMkLst>
          <pc:docMk/>
          <pc:sldMk cId="827300269" sldId="336"/>
        </pc:sldMkLst>
        <pc:spChg chg="mod">
          <ac:chgData name="Olivier Choquet" userId="S::olivier.choquet@vinci.be::53f816d3-8107-4a93-b043-614abb2d31bd" providerId="AD" clId="Web-{C96C2D5B-2714-C900-9BAA-2606E75FE1AC}" dt="2025-09-24T07:26:52.705" v="9" actId="20577"/>
          <ac:spMkLst>
            <pc:docMk/>
            <pc:sldMk cId="827300269" sldId="336"/>
            <ac:spMk id="5" creationId="{12E4066C-5513-6622-A0C4-65AE3C4455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BDD194-EA6A-86AB-5C0A-AA073E99F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48FA9E-B542-A797-4065-5F8F1CE94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836F02-43B6-96C1-4583-D5D37717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617AD9-451E-E7E9-FF3F-36A50C1B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837580-1A55-B823-9F08-98B58C0A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60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B6B9DA-2895-8DAB-7575-FD201E10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89EF85-DD7F-CE82-9DA8-CB77ADDC4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D01BEC-F772-12BB-42F8-3EBF53E3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C5E836-084C-631F-777E-13A83CE1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7E9DB9-06B8-2E6A-A707-0022F948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94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B4B67-9D80-58C2-833C-02BF1C66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AC2C5B-CD7C-359F-5E20-90EB271FC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2062AD-CE40-ECBE-2461-0994109D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D91C24-750B-772B-39EB-AEE3BC9CF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593CF6-DEA0-54A3-3B0D-16DFD868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70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166CE9-D8AC-23AC-AB85-26F071E9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1A527B-45D4-FDBA-8A43-2ECF0043B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291D06-5D41-A286-35F6-7E5962AA6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3FDB4F-5A52-B6D6-AFCB-23B0CCA48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9C4B8D-86B0-6D8E-5799-1DF9046F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345797-C532-3683-0F22-9C0C21F5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279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0B10FA-7140-2A3F-F17D-1D8F55CB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FBEC60-B3E8-70A1-1920-E8E65B530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CF08F6-1E9E-7991-A7E4-BBBA4D19C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098D948-741B-2551-4395-03AA7CD96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30237D2-8F80-CFAF-989C-B873AC511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AE2C985-C329-B01A-EA6E-7ECDC0348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CB8720D-48B9-7113-5012-7F64AF82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CB2D759-968F-C3C6-332A-421C1DBC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0531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0909FF-76F0-288B-EC6A-08369077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84260B-9290-664A-39BE-1FF8DAB6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B8D1B0-0211-0B30-25B2-2ECAEB7B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E3CF8A-DED0-61B4-9477-6691CB22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912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0220C5D-59C1-F173-6A80-8466E326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672C3F8-96D7-AC0F-493C-CF032DF8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FC3F02-C042-5FAF-3F8E-41A0754F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837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933505-46DC-10BC-72D3-1D3FB4F8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1B0B73-F197-9E0C-F1BA-E28327D18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5E27E2-EF15-C4DC-87AA-2C59806BB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4645E9-9E50-C375-B1CA-FDADC0EB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9AB4B8-BE69-12A4-352D-EB182E59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9B8AD6-D1DB-F85F-A953-B1E35D7F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4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22E2AB-2449-7EB0-5DB0-51AA5107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CDD0DB1-5B79-C179-CD88-24666CF7F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885001-8D2A-1E55-6125-046C217D7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2DC0E5-E406-FB5E-7305-06FF33CA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2FFBD0-B81E-CE89-E074-CA3C1985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79F1D4-45C0-72EF-AA62-F0166092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809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CC69A-4A37-AD34-F416-9C1F0CDA4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A1A407-50D8-29B0-6B7C-3F7A084F6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0DBD08-71D1-D86D-0D7C-C105368C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73B908-5B53-7827-C0C4-599125A6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7FF548-2FA6-E231-8CE0-D4F3B1E0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505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25DECE3-B4CC-42CC-F62E-0789E3301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DCD9F15-8723-AC1D-CBAE-42E77D420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97D50E-F3A1-FD48-FA20-24BDD23FF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3B96C1-F640-644F-B8D3-63C4BA94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2BE97C-C5D6-E732-0A24-D614B062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27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A563CA-A6A1-A408-DEDB-BD16137F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929816-B7ED-5106-8A3D-B868532C6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D8E43-72A4-8637-96D7-209301290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74B4E-4789-FB44-B071-FF5485E6ED2C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0261B1-1036-E54A-1F0D-1269DA35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C35F02-B551-9B60-B538-24D184CCF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49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2" TargetMode="External"/><Relationship Id="rId2" Type="http://schemas.openxmlformats.org/officeDocument/2006/relationships/hyperlink" Target="http://localhost:8081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" TargetMode="Externa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$%7bport%7d%60" TargetMode="Externa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livierchoquet/pet-recommmandations-nodejs" TargetMode="External"/><Relationship Id="rId2" Type="http://schemas.openxmlformats.org/officeDocument/2006/relationships/hyperlink" Target="https://github.com/olivierchoquet/pets-microservic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ocs.spring.io/spring-data/jpa/reference/repositories/core-concepts.html" TargetMode="Externa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EE6AC7-315F-49D3-AD4C-A25F1AA11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pPr algn="l"/>
            <a:r>
              <a:rPr lang="fr-BE" sz="4400"/>
              <a:t>BINV3140</a:t>
            </a:r>
            <a:br>
              <a:rPr lang="fr-BE" sz="4400"/>
            </a:br>
            <a:r>
              <a:rPr lang="fr-BE" sz="4400" err="1"/>
              <a:t>Microservices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F57CF551-3363-4D14-AB20-4E3BC7896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5935" y="578738"/>
            <a:ext cx="5668280" cy="5670549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5AF42A25-0493-4E12-B65F-57D107A706D5}"/>
              </a:ext>
            </a:extLst>
          </p:cNvPr>
          <p:cNvSpPr txBox="1"/>
          <p:nvPr/>
        </p:nvSpPr>
        <p:spPr>
          <a:xfrm>
            <a:off x="773408" y="3787253"/>
            <a:ext cx="383669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BE" sz="2400"/>
              <a:t>Cours 2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B9BDEE1-A208-4642-B50F-3B97DAAAF184}"/>
              </a:ext>
            </a:extLst>
          </p:cNvPr>
          <p:cNvSpPr txBox="1"/>
          <p:nvPr/>
        </p:nvSpPr>
        <p:spPr>
          <a:xfrm>
            <a:off x="773408" y="5325957"/>
            <a:ext cx="2115936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BE"/>
              <a:t>2025-2026</a:t>
            </a:r>
          </a:p>
          <a:p>
            <a:r>
              <a:rPr lang="fr-BE" err="1"/>
              <a:t>Strebelle</a:t>
            </a:r>
            <a:r>
              <a:rPr lang="fr-BE"/>
              <a:t> Sébastien</a:t>
            </a:r>
          </a:p>
          <a:p>
            <a:r>
              <a:rPr lang="fr-BE"/>
              <a:t>Tarik Miri</a:t>
            </a:r>
          </a:p>
          <a:p>
            <a:r>
              <a:rPr lang="fr-BE"/>
              <a:t>Choquet Olivier</a:t>
            </a:r>
          </a:p>
        </p:txBody>
      </p:sp>
    </p:spTree>
    <p:extLst>
      <p:ext uri="{BB962C8B-B14F-4D97-AF65-F5344CB8AC3E}">
        <p14:creationId xmlns:p14="http://schemas.microsoft.com/office/powerpoint/2010/main" val="2572945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0A4A5-7D10-127A-3FE5-332F14CFF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microservices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EA2097-0881-AA4F-A1A2-AD343E01F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2780" y="1398728"/>
            <a:ext cx="10522322" cy="489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54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489E5A-CF86-84F3-57B6-7043FD548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831"/>
            <a:ext cx="10515600" cy="989387"/>
          </a:xfrm>
        </p:spPr>
        <p:txBody>
          <a:bodyPr/>
          <a:lstStyle/>
          <a:p>
            <a:r>
              <a:rPr lang="fr-BE"/>
              <a:t>Architecture </a:t>
            </a:r>
            <a:r>
              <a:rPr lang="fr-BE" err="1"/>
              <a:t>microservices</a:t>
            </a:r>
            <a:endParaRPr lang="fr-FR" err="1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F07FD1-920E-74E9-2020-0119FF54D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5685"/>
            <a:ext cx="10515600" cy="549433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2800" b="1">
                <a:cs typeface="Calibri"/>
              </a:rPr>
              <a:t>Une responsabilité = Un service</a:t>
            </a:r>
            <a:endParaRPr lang="fr-FR" b="1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2800" b="1">
                <a:cs typeface="Calibri"/>
              </a:rPr>
              <a:t>Chaque service est indépendant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fr-FR">
                <a:cs typeface="Calibri"/>
              </a:rPr>
              <a:t>Notamment DB indépendante …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b="1">
                <a:cs typeface="Calibri"/>
              </a:rPr>
              <a:t>Interconnectés</a:t>
            </a:r>
            <a:r>
              <a:rPr lang="fr-FR" sz="2800" b="1">
                <a:cs typeface="Calibri"/>
              </a:rPr>
              <a:t> par API</a:t>
            </a:r>
          </a:p>
          <a:p>
            <a:pPr marL="285750" indent="-285750">
              <a:lnSpc>
                <a:spcPct val="150000"/>
              </a:lnSpc>
              <a:buFont typeface="Arial"/>
            </a:pPr>
            <a:r>
              <a:rPr lang="fr-FR">
                <a:cs typeface="Calibri"/>
              </a:rPr>
              <a:t>Un </a:t>
            </a:r>
            <a:r>
              <a:rPr lang="fr-FR" b="1">
                <a:cs typeface="Calibri"/>
              </a:rPr>
              <a:t>service </a:t>
            </a:r>
            <a:r>
              <a:rPr lang="fr-FR" b="1" err="1">
                <a:cs typeface="Calibri"/>
              </a:rPr>
              <a:t>registry</a:t>
            </a:r>
            <a:r>
              <a:rPr lang="fr-FR" b="1">
                <a:cs typeface="Calibri"/>
              </a:rPr>
              <a:t>/</a:t>
            </a:r>
            <a:r>
              <a:rPr lang="fr-FR" b="1" err="1">
                <a:cs typeface="Calibri"/>
              </a:rPr>
              <a:t>discovery</a:t>
            </a:r>
            <a:r>
              <a:rPr lang="fr-FR">
                <a:cs typeface="Calibri"/>
              </a:rPr>
              <a:t> peut être utile</a:t>
            </a:r>
          </a:p>
          <a:p>
            <a:pPr marL="285750" indent="-285750">
              <a:lnSpc>
                <a:spcPct val="150000"/>
              </a:lnSpc>
              <a:buFont typeface="Arial"/>
            </a:pPr>
            <a:r>
              <a:rPr lang="fr-FR">
                <a:cs typeface="Calibri"/>
              </a:rPr>
              <a:t>Une </a:t>
            </a:r>
            <a:r>
              <a:rPr lang="fr-FR" b="1">
                <a:cs typeface="Calibri"/>
              </a:rPr>
              <a:t>API </a:t>
            </a:r>
            <a:r>
              <a:rPr lang="fr-FR" b="1" err="1">
                <a:cs typeface="Calibri"/>
              </a:rPr>
              <a:t>gateway</a:t>
            </a:r>
            <a:r>
              <a:rPr lang="fr-FR">
                <a:cs typeface="Calibri"/>
              </a:rPr>
              <a:t> centralise l'accès pour les utilisateurs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fr-FR">
                <a:cs typeface="Calibri"/>
              </a:rPr>
              <a:t>Sécurité 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fr-FR">
                <a:cs typeface="Calibri"/>
              </a:rPr>
              <a:t>Routage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fr-FR">
                <a:cs typeface="Calibri"/>
              </a:rPr>
              <a:t>Limitation de débit (rate </a:t>
            </a:r>
            <a:r>
              <a:rPr lang="fr-FR" err="1">
                <a:cs typeface="Calibri"/>
              </a:rPr>
              <a:t>limit</a:t>
            </a:r>
            <a:r>
              <a:rPr lang="fr-FR">
                <a:cs typeface="Calibri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/>
            </a:pPr>
            <a:r>
              <a:rPr lang="fr-FR">
                <a:cs typeface="Calibri"/>
              </a:rPr>
              <a:t>Un config server éventuellement pour centraliser les paramètres de configurations des </a:t>
            </a:r>
            <a:r>
              <a:rPr lang="fr-FR" err="1">
                <a:cs typeface="Calibri"/>
              </a:rPr>
              <a:t>microservices</a:t>
            </a:r>
            <a:r>
              <a:rPr lang="fr-FR">
                <a:cs typeface="Calibri"/>
              </a:rPr>
              <a:t> (.</a:t>
            </a:r>
            <a:r>
              <a:rPr lang="fr-FR" err="1">
                <a:cs typeface="Calibri"/>
              </a:rPr>
              <a:t>properties</a:t>
            </a:r>
            <a:r>
              <a:rPr lang="fr-FR">
                <a:cs typeface="Calibri"/>
              </a:rPr>
              <a:t> ou .</a:t>
            </a:r>
            <a:r>
              <a:rPr lang="fr-FR" err="1">
                <a:cs typeface="Calibri"/>
              </a:rPr>
              <a:t>yml</a:t>
            </a:r>
            <a:r>
              <a:rPr lang="fr-FR"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9415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6B8E-E34F-2781-02EA-BE8560F7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Découpe</a:t>
            </a:r>
            <a:r>
              <a:rPr lang="en-US"/>
              <a:t> </a:t>
            </a:r>
            <a:r>
              <a:rPr lang="en-US" err="1"/>
              <a:t>d'une</a:t>
            </a:r>
            <a:r>
              <a:rPr lang="en-US"/>
              <a:t> application </a:t>
            </a:r>
            <a:r>
              <a:rPr lang="en-US" err="1"/>
              <a:t>en</a:t>
            </a:r>
            <a:r>
              <a:rPr lang="en-US"/>
              <a:t>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084CB-F8C2-521C-5891-C22421E66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Principes </a:t>
            </a:r>
            <a:r>
              <a:rPr lang="en-US" b="1" dirty="0" err="1">
                <a:ea typeface="+mn-lt"/>
                <a:cs typeface="+mn-lt"/>
              </a:rPr>
              <a:t>fondamentaux</a:t>
            </a:r>
            <a:endParaRPr lang="en-US" b="1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 err="1">
                <a:ea typeface="+mn-lt"/>
                <a:cs typeface="+mn-lt"/>
              </a:rPr>
              <a:t>Séparation</a:t>
            </a:r>
            <a:r>
              <a:rPr lang="en-US" b="1" dirty="0">
                <a:ea typeface="+mn-lt"/>
                <a:cs typeface="+mn-lt"/>
              </a:rPr>
              <a:t> des </a:t>
            </a:r>
            <a:r>
              <a:rPr lang="en-US" b="1" dirty="0" err="1">
                <a:ea typeface="+mn-lt"/>
                <a:cs typeface="+mn-lt"/>
              </a:rPr>
              <a:t>préoccupations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i="1" dirty="0">
                <a:ea typeface="+mn-lt"/>
                <a:cs typeface="+mn-lt"/>
              </a:rPr>
              <a:t>Separation Of Concerns</a:t>
            </a:r>
            <a:r>
              <a:rPr lang="en-US" dirty="0">
                <a:ea typeface="+mn-lt"/>
                <a:cs typeface="+mn-lt"/>
              </a:rPr>
              <a:t>) </a:t>
            </a:r>
            <a:endParaRPr lang="en-US" b="1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 err="1">
                <a:ea typeface="+mn-lt"/>
                <a:cs typeface="+mn-lt"/>
              </a:rPr>
              <a:t>Chaque</a:t>
            </a:r>
            <a:r>
              <a:rPr lang="en-US" b="1" dirty="0">
                <a:ea typeface="+mn-lt"/>
                <a:cs typeface="+mn-lt"/>
              </a:rPr>
              <a:t> microservice </a:t>
            </a:r>
            <a:r>
              <a:rPr lang="en-US" b="1" dirty="0" err="1">
                <a:ea typeface="+mn-lt"/>
                <a:cs typeface="+mn-lt"/>
              </a:rPr>
              <a:t>est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responsable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ces</a:t>
            </a:r>
            <a:r>
              <a:rPr lang="en-US" b="1" dirty="0">
                <a:ea typeface="+mn-lt"/>
                <a:cs typeface="+mn-lt"/>
              </a:rPr>
              <a:t> données</a:t>
            </a:r>
          </a:p>
          <a:p>
            <a:r>
              <a:rPr lang="en-US" dirty="0">
                <a:ea typeface="+mn-lt"/>
                <a:cs typeface="+mn-lt"/>
              </a:rPr>
              <a:t>Comment </a:t>
            </a:r>
            <a:r>
              <a:rPr lang="en-US" dirty="0" err="1">
                <a:ea typeface="+mn-lt"/>
                <a:cs typeface="+mn-lt"/>
              </a:rPr>
              <a:t>découper</a:t>
            </a:r>
            <a:r>
              <a:rPr lang="en-US" dirty="0">
                <a:ea typeface="+mn-lt"/>
                <a:cs typeface="+mn-lt"/>
              </a:rPr>
              <a:t> 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Domain-Driven Design – DDD</a:t>
            </a:r>
            <a:endParaRPr lang="en-US" dirty="0"/>
          </a:p>
          <a:p>
            <a:pPr lvl="2"/>
            <a:r>
              <a:rPr lang="en-US" dirty="0">
                <a:ea typeface="+mn-lt"/>
                <a:cs typeface="+mn-lt"/>
              </a:rPr>
              <a:t>Ex: catalogue </a:t>
            </a:r>
            <a:r>
              <a:rPr lang="en-US" dirty="0" err="1">
                <a:ea typeface="+mn-lt"/>
                <a:cs typeface="+mn-lt"/>
              </a:rPr>
              <a:t>produits</a:t>
            </a:r>
            <a:r>
              <a:rPr lang="en-US" dirty="0">
                <a:ea typeface="+mn-lt"/>
                <a:cs typeface="+mn-lt"/>
              </a:rPr>
              <a:t>, gestion des </a:t>
            </a:r>
            <a:r>
              <a:rPr lang="en-US" dirty="0" err="1">
                <a:ea typeface="+mn-lt"/>
                <a:cs typeface="+mn-lt"/>
              </a:rPr>
              <a:t>commandes</a:t>
            </a:r>
            <a:r>
              <a:rPr lang="en-US" dirty="0">
                <a:ea typeface="+mn-lt"/>
                <a:cs typeface="+mn-lt"/>
              </a:rPr>
              <a:t>, gestion des clients</a:t>
            </a:r>
          </a:p>
          <a:p>
            <a:pPr lvl="2"/>
            <a:r>
              <a:rPr lang="en-US" dirty="0">
                <a:ea typeface="+mn-lt"/>
                <a:cs typeface="+mn-lt"/>
              </a:rPr>
              <a:t>Une base de données par microservice</a:t>
            </a:r>
          </a:p>
          <a:p>
            <a:pPr lvl="2"/>
            <a:r>
              <a:rPr lang="en-US" b="1" dirty="0">
                <a:ea typeface="+mn-lt"/>
                <a:cs typeface="+mn-lt"/>
              </a:rPr>
              <a:t>Bien </a:t>
            </a:r>
            <a:r>
              <a:rPr lang="en-US" b="1" err="1">
                <a:ea typeface="+mn-lt"/>
                <a:cs typeface="+mn-lt"/>
              </a:rPr>
              <a:t>déterminer</a:t>
            </a:r>
            <a:r>
              <a:rPr lang="en-US" b="1" dirty="0">
                <a:ea typeface="+mn-lt"/>
                <a:cs typeface="+mn-lt"/>
              </a:rPr>
              <a:t> les </a:t>
            </a:r>
            <a:r>
              <a:rPr lang="en-US" b="1" err="1">
                <a:ea typeface="+mn-lt"/>
                <a:cs typeface="+mn-lt"/>
              </a:rPr>
              <a:t>frontières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err="1">
                <a:ea typeface="+mn-lt"/>
                <a:cs typeface="+mn-lt"/>
              </a:rPr>
              <a:t>chaque</a:t>
            </a:r>
            <a:r>
              <a:rPr lang="en-US" b="1" dirty="0">
                <a:ea typeface="+mn-lt"/>
                <a:cs typeface="+mn-lt"/>
              </a:rPr>
              <a:t> microservice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n-lt"/>
                <a:cs typeface="+mn-lt"/>
              </a:rPr>
              <a:t>Avoir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une</a:t>
            </a:r>
            <a:r>
              <a:rPr lang="en-US" dirty="0">
                <a:ea typeface="+mn-lt"/>
                <a:cs typeface="+mn-lt"/>
              </a:rPr>
              <a:t> API Gateway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Identifier les liens </a:t>
            </a:r>
            <a:r>
              <a:rPr lang="en-US" dirty="0" err="1">
                <a:ea typeface="+mn-lt"/>
                <a:cs typeface="+mn-lt"/>
              </a:rPr>
              <a:t>nécessaires</a:t>
            </a:r>
            <a:r>
              <a:rPr lang="en-US" dirty="0">
                <a:ea typeface="+mn-lt"/>
                <a:cs typeface="+mn-lt"/>
              </a:rPr>
              <a:t> entre microservices</a:t>
            </a:r>
          </a:p>
        </p:txBody>
      </p:sp>
    </p:spTree>
    <p:extLst>
      <p:ext uri="{BB962C8B-B14F-4D97-AF65-F5344CB8AC3E}">
        <p14:creationId xmlns:p14="http://schemas.microsoft.com/office/powerpoint/2010/main" val="272694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C0C0-365C-6E1C-7F0C-FAA46CFA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Découpe</a:t>
            </a:r>
            <a:r>
              <a:rPr lang="en-US"/>
              <a:t> </a:t>
            </a:r>
            <a:r>
              <a:rPr lang="en-US" err="1"/>
              <a:t>d'une</a:t>
            </a:r>
            <a:r>
              <a:rPr lang="en-US"/>
              <a:t> application </a:t>
            </a:r>
            <a:r>
              <a:rPr lang="en-US" err="1"/>
              <a:t>en</a:t>
            </a:r>
            <a:r>
              <a:rPr lang="en-US"/>
              <a:t>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8641E-B9DB-8631-CE32-5D98FD34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Rectangle pour micro service</a:t>
            </a:r>
          </a:p>
          <a:p>
            <a:r>
              <a:rPr lang="en-US" err="1"/>
              <a:t>Cylindres</a:t>
            </a:r>
            <a:r>
              <a:rPr lang="en-US"/>
              <a:t> pour DB</a:t>
            </a:r>
          </a:p>
          <a:p>
            <a:r>
              <a:rPr lang="en-US"/>
              <a:t>Flèches pour lien entre services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Indiquer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communication </a:t>
            </a:r>
            <a:r>
              <a:rPr lang="en-US" err="1"/>
              <a:t>synchrone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asynchrone</a:t>
            </a:r>
          </a:p>
          <a:p>
            <a:endParaRPr lang="en-US"/>
          </a:p>
          <a:p>
            <a:r>
              <a:rPr lang="en-US"/>
              <a:t>Draw.io </a:t>
            </a:r>
            <a:r>
              <a:rPr lang="en-US" err="1"/>
              <a:t>est</a:t>
            </a:r>
            <a:r>
              <a:rPr lang="en-US"/>
              <a:t> parfait pour </a:t>
            </a:r>
            <a:r>
              <a:rPr lang="en-US" err="1"/>
              <a:t>cela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1200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05426-AE6E-8037-93FE-8D28082B3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Exemple</a:t>
            </a:r>
            <a:r>
              <a:rPr lang="en-US"/>
              <a:t> </a:t>
            </a:r>
            <a:r>
              <a:rPr lang="en-US" err="1"/>
              <a:t>découpe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0B7BEC8-AE2D-C764-D609-0C716A898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8837" y="1718059"/>
            <a:ext cx="8522996" cy="421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69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8EE1E-16A1-33F2-FE5F-5E89068C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6530E2-C040-100D-E9D5-0A29CDE8D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API Gateway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632BDC-D776-659D-68C3-8E3FCB3E2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2E5128B8-2A20-1088-C0E7-CBEA3709D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9499" y="578738"/>
            <a:ext cx="3274716" cy="327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71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1494A-92F9-A7AA-B8E7-B37BF04F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5BD754D-C33E-EE20-3362-BD8EEA1C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API Gateway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6313F3F-56B5-F4FA-26EC-6EDDFD515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nl-BE">
                <a:cs typeface="Calibri"/>
              </a:rPr>
              <a:t>Dépendances</a:t>
            </a:r>
            <a:endParaRPr lang="en-US"/>
          </a:p>
          <a:p>
            <a:pPr marL="742950" lvl="1" indent="-285750">
              <a:spcAft>
                <a:spcPts val="500"/>
              </a:spcAft>
              <a:buFont typeface="Courier New"/>
              <a:buChar char="o"/>
            </a:pPr>
            <a:r>
              <a:rPr lang="nl-BE">
                <a:cs typeface="Calibri"/>
              </a:rPr>
              <a:t>Developers Tools -&gt; Spring Boot </a:t>
            </a:r>
            <a:r>
              <a:rPr lang="nl-BE" err="1">
                <a:cs typeface="Calibri"/>
              </a:rPr>
              <a:t>Dev</a:t>
            </a:r>
            <a:r>
              <a:rPr lang="nl-BE">
                <a:cs typeface="Calibri"/>
              </a:rPr>
              <a:t> Tools</a:t>
            </a:r>
          </a:p>
          <a:p>
            <a:pPr marL="742950" lvl="1" indent="-285750">
              <a:spcAft>
                <a:spcPts val="500"/>
              </a:spcAft>
              <a:buFont typeface="Courier New"/>
              <a:buChar char="o"/>
            </a:pPr>
            <a:r>
              <a:rPr lang="nl-BE">
                <a:cs typeface="Calibri"/>
              </a:rPr>
              <a:t>Spring Cloud Routing -&gt; </a:t>
            </a:r>
            <a:r>
              <a:rPr lang="nl-BE" err="1">
                <a:cs typeface="Calibri"/>
              </a:rPr>
              <a:t>Reactive</a:t>
            </a:r>
            <a:r>
              <a:rPr lang="nl-BE">
                <a:cs typeface="Calibri"/>
              </a:rPr>
              <a:t> Gateway</a:t>
            </a:r>
            <a:endParaRPr lang="nl-BE"/>
          </a:p>
          <a:p>
            <a:pPr marL="742950" lvl="1" indent="-285750">
              <a:spcAft>
                <a:spcPts val="500"/>
              </a:spcAft>
              <a:buFont typeface="Courier New"/>
              <a:buChar char="o"/>
            </a:pPr>
            <a:r>
              <a:rPr lang="nl-BE">
                <a:cs typeface="Calibri"/>
              </a:rPr>
              <a:t>Web -&gt; Spring </a:t>
            </a:r>
            <a:r>
              <a:rPr lang="nl-BE" err="1">
                <a:cs typeface="Calibri"/>
              </a:rPr>
              <a:t>Reactive</a:t>
            </a:r>
            <a:r>
              <a:rPr lang="nl-BE">
                <a:cs typeface="Calibri"/>
              </a:rPr>
              <a:t> Web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nl-BE">
                <a:cs typeface="Calibri"/>
              </a:rPr>
              <a:t>Pas de @RestController 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nl-BE">
                <a:cs typeface="Calibri"/>
              </a:rPr>
              <a:t>Fichier </a:t>
            </a:r>
            <a:r>
              <a:rPr lang="nl-BE" err="1">
                <a:cs typeface="Calibri"/>
              </a:rPr>
              <a:t>application.yml</a:t>
            </a:r>
            <a:endParaRPr lang="nl-BE">
              <a:cs typeface="Calibri"/>
            </a:endParaRPr>
          </a:p>
          <a:p>
            <a:pPr marL="742950" lvl="1" indent="-285750">
              <a:spcAft>
                <a:spcPts val="500"/>
              </a:spcAft>
              <a:buFont typeface="Courier New"/>
              <a:buChar char="o"/>
            </a:pPr>
            <a:r>
              <a:rPr lang="nl-BE">
                <a:cs typeface="Calibri"/>
              </a:rPr>
              <a:t>Définition des routes </a:t>
            </a:r>
          </a:p>
          <a:p>
            <a:pPr marL="742950" lvl="1" indent="-285750">
              <a:spcAft>
                <a:spcPts val="500"/>
              </a:spcAft>
              <a:buFont typeface="Courier New"/>
              <a:buChar char="o"/>
            </a:pPr>
            <a:endParaRPr lang="nl-BE">
              <a:cs typeface="Calibri"/>
            </a:endParaRPr>
          </a:p>
          <a:p>
            <a:pPr marL="285750" indent="-285750">
              <a:spcAft>
                <a:spcPts val="500"/>
              </a:spcAft>
              <a:buFont typeface="Arial"/>
            </a:pPr>
            <a:endParaRPr lang="fr-FR">
              <a:cs typeface="Calibri"/>
            </a:endParaRP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2972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1A727-53CF-C4F6-D22A-A7FD77AB2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2813"/>
          </a:xfrm>
        </p:spPr>
        <p:txBody>
          <a:bodyPr/>
          <a:lstStyle/>
          <a:p>
            <a:r>
              <a:rPr lang="en-US"/>
              <a:t>API Gateway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01AB2-FA78-3559-C007-E9E574C7D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292"/>
            <a:ext cx="10515600" cy="5018088"/>
          </a:xfrm>
          <a:solidFill>
            <a:schemeClr val="tx1"/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CF8E6D"/>
                </a:solidFill>
                <a:latin typeface="Consolas"/>
              </a:rPr>
              <a:t>spring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</a:t>
            </a:r>
            <a:r>
              <a:rPr lang="en-US" sz="1800">
                <a:solidFill>
                  <a:srgbClr val="CF8E6D"/>
                </a:solidFill>
                <a:latin typeface="Consolas"/>
              </a:rPr>
              <a:t>application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  </a:t>
            </a:r>
            <a:r>
              <a:rPr lang="en-US" sz="1800">
                <a:solidFill>
                  <a:srgbClr val="CF8E6D"/>
                </a:solidFill>
                <a:latin typeface="Consolas"/>
              </a:rPr>
              <a:t>name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 pet-gateway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</a:t>
            </a:r>
            <a:r>
              <a:rPr lang="en-US" sz="1800">
                <a:solidFill>
                  <a:srgbClr val="CF8E6D"/>
                </a:solidFill>
                <a:latin typeface="Consolas"/>
              </a:rPr>
              <a:t>cloud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  </a:t>
            </a:r>
            <a:r>
              <a:rPr lang="en-US" sz="1800">
                <a:solidFill>
                  <a:srgbClr val="CF8E6D"/>
                </a:solidFill>
                <a:latin typeface="Consolas"/>
              </a:rPr>
              <a:t>gateway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    </a:t>
            </a:r>
            <a:r>
              <a:rPr lang="en-US" sz="1800">
                <a:solidFill>
                  <a:srgbClr val="CF8E6D"/>
                </a:solidFill>
                <a:latin typeface="Consolas"/>
              </a:rPr>
              <a:t>server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      </a:t>
            </a:r>
            <a:r>
              <a:rPr lang="en-US" sz="1800" err="1">
                <a:solidFill>
                  <a:srgbClr val="CF8E6D"/>
                </a:solidFill>
                <a:latin typeface="Consolas"/>
              </a:rPr>
              <a:t>webflux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        </a:t>
            </a:r>
            <a:r>
              <a:rPr lang="en-US" sz="1800">
                <a:solidFill>
                  <a:srgbClr val="CF8E6D"/>
                </a:solidFill>
                <a:latin typeface="Consolas"/>
              </a:rPr>
              <a:t>routes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          - </a:t>
            </a:r>
            <a:r>
              <a:rPr lang="en-US" sz="1800">
                <a:solidFill>
                  <a:srgbClr val="57AAF7"/>
                </a:solidFill>
                <a:latin typeface="Consolas"/>
              </a:rPr>
              <a:t>id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 pet-service-route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            </a:t>
            </a:r>
            <a:r>
              <a:rPr lang="en-US" sz="1800" err="1">
                <a:solidFill>
                  <a:srgbClr val="57AAF7"/>
                </a:solidFill>
                <a:latin typeface="Consolas"/>
              </a:rPr>
              <a:t>uri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 </a:t>
            </a:r>
            <a:r>
              <a:rPr lang="en-US" sz="1800">
                <a:solidFill>
                  <a:srgbClr val="BCBEC4"/>
                </a:solidFill>
                <a:latin typeface="Consolas"/>
                <a:hlinkClick r:id="rId2"/>
              </a:rPr>
              <a:t>http://localhost:8081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            </a:t>
            </a:r>
            <a:r>
              <a:rPr lang="en-US" sz="1800">
                <a:solidFill>
                  <a:srgbClr val="57AAF7"/>
                </a:solidFill>
                <a:latin typeface="Consolas"/>
              </a:rPr>
              <a:t>predicates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              - Path=/pets/**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          - </a:t>
            </a:r>
            <a:r>
              <a:rPr lang="en-US" sz="1800">
                <a:solidFill>
                  <a:srgbClr val="57AAF7"/>
                </a:solidFill>
                <a:latin typeface="Consolas"/>
              </a:rPr>
              <a:t>id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 mission-service-route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            </a:t>
            </a:r>
            <a:r>
              <a:rPr lang="en-US" sz="1800" err="1">
                <a:solidFill>
                  <a:srgbClr val="57AAF7"/>
                </a:solidFill>
                <a:latin typeface="Consolas"/>
              </a:rPr>
              <a:t>uri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 </a:t>
            </a:r>
            <a:r>
              <a:rPr lang="en-US" sz="1800">
                <a:solidFill>
                  <a:srgbClr val="BCBEC4"/>
                </a:solidFill>
                <a:latin typeface="Consolas"/>
                <a:hlinkClick r:id="rId3"/>
              </a:rPr>
              <a:t>http://localhost:8082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            </a:t>
            </a:r>
            <a:r>
              <a:rPr lang="en-US" sz="1800">
                <a:solidFill>
                  <a:srgbClr val="57AAF7"/>
                </a:solidFill>
                <a:latin typeface="Consolas"/>
              </a:rPr>
              <a:t>predicates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              - Path=/missions/**</a:t>
            </a:r>
            <a:br>
              <a:rPr lang="en-US" sz="1800" i="1">
                <a:latin typeface="Consolas"/>
              </a:rPr>
            </a:br>
            <a:r>
              <a:rPr lang="en-US" sz="1800" i="1">
                <a:solidFill>
                  <a:srgbClr val="5F826B"/>
                </a:solidFill>
                <a:latin typeface="Consolas"/>
              </a:rPr>
              <a:t>server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</a:t>
            </a:r>
            <a:br>
              <a:rPr lang="en-US" sz="1800">
                <a:latin typeface="Consolas"/>
              </a:rPr>
            </a:br>
            <a:r>
              <a:rPr lang="en-US" sz="1800">
                <a:solidFill>
                  <a:srgbClr val="BCBEC4"/>
                </a:solidFill>
                <a:latin typeface="Consolas"/>
              </a:rPr>
              <a:t>  </a:t>
            </a:r>
            <a:r>
              <a:rPr lang="en-US" sz="1800">
                <a:solidFill>
                  <a:srgbClr val="CF8E6D"/>
                </a:solidFill>
                <a:latin typeface="Consolas"/>
              </a:rPr>
              <a:t>port</a:t>
            </a:r>
            <a:r>
              <a:rPr lang="en-US" sz="1800">
                <a:solidFill>
                  <a:srgbClr val="BCBEC4"/>
                </a:solidFill>
                <a:latin typeface="Consolas"/>
              </a:rPr>
              <a:t>: </a:t>
            </a:r>
            <a:r>
              <a:rPr lang="en-US" sz="1800">
                <a:solidFill>
                  <a:srgbClr val="2AACB8"/>
                </a:solidFill>
                <a:latin typeface="Consolas"/>
              </a:rPr>
              <a:t>8080 </a:t>
            </a:r>
            <a:r>
              <a:rPr lang="en-US" sz="1800" i="1">
                <a:solidFill>
                  <a:srgbClr val="5F826B"/>
                </a:solidFill>
                <a:latin typeface="Consolas"/>
              </a:rPr>
              <a:t># Port par </a:t>
            </a:r>
            <a:r>
              <a:rPr lang="en-US" sz="1800" i="1" err="1">
                <a:solidFill>
                  <a:srgbClr val="5F826B"/>
                </a:solidFill>
                <a:latin typeface="Consolas"/>
              </a:rPr>
              <a:t>défaut</a:t>
            </a:r>
            <a:r>
              <a:rPr lang="en-US" sz="1800" i="1">
                <a:solidFill>
                  <a:srgbClr val="5F826B"/>
                </a:solidFill>
                <a:latin typeface="Consolas"/>
              </a:rPr>
              <a:t> pour </a:t>
            </a:r>
            <a:r>
              <a:rPr lang="en-US" sz="1800" i="1" err="1">
                <a:solidFill>
                  <a:srgbClr val="5F826B"/>
                </a:solidFill>
                <a:latin typeface="Consolas"/>
              </a:rPr>
              <a:t>l'API</a:t>
            </a:r>
            <a:r>
              <a:rPr lang="en-US" sz="1800" i="1">
                <a:solidFill>
                  <a:srgbClr val="5F826B"/>
                </a:solidFill>
                <a:latin typeface="Consolas"/>
              </a:rPr>
              <a:t> Gateway</a:t>
            </a:r>
            <a:endParaRPr lang="en-US" sz="18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8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403C-88AA-5A74-F008-B5B5C0D5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API Gateway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AD670-6D33-FE3B-7FBC-0D8524AA6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Possibilité</a:t>
            </a:r>
            <a:r>
              <a:rPr lang="en-US"/>
              <a:t> de </a:t>
            </a:r>
            <a:r>
              <a:rPr lang="en-US" err="1"/>
              <a:t>centraliser</a:t>
            </a:r>
            <a:r>
              <a:rPr lang="en-US"/>
              <a:t> </a:t>
            </a:r>
            <a:r>
              <a:rPr lang="en-US" err="1"/>
              <a:t>l'authentification</a:t>
            </a:r>
            <a:endParaRPr lang="en-US"/>
          </a:p>
          <a:p>
            <a:r>
              <a:rPr lang="en-US" err="1"/>
              <a:t>Possibilité</a:t>
            </a:r>
            <a:r>
              <a:rPr lang="en-US"/>
              <a:t> </a:t>
            </a:r>
            <a:r>
              <a:rPr lang="en-US" err="1"/>
              <a:t>d'ajouter</a:t>
            </a:r>
            <a:r>
              <a:rPr lang="en-US"/>
              <a:t> des </a:t>
            </a:r>
            <a:r>
              <a:rPr lang="en-US" err="1"/>
              <a:t>filtres</a:t>
            </a:r>
            <a:r>
              <a:rPr lang="en-US"/>
              <a:t> 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/>
              <a:t>Limiter le </a:t>
            </a:r>
            <a:r>
              <a:rPr lang="en-US" err="1"/>
              <a:t>nombre</a:t>
            </a:r>
            <a:r>
              <a:rPr lang="en-US"/>
              <a:t> </a:t>
            </a:r>
            <a:r>
              <a:rPr lang="en-US" err="1"/>
              <a:t>d'accès</a:t>
            </a:r>
            <a:r>
              <a:rPr lang="en-US"/>
              <a:t> (rate limit)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/>
              <a:t>Faire du logging </a:t>
            </a:r>
            <a:r>
              <a:rPr lang="en-US" err="1"/>
              <a:t>centralisé</a:t>
            </a:r>
          </a:p>
          <a:p>
            <a:pPr marL="40005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1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602BB-5149-899A-7F7B-EA80F7CEC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F62AEA-958A-F8A7-DB14-89C1FB2FE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Liens entre services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EC885F-6020-EA47-2800-799141D63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A26EB115-7C77-FE78-3867-97A2CD529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9499" y="578738"/>
            <a:ext cx="3274716" cy="327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59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96406-ECB4-C3AB-F357-56DB11BCA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BAAA9BA-F08E-FD7D-5EF3-ADF134729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Liens entre services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5BF80BA-0C9D-02C5-0A44-17B8F6FBD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nl-BE">
                <a:cs typeface="Calibri"/>
              </a:rPr>
              <a:t>Communication synchrone</a:t>
            </a:r>
            <a:endParaRPr lang="en-US"/>
          </a:p>
          <a:p>
            <a:pPr marL="742950" lvl="1" indent="-285750">
              <a:spcAft>
                <a:spcPts val="500"/>
              </a:spcAft>
              <a:buFont typeface="Arial"/>
              <a:buChar char="•"/>
            </a:pPr>
            <a:r>
              <a:rPr lang="nl-BE">
                <a:cs typeface="Calibri"/>
              </a:rPr>
              <a:t>REST</a:t>
            </a:r>
          </a:p>
          <a:p>
            <a:pPr marL="1200150" lvl="2" indent="-342900">
              <a:spcAft>
                <a:spcPts val="500"/>
              </a:spcAft>
              <a:buFont typeface="Arial"/>
              <a:buChar char="•"/>
            </a:pPr>
            <a:r>
              <a:rPr lang="nl-BE">
                <a:cs typeface="Calibri"/>
              </a:rPr>
              <a:t>Client HTTP</a:t>
            </a:r>
          </a:p>
          <a:p>
            <a:pPr marL="742950" lvl="1" indent="-285750">
              <a:spcAft>
                <a:spcPts val="500"/>
              </a:spcAft>
              <a:buFont typeface="Arial"/>
              <a:buChar char="•"/>
            </a:pPr>
            <a:r>
              <a:rPr lang="nl-BE" err="1">
                <a:cs typeface="Calibri"/>
              </a:rPr>
              <a:t>gRPC</a:t>
            </a:r>
            <a:endParaRPr lang="nl-BE">
              <a:cs typeface="Calibri"/>
            </a:endParaRPr>
          </a:p>
          <a:p>
            <a:pPr marL="1314450" lvl="2" indent="-342900">
              <a:spcAft>
                <a:spcPts val="500"/>
              </a:spcAft>
            </a:pPr>
            <a:r>
              <a:rPr lang="nl-BE">
                <a:cs typeface="Calibri"/>
              </a:rPr>
              <a:t>Remote Procedure Call</a:t>
            </a:r>
          </a:p>
          <a:p>
            <a:pPr marL="1314450" lvl="2" indent="-342900">
              <a:spcAft>
                <a:spcPts val="500"/>
              </a:spcAft>
            </a:pPr>
            <a:r>
              <a:rPr lang="nl-BE">
                <a:cs typeface="Calibri"/>
              </a:rPr>
              <a:t>Plus </a:t>
            </a:r>
            <a:r>
              <a:rPr lang="nl-BE" err="1">
                <a:cs typeface="Calibri"/>
              </a:rPr>
              <a:t>rapide</a:t>
            </a:r>
            <a:r>
              <a:rPr lang="nl-BE">
                <a:cs typeface="Calibri"/>
              </a:rPr>
              <a:t> et plus </a:t>
            </a:r>
            <a:r>
              <a:rPr lang="nl-BE" err="1">
                <a:cs typeface="Calibri"/>
              </a:rPr>
              <a:t>efficace</a:t>
            </a:r>
            <a:r>
              <a:rPr lang="nl-BE">
                <a:cs typeface="Calibri"/>
              </a:rPr>
              <a:t> que Rest </a:t>
            </a:r>
          </a:p>
          <a:p>
            <a:pPr marL="400050">
              <a:spcAft>
                <a:spcPts val="500"/>
              </a:spcAft>
            </a:pPr>
            <a:r>
              <a:rPr lang="nl-BE">
                <a:cs typeface="Calibri"/>
              </a:rPr>
              <a:t>Communication asynchrone (on </a:t>
            </a:r>
            <a:r>
              <a:rPr lang="nl-BE" err="1">
                <a:cs typeface="Calibri"/>
              </a:rPr>
              <a:t>verra</a:t>
            </a:r>
            <a:r>
              <a:rPr lang="nl-BE">
                <a:cs typeface="Calibri"/>
              </a:rPr>
              <a:t> plus </a:t>
            </a:r>
            <a:r>
              <a:rPr lang="nl-BE" err="1">
                <a:cs typeface="Calibri"/>
              </a:rPr>
              <a:t>tard</a:t>
            </a:r>
            <a:r>
              <a:rPr lang="nl-BE">
                <a:cs typeface="Calibri"/>
              </a:rPr>
              <a:t>)</a:t>
            </a:r>
          </a:p>
          <a:p>
            <a:pPr marL="857250" lvl="1" indent="-285750">
              <a:spcAft>
                <a:spcPts val="500"/>
              </a:spcAft>
            </a:pPr>
            <a:r>
              <a:rPr lang="nl-BE">
                <a:cs typeface="Calibri"/>
              </a:rPr>
              <a:t>Message queue</a:t>
            </a:r>
          </a:p>
          <a:p>
            <a:pPr marL="857250" lvl="1" indent="-285750">
              <a:spcAft>
                <a:spcPts val="500"/>
              </a:spcAft>
            </a:pPr>
            <a:r>
              <a:rPr lang="nl-BE" err="1">
                <a:cs typeface="Calibri"/>
              </a:rPr>
              <a:t>Evénements</a:t>
            </a:r>
          </a:p>
          <a:p>
            <a:pPr marL="1314450" lvl="2" indent="-342900">
              <a:spcAft>
                <a:spcPts val="500"/>
              </a:spcAft>
            </a:pPr>
            <a:endParaRPr lang="nl-BE">
              <a:cs typeface="Calibri"/>
            </a:endParaRPr>
          </a:p>
          <a:p>
            <a:endParaRPr lang="nl-BE">
              <a:cs typeface="Calibri"/>
            </a:endParaRPr>
          </a:p>
          <a:p>
            <a:endParaRPr lang="fr-FR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5144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78522-2EE4-A215-6A1B-27B4BC0E7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Liens entre services - DTO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9D5E7-CE51-0E40-1901-21714E379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Utilisation</a:t>
            </a:r>
            <a:r>
              <a:rPr lang="en-US"/>
              <a:t> de DTO pour </a:t>
            </a:r>
            <a:r>
              <a:rPr lang="en-US" err="1"/>
              <a:t>l'échange</a:t>
            </a:r>
            <a:r>
              <a:rPr lang="en-US"/>
              <a:t> </a:t>
            </a:r>
            <a:r>
              <a:rPr lang="en-US" err="1"/>
              <a:t>d'information</a:t>
            </a:r>
            <a:r>
              <a:rPr lang="en-US"/>
              <a:t> entre microservices !</a:t>
            </a:r>
          </a:p>
          <a:p>
            <a:r>
              <a:rPr lang="en-US"/>
              <a:t>Comment ?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/>
              <a:t>Un </a:t>
            </a:r>
            <a:r>
              <a:rPr lang="en-US" err="1"/>
              <a:t>projet</a:t>
            </a:r>
            <a:r>
              <a:rPr lang="en-US"/>
              <a:t> Shared-DTO </a:t>
            </a:r>
          </a:p>
          <a:p>
            <a:pPr lvl="2" indent="-285750"/>
            <a:r>
              <a:rPr lang="en-US" err="1"/>
              <a:t>Création</a:t>
            </a:r>
            <a:r>
              <a:rPr lang="en-US"/>
              <a:t> d'un module avec le generator maven archetype (archetype </a:t>
            </a:r>
            <a:r>
              <a:rPr lang="en-US" err="1"/>
              <a:t>quickstart</a:t>
            </a:r>
            <a:r>
              <a:rPr lang="en-US"/>
              <a:t>) 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err="1"/>
              <a:t>Définir</a:t>
            </a:r>
            <a:r>
              <a:rPr lang="en-US"/>
              <a:t> les DTO</a:t>
            </a:r>
          </a:p>
          <a:p>
            <a:pPr lvl="2" indent="-342900">
              <a:buFont typeface="Arial"/>
              <a:buChar char="•"/>
            </a:pPr>
            <a:r>
              <a:rPr lang="en-US" err="1"/>
              <a:t>Utilisation</a:t>
            </a:r>
            <a:r>
              <a:rPr lang="en-US"/>
              <a:t> de Lombok pour setter/getter</a:t>
            </a:r>
          </a:p>
        </p:txBody>
      </p:sp>
    </p:spTree>
    <p:extLst>
      <p:ext uri="{BB962C8B-B14F-4D97-AF65-F5344CB8AC3E}">
        <p14:creationId xmlns:p14="http://schemas.microsoft.com/office/powerpoint/2010/main" val="3691726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30F8A-CDEC-4ABE-E99B-D610F418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B5877A-8888-867D-AD75-2DB476F76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err="1"/>
              <a:t>IntelliJ</a:t>
            </a:r>
            <a:r>
              <a:rPr lang="fr-FR"/>
              <a:t> et </a:t>
            </a:r>
            <a:r>
              <a:rPr lang="fr-FR" err="1"/>
              <a:t>microservices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9805E3-EAEB-FC8A-8ACC-119859122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Création d'un projet </a:t>
            </a:r>
            <a:r>
              <a:rPr lang="fr-FR" err="1"/>
              <a:t>microservices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5C4AED77-7AA2-C811-9AFB-EF41499E0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9499" y="578738"/>
            <a:ext cx="3274716" cy="327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6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2DF011F-B177-E106-0292-C472A521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Configuration </a:t>
            </a:r>
            <a:r>
              <a:rPr lang="fr-BE" err="1"/>
              <a:t>IntelliJ</a:t>
            </a:r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2AF9C2D-251B-0E12-A701-33586DC82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nl-BE" sz="2800">
                <a:cs typeface="Calibri"/>
              </a:rPr>
              <a:t>Créer un Empty Project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nl-BE" sz="2800">
                <a:cs typeface="Calibri"/>
              </a:rPr>
              <a:t>Créer un module par service</a:t>
            </a:r>
          </a:p>
          <a:p>
            <a:endParaRPr lang="fr-FR"/>
          </a:p>
          <a:p>
            <a:r>
              <a:rPr lang="nl-BE" sz="2800">
                <a:cs typeface="Calibri"/>
              </a:rPr>
              <a:t>Activer le mode services via la notification </a:t>
            </a:r>
            <a:r>
              <a:rPr lang="nl-BE" sz="2800" b="1">
                <a:cs typeface="Calibri"/>
              </a:rPr>
              <a:t>Use services</a:t>
            </a:r>
            <a:endParaRPr lang="nl-BE" sz="2800">
              <a:cs typeface="Calibri"/>
            </a:endParaRPr>
          </a:p>
          <a:p>
            <a:pPr lvl="1"/>
            <a:r>
              <a:rPr lang="nl-BE">
                <a:cs typeface="Calibri"/>
              </a:rPr>
              <a:t>Dans l’onglet </a:t>
            </a:r>
            <a:r>
              <a:rPr lang="nl-BE" b="1">
                <a:cs typeface="Calibri"/>
              </a:rPr>
              <a:t>Services</a:t>
            </a:r>
            <a:r>
              <a:rPr lang="nl-BE">
                <a:cs typeface="Calibri"/>
              </a:rPr>
              <a:t> (en bas à gauche), vous pourrez lancer tous les services en même temps</a:t>
            </a:r>
          </a:p>
          <a:p>
            <a:pPr lvl="1"/>
            <a:endParaRPr lang="nl-BE">
              <a:cs typeface="Calibri"/>
            </a:endParaRPr>
          </a:p>
          <a:p>
            <a:r>
              <a:rPr lang="fr-FR" sz="2800">
                <a:cs typeface="Calibri"/>
              </a:rPr>
              <a:t>Récupérer un service existant</a:t>
            </a:r>
          </a:p>
          <a:p>
            <a:pPr lvl="1"/>
            <a:r>
              <a:rPr lang="fr-FR">
                <a:cs typeface="Calibri"/>
              </a:rPr>
              <a:t>Copier les fichiers dans un nouveau module</a:t>
            </a:r>
          </a:p>
          <a:p>
            <a:endParaRPr lang="nl-BE">
              <a:cs typeface="Calibri"/>
            </a:endParaRP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7605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5821DA2-107E-1006-EE30-3BFB70BB4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/>
              <a:t>Spring </a:t>
            </a:r>
            <a:r>
              <a:rPr lang="fr-FR" sz="4000" err="1"/>
              <a:t>Initializr</a:t>
            </a:r>
            <a:endParaRPr lang="fr-FR" sz="400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F10F095-2531-E0BF-519B-10F021889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sz="2400">
                <a:hlinkClick r:id="rId2"/>
              </a:rPr>
              <a:t>https://start.spring.io</a:t>
            </a:r>
            <a:endParaRPr lang="fr-FR" sz="2400"/>
          </a:p>
          <a:p>
            <a:endParaRPr lang="fr-FR" sz="2400"/>
          </a:p>
          <a:p>
            <a:pPr marL="0" indent="0">
              <a:buNone/>
            </a:pPr>
            <a:r>
              <a:rPr lang="fr-BE" sz="2400"/>
              <a:t>Ou via </a:t>
            </a:r>
            <a:r>
              <a:rPr lang="fr-BE" sz="2400" err="1"/>
              <a:t>IntelliJ</a:t>
            </a:r>
            <a:r>
              <a:rPr lang="fr-BE" sz="2400"/>
              <a:t> : </a:t>
            </a:r>
          </a:p>
          <a:p>
            <a:r>
              <a:rPr lang="fr-BE" sz="2400"/>
              <a:t>New </a:t>
            </a:r>
            <a:r>
              <a:rPr lang="fr-BE" sz="2400" err="1"/>
              <a:t>project</a:t>
            </a:r>
            <a:r>
              <a:rPr lang="fr-BE" sz="2400"/>
              <a:t> </a:t>
            </a:r>
            <a:r>
              <a:rPr lang="fr-BE" sz="2400">
                <a:sym typeface="Wingdings" pitchFamily="2" charset="2"/>
              </a:rPr>
              <a:t>-&gt; Spring boot</a:t>
            </a:r>
            <a:endParaRPr lang="fr-BE" sz="2400"/>
          </a:p>
          <a:p>
            <a:endParaRPr lang="fr-FR" sz="2400"/>
          </a:p>
        </p:txBody>
      </p:sp>
      <p:pic>
        <p:nvPicPr>
          <p:cNvPr id="19" name="Image 18" descr="Une image contenant texte, logiciel, Logiciel multimédia, Icône d’ordinateur&#10;&#10;Description générée automatiquement">
            <a:extLst>
              <a:ext uri="{FF2B5EF4-FFF2-40B4-BE49-F238E27FC236}">
                <a16:creationId xmlns:a16="http://schemas.microsoft.com/office/drawing/2014/main" id="{36ABF5BE-0C6C-3971-0070-8B6255A1B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830726"/>
            <a:ext cx="7772400" cy="519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469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12FA9-E356-038A-75E2-B5815FCE5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79C8960-96E2-BEE0-5641-9E94DF5D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/>
              <a:t>Spring </a:t>
            </a:r>
            <a:r>
              <a:rPr lang="fr-FR" sz="4000" err="1"/>
              <a:t>Initializr</a:t>
            </a:r>
            <a:endParaRPr lang="fr-FR" sz="400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E9BA53C-A73A-C702-05FA-EDF612D65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sz="2400">
                <a:hlinkClick r:id="rId2"/>
              </a:rPr>
              <a:t>https://start.spring.io</a:t>
            </a:r>
            <a:endParaRPr lang="fr-FR" sz="2400"/>
          </a:p>
          <a:p>
            <a:endParaRPr lang="fr-FR" sz="2400"/>
          </a:p>
          <a:p>
            <a:pPr marL="0" indent="0">
              <a:buNone/>
            </a:pPr>
            <a:r>
              <a:rPr lang="fr-BE" sz="2400"/>
              <a:t>Ou via </a:t>
            </a:r>
            <a:r>
              <a:rPr lang="fr-BE" sz="2400" err="1"/>
              <a:t>IntelliJ</a:t>
            </a:r>
            <a:r>
              <a:rPr lang="fr-BE" sz="2400"/>
              <a:t> : </a:t>
            </a:r>
          </a:p>
          <a:p>
            <a:r>
              <a:rPr lang="fr-BE" sz="2400"/>
              <a:t>New </a:t>
            </a:r>
            <a:r>
              <a:rPr lang="fr-BE" sz="2400" err="1"/>
              <a:t>project</a:t>
            </a:r>
            <a:r>
              <a:rPr lang="fr-BE" sz="2400"/>
              <a:t> </a:t>
            </a:r>
            <a:r>
              <a:rPr lang="fr-BE" sz="2400">
                <a:sym typeface="Wingdings" pitchFamily="2" charset="2"/>
              </a:rPr>
              <a:t>-&gt; Spring boot</a:t>
            </a:r>
            <a:endParaRPr lang="fr-BE" sz="2400"/>
          </a:p>
          <a:p>
            <a:endParaRPr lang="fr-FR" sz="240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7D71EBF6-B5F7-A0F3-2A79-FB9BEA5A45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7413" y="830726"/>
            <a:ext cx="6176774" cy="519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38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6F6189-8896-ED53-0F32-0E3C6AE72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Dépendances utilisées - service classique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F5813F-B37F-5476-D996-1CF208765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BE"/>
              <a:t>Spring Dev Tools</a:t>
            </a:r>
          </a:p>
          <a:p>
            <a:r>
              <a:rPr lang="fr-BE"/>
              <a:t>Lombok</a:t>
            </a:r>
          </a:p>
          <a:p>
            <a:r>
              <a:rPr lang="fr-BE"/>
              <a:t>Spring Web</a:t>
            </a:r>
          </a:p>
          <a:p>
            <a:r>
              <a:rPr lang="fr-BE"/>
              <a:t>Spring Data JPA</a:t>
            </a:r>
          </a:p>
          <a:p>
            <a:pPr lvl="1"/>
            <a:r>
              <a:rPr lang="fr-BE"/>
              <a:t>Object-</a:t>
            </a:r>
            <a:r>
              <a:rPr lang="fr-BE" err="1"/>
              <a:t>Relational</a:t>
            </a:r>
            <a:r>
              <a:rPr lang="fr-BE"/>
              <a:t> Mapping</a:t>
            </a:r>
          </a:p>
          <a:p>
            <a:pPr lvl="1"/>
            <a:r>
              <a:rPr lang="fr-BE"/>
              <a:t>Création de repository simples</a:t>
            </a:r>
          </a:p>
          <a:p>
            <a:r>
              <a:rPr lang="fr-BE"/>
              <a:t>H2 </a:t>
            </a:r>
            <a:r>
              <a:rPr lang="fr-BE" err="1"/>
              <a:t>Database</a:t>
            </a:r>
            <a:endParaRPr lang="fr-BE"/>
          </a:p>
          <a:p>
            <a:pPr lvl="1"/>
            <a:r>
              <a:rPr lang="fr-BE"/>
              <a:t>Moteur SQL</a:t>
            </a:r>
          </a:p>
          <a:p>
            <a:pPr lvl="1"/>
            <a:r>
              <a:rPr lang="fr-BE"/>
              <a:t>Serveur ou « in-memory »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9938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A3177-3D57-0764-487B-81333C75B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0FF285-6511-9AB9-2470-16BE6A23C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Dépendances utilisées - service </a:t>
            </a:r>
            <a:r>
              <a:rPr lang="fr-BE" err="1"/>
              <a:t>gateway</a:t>
            </a:r>
            <a:endParaRPr lang="fr-FR" err="1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38B193-FD39-F413-F561-CE5A09212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BE"/>
              <a:t>Spring Dev Tools</a:t>
            </a:r>
          </a:p>
          <a:p>
            <a:r>
              <a:rPr lang="fr-BE"/>
              <a:t>Spring Web</a:t>
            </a:r>
          </a:p>
          <a:p>
            <a:r>
              <a:rPr lang="fr-BE"/>
              <a:t>Spring </a:t>
            </a:r>
            <a:r>
              <a:rPr lang="fr-BE" err="1"/>
              <a:t>Reactive</a:t>
            </a:r>
            <a:r>
              <a:rPr lang="fr-BE"/>
              <a:t> Gateway</a:t>
            </a:r>
          </a:p>
          <a:p>
            <a:r>
              <a:rPr lang="fr-BE"/>
              <a:t>Utilisation de filtres sur les routes</a:t>
            </a:r>
          </a:p>
          <a:p>
            <a:pPr lvl="1"/>
            <a:r>
              <a:rPr lang="fr-BE" err="1"/>
              <a:t>Reactive</a:t>
            </a:r>
            <a:r>
              <a:rPr lang="fr-BE"/>
              <a:t> Redis</a:t>
            </a:r>
          </a:p>
          <a:p>
            <a:pPr lvl="1"/>
            <a:r>
              <a:rPr lang="fr-BE"/>
              <a:t>Spring Configuration Processor </a:t>
            </a:r>
          </a:p>
          <a:p>
            <a:endParaRPr lang="fr-BE"/>
          </a:p>
          <a:p>
            <a:pPr marL="0" indent="0">
              <a:buNone/>
            </a:pPr>
            <a:endParaRPr lang="fr-BE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4290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12679CD-365F-EFE2-8A3C-099FFE9A9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Architecture </a:t>
            </a:r>
            <a:r>
              <a:rPr lang="fr-BE" err="1"/>
              <a:t>microservice</a:t>
            </a:r>
            <a:r>
              <a:rPr lang="fr-BE"/>
              <a:t> classique</a:t>
            </a:r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8EB591B-2948-0D32-ACE6-EF86271B6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fr-BE">
                <a:ea typeface="+mn-lt"/>
                <a:cs typeface="+mn-lt"/>
              </a:rPr>
              <a:t>Couche </a:t>
            </a:r>
            <a:r>
              <a:rPr lang="fr-BE" b="1">
                <a:ea typeface="+mn-lt"/>
                <a:cs typeface="+mn-lt"/>
              </a:rPr>
              <a:t>model </a:t>
            </a:r>
            <a:r>
              <a:rPr lang="fr-BE">
                <a:ea typeface="+mn-lt"/>
                <a:cs typeface="+mn-lt"/>
              </a:rPr>
              <a:t>: définition des données</a:t>
            </a:r>
            <a:endParaRPr lang="fr-BE" b="1">
              <a:ea typeface="+mn-lt"/>
              <a:cs typeface="+mn-lt"/>
            </a:endParaRPr>
          </a:p>
          <a:p>
            <a:pPr marL="457200" indent="-457200"/>
            <a:r>
              <a:rPr lang="fr-BE">
                <a:ea typeface="+mn-lt"/>
                <a:cs typeface="+mn-lt"/>
              </a:rPr>
              <a:t>Couche </a:t>
            </a:r>
            <a:r>
              <a:rPr lang="fr-BE" b="1">
                <a:ea typeface="+mn-lt"/>
                <a:cs typeface="+mn-lt"/>
              </a:rPr>
              <a:t>data </a:t>
            </a:r>
            <a:r>
              <a:rPr lang="fr-BE">
                <a:ea typeface="+mn-lt"/>
                <a:cs typeface="+mn-lt"/>
              </a:rPr>
              <a:t>: accès aux données</a:t>
            </a:r>
          </a:p>
          <a:p>
            <a:pPr marL="914400" lvl="1" indent="-457200"/>
            <a:r>
              <a:rPr lang="fr-BE">
                <a:ea typeface="+mn-lt"/>
                <a:cs typeface="+mn-lt"/>
              </a:rPr>
              <a:t>Repository ou Proxy</a:t>
            </a:r>
          </a:p>
          <a:p>
            <a:pPr marL="457200" indent="-457200"/>
            <a:r>
              <a:rPr lang="fr-BE">
                <a:ea typeface="+mn-lt"/>
                <a:cs typeface="+mn-lt"/>
              </a:rPr>
              <a:t>Couche </a:t>
            </a:r>
            <a:r>
              <a:rPr lang="fr-BE" b="1">
                <a:ea typeface="+mn-lt"/>
                <a:cs typeface="+mn-lt"/>
              </a:rPr>
              <a:t>service</a:t>
            </a:r>
            <a:r>
              <a:rPr lang="fr-BE">
                <a:ea typeface="+mn-lt"/>
                <a:cs typeface="+mn-lt"/>
              </a:rPr>
              <a:t> : logique business</a:t>
            </a:r>
          </a:p>
          <a:p>
            <a:pPr marL="457200" indent="-457200"/>
            <a:r>
              <a:rPr lang="fr-BE">
                <a:ea typeface="+mn-lt"/>
                <a:cs typeface="+mn-lt"/>
              </a:rPr>
              <a:t>Couche </a:t>
            </a:r>
            <a:r>
              <a:rPr lang="fr-BE" b="1" err="1">
                <a:ea typeface="+mn-lt"/>
                <a:cs typeface="+mn-lt"/>
              </a:rPr>
              <a:t>controller</a:t>
            </a:r>
            <a:r>
              <a:rPr lang="fr-BE">
                <a:ea typeface="+mn-lt"/>
                <a:cs typeface="+mn-lt"/>
              </a:rPr>
              <a:t> : </a:t>
            </a:r>
            <a:r>
              <a:rPr lang="fr-BE" err="1">
                <a:ea typeface="+mn-lt"/>
                <a:cs typeface="+mn-lt"/>
              </a:rPr>
              <a:t>endpoints</a:t>
            </a:r>
            <a:r>
              <a:rPr lang="fr-BE">
                <a:ea typeface="+mn-lt"/>
                <a:cs typeface="+mn-lt"/>
              </a:rPr>
              <a:t> du service</a:t>
            </a:r>
          </a:p>
          <a:p>
            <a:pPr marL="914400" lvl="1" indent="-457200"/>
            <a:endParaRPr lang="fr-BE">
              <a:ea typeface="+mn-lt"/>
              <a:cs typeface="+mn-lt"/>
            </a:endParaRPr>
          </a:p>
          <a:p>
            <a:pPr marL="457200" indent="-457200"/>
            <a:r>
              <a:rPr lang="fr-BE">
                <a:ea typeface="+mn-lt"/>
                <a:cs typeface="+mn-lt"/>
              </a:rPr>
              <a:t>Micro-services : Principe de responsabilité unique</a:t>
            </a:r>
          </a:p>
          <a:p>
            <a:pPr marL="457200" indent="-457200"/>
            <a:r>
              <a:rPr lang="fr-BE">
                <a:ea typeface="+mn-lt"/>
                <a:cs typeface="+mn-lt"/>
              </a:rPr>
              <a:t>Peu de fichiers </a:t>
            </a:r>
            <a:r>
              <a:rPr lang="fr-BE">
                <a:ea typeface="+mn-lt"/>
                <a:cs typeface="+mn-lt"/>
                <a:sym typeface="Wingdings" pitchFamily="2" charset="2"/>
              </a:rPr>
              <a:t>-&gt; dossiers inutiles</a:t>
            </a:r>
            <a:endParaRPr lang="fr-BE">
              <a:ea typeface="+mn-lt"/>
              <a:cs typeface="+mn-lt"/>
            </a:endParaRPr>
          </a:p>
          <a:p>
            <a:endParaRPr lang="fr-FR"/>
          </a:p>
        </p:txBody>
      </p:sp>
      <p:pic>
        <p:nvPicPr>
          <p:cNvPr id="7" name="Image 6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D8C1913D-9445-9F30-F098-B4678FF7B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800" y="2444750"/>
            <a:ext cx="27940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694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5B94BEC-D10B-E6A9-7CBF-9533FFDE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Properties</a:t>
            </a:r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6C3CC6C-042D-4BFC-5B84-BB4B5DEFC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fr-FR" sz="2800">
                <a:cs typeface="Calibri"/>
              </a:rPr>
              <a:t>Fichier </a:t>
            </a:r>
            <a:r>
              <a:rPr lang="fr-FR" sz="2800" b="1" err="1">
                <a:cs typeface="Calibri"/>
              </a:rPr>
              <a:t>application.properties</a:t>
            </a:r>
            <a:r>
              <a:rPr lang="fr-FR" sz="2800" b="1">
                <a:cs typeface="Calibri"/>
              </a:rPr>
              <a:t> </a:t>
            </a:r>
            <a:r>
              <a:rPr lang="fr-FR" sz="2800">
                <a:cs typeface="Calibri"/>
              </a:rPr>
              <a:t>dans le dossier </a:t>
            </a:r>
            <a:r>
              <a:rPr lang="fr-FR" sz="2800" b="1" err="1">
                <a:cs typeface="Calibri"/>
              </a:rPr>
              <a:t>resources</a:t>
            </a:r>
            <a:endParaRPr lang="fr-FR" sz="2800" b="1">
              <a:cs typeface="Calibri"/>
            </a:endParaRP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fr-FR" sz="2800">
                <a:cs typeface="Calibri"/>
              </a:rPr>
              <a:t>Informations de l'application (nom, url, port, …)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fr-FR" sz="2800">
                <a:cs typeface="Calibri"/>
              </a:rPr>
              <a:t>Configuration des dépendances (e.g. H2)</a:t>
            </a:r>
          </a:p>
          <a:p>
            <a:endParaRPr lang="fr-FR"/>
          </a:p>
        </p:txBody>
      </p:sp>
      <p:pic>
        <p:nvPicPr>
          <p:cNvPr id="7" name="Image 6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083BE460-9370-1EA8-751C-AF7DB8F1C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51181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20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5591-4317-DE2B-6E5C-EFC0AF16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448313" cy="1453662"/>
          </a:xfrm>
        </p:spPr>
        <p:txBody>
          <a:bodyPr/>
          <a:lstStyle/>
          <a:p>
            <a:r>
              <a:rPr lang="en-US" sz="4400" dirty="0" err="1"/>
              <a:t>Création</a:t>
            </a:r>
            <a:r>
              <a:rPr lang="en-US" sz="4400" dirty="0"/>
              <a:t> micro-service Node.js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8E562-A7FF-6433-4767-F9C8B50EF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10448313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2400" err="1">
                <a:latin typeface="Consolas"/>
              </a:rPr>
              <a:t>mkdir</a:t>
            </a:r>
            <a:r>
              <a:rPr lang="en-US" sz="2400">
                <a:latin typeface="Consolas"/>
              </a:rPr>
              <a:t> animal-client</a:t>
            </a:r>
            <a:endParaRPr lang="en-US" sz="2400">
              <a:latin typeface="Aptos" panose="02110004020202020204"/>
            </a:endParaRPr>
          </a:p>
          <a:p>
            <a:pPr marL="285750" indent="-285750">
              <a:buChar char="•"/>
            </a:pPr>
            <a:r>
              <a:rPr lang="en-US" sz="2400">
                <a:latin typeface="Consolas"/>
              </a:rPr>
              <a:t>cd animal-client</a:t>
            </a:r>
            <a:endParaRPr lang="en-US" sz="2400">
              <a:latin typeface="Aptos"/>
            </a:endParaRPr>
          </a:p>
          <a:p>
            <a:pPr marL="285750" indent="-285750">
              <a:buChar char="•"/>
            </a:pPr>
            <a:r>
              <a:rPr lang="en-US" sz="2400" err="1">
                <a:latin typeface="Consolas"/>
              </a:rPr>
              <a:t>npm</a:t>
            </a:r>
            <a:r>
              <a:rPr lang="en-US" sz="2400">
                <a:latin typeface="Consolas"/>
              </a:rPr>
              <a:t> </a:t>
            </a:r>
            <a:r>
              <a:rPr lang="en-US" sz="2400" err="1">
                <a:latin typeface="Consolas"/>
              </a:rPr>
              <a:t>init</a:t>
            </a:r>
            <a:r>
              <a:rPr lang="en-US" sz="2400">
                <a:latin typeface="Consolas"/>
              </a:rPr>
              <a:t> –y</a:t>
            </a:r>
            <a:endParaRPr lang="en-US" sz="2400">
              <a:latin typeface="Aptos" panose="02110004020202020204"/>
            </a:endParaRPr>
          </a:p>
          <a:p>
            <a:pPr marL="285750" indent="-285750">
              <a:buChar char="•"/>
            </a:pPr>
            <a:r>
              <a:rPr lang="en-US" sz="2400" err="1">
                <a:latin typeface="Consolas"/>
              </a:rPr>
              <a:t>npm</a:t>
            </a:r>
            <a:r>
              <a:rPr lang="en-US" sz="2400">
                <a:latin typeface="Consolas"/>
              </a:rPr>
              <a:t> install express </a:t>
            </a:r>
            <a:r>
              <a:rPr lang="en-US" sz="2400" err="1">
                <a:latin typeface="Consolas"/>
              </a:rPr>
              <a:t>axios</a:t>
            </a:r>
            <a:r>
              <a:rPr lang="en-US" sz="2400">
                <a:latin typeface="Consolas"/>
              </a:rPr>
              <a:t> </a:t>
            </a:r>
            <a:r>
              <a:rPr lang="en-US" sz="2400" err="1">
                <a:latin typeface="Consolas"/>
              </a:rPr>
              <a:t>dotenv</a:t>
            </a:r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61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8E961-03B3-EA98-F4AD-000D5708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21DE6-432E-40FB-2754-0EA67E792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448313" cy="1453662"/>
          </a:xfrm>
        </p:spPr>
        <p:txBody>
          <a:bodyPr/>
          <a:lstStyle/>
          <a:p>
            <a:r>
              <a:rPr lang="en-US" sz="4400" dirty="0" err="1"/>
              <a:t>Création</a:t>
            </a:r>
            <a:r>
              <a:rPr lang="en-US" sz="4400" dirty="0"/>
              <a:t> micro-service Node.js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FC766-C781-B0B9-BAEE-579DED31A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10448313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har char="•"/>
            </a:pPr>
            <a:r>
              <a:rPr lang="en-US" sz="2400">
                <a:ea typeface="+mn-lt"/>
                <a:cs typeface="+mn-lt"/>
              </a:rPr>
              <a:t>   Structure du </a:t>
            </a:r>
            <a:r>
              <a:rPr lang="en-US" sz="2400" err="1">
                <a:ea typeface="+mn-lt"/>
                <a:cs typeface="+mn-lt"/>
              </a:rPr>
              <a:t>projet</a:t>
            </a:r>
            <a:endParaRPr lang="en-US" sz="2400" err="1">
              <a:latin typeface="Consolas"/>
              <a:ea typeface="+mn-lt"/>
              <a:cs typeface="+mn-lt"/>
            </a:endParaRPr>
          </a:p>
          <a:p>
            <a:pPr>
              <a:buChar char="•"/>
            </a:pPr>
            <a:r>
              <a:rPr lang="en-US" sz="2400">
                <a:ea typeface="+mn-lt"/>
                <a:cs typeface="+mn-lt"/>
              </a:rPr>
              <a:t>    animal-client/  </a:t>
            </a:r>
            <a:endParaRPr lang="en-US" sz="2400">
              <a:latin typeface="Consolas"/>
            </a:endParaRPr>
          </a:p>
          <a:p>
            <a:pPr>
              <a:buChar char="•"/>
            </a:pPr>
            <a:r>
              <a:rPr lang="en-US" sz="2400">
                <a:ea typeface="+mn-lt"/>
                <a:cs typeface="+mn-lt"/>
              </a:rPr>
              <a:t>   ├ .env</a:t>
            </a:r>
            <a:endParaRPr lang="en-US"/>
          </a:p>
          <a:p>
            <a:pPr>
              <a:buChar char="•"/>
            </a:pPr>
            <a:r>
              <a:rPr lang="en-US" sz="2400">
                <a:ea typeface="+mn-lt"/>
                <a:cs typeface="+mn-lt"/>
              </a:rPr>
              <a:t>   ├ index.js</a:t>
            </a:r>
            <a:endParaRPr lang="en-US"/>
          </a:p>
          <a:p>
            <a:pPr>
              <a:buChar char="•"/>
            </a:pPr>
            <a:r>
              <a:rPr lang="en-US" sz="2400">
                <a:ea typeface="+mn-lt"/>
                <a:cs typeface="+mn-lt"/>
              </a:rPr>
              <a:t>   ├ services/</a:t>
            </a:r>
            <a:endParaRPr lang="en-US"/>
          </a:p>
          <a:p>
            <a:pPr>
              <a:buChar char="•"/>
            </a:pPr>
            <a:r>
              <a:rPr lang="en-US" sz="2400">
                <a:ea typeface="+mn-lt"/>
                <a:cs typeface="+mn-lt"/>
              </a:rPr>
              <a:t>          └── animalService.js</a:t>
            </a:r>
            <a:endParaRPr lang="en-US"/>
          </a:p>
          <a:p>
            <a:pPr marL="285750" indent="-285750">
              <a:buChar char="•"/>
            </a:pPr>
            <a:endParaRPr lang="en-US" sz="2400">
              <a:latin typeface="Consolas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82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3255C-DFB5-A024-38F1-68FF6A51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F11B-97D6-D367-2659-7EA4301F7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448313" cy="1453662"/>
          </a:xfrm>
        </p:spPr>
        <p:txBody>
          <a:bodyPr/>
          <a:lstStyle/>
          <a:p>
            <a:r>
              <a:rPr lang="en-US" sz="4400" dirty="0" err="1"/>
              <a:t>Création</a:t>
            </a:r>
            <a:r>
              <a:rPr lang="en-US" sz="4400" dirty="0"/>
              <a:t> micro-service Node.js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53D2F-A517-A413-9F34-DA3FA3D55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10448313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har char="•"/>
            </a:pPr>
            <a:r>
              <a:rPr lang="en-US" sz="2400">
                <a:ea typeface="+mn-lt"/>
                <a:cs typeface="+mn-lt"/>
              </a:rPr>
              <a:t>   .env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      GATEWAY</a:t>
            </a:r>
            <a:r>
              <a:rPr lang="en-US" sz="2000"/>
              <a:t>_URL=http://localhost:8080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 sz="22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9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069A9-5632-E607-E0DC-B357A902E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41706-A5BB-0A96-FE51-6444A442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096" y="408354"/>
            <a:ext cx="10448313" cy="1023816"/>
          </a:xfrm>
        </p:spPr>
        <p:txBody>
          <a:bodyPr/>
          <a:lstStyle/>
          <a:p>
            <a:r>
              <a:rPr lang="en-US" sz="4400" dirty="0" err="1"/>
              <a:t>Création</a:t>
            </a:r>
            <a:r>
              <a:rPr lang="en-US" sz="4400" dirty="0"/>
              <a:t> micro-service Node.js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BA690-F950-D914-170B-6C0A58C4F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2096" y="1520092"/>
            <a:ext cx="10448313" cy="459312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har char="•"/>
            </a:pPr>
            <a:r>
              <a:rPr lang="en-US" sz="2400">
                <a:ea typeface="+mn-lt"/>
                <a:cs typeface="+mn-lt"/>
              </a:rPr>
              <a:t>   animalService.js</a:t>
            </a:r>
            <a:endParaRPr lang="en-US"/>
          </a:p>
          <a:p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const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rgbClr val="4FC1FF"/>
                </a:solidFill>
                <a:ea typeface="+mn-lt"/>
                <a:cs typeface="+mn-lt"/>
              </a:rPr>
              <a:t>axios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D4D4D4"/>
                </a:solidFill>
                <a:ea typeface="+mn-lt"/>
                <a:cs typeface="+mn-lt"/>
              </a:rPr>
              <a:t>=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DCDCAA"/>
                </a:solidFill>
                <a:ea typeface="+mn-lt"/>
                <a:cs typeface="+mn-lt"/>
              </a:rPr>
              <a:t>require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</a:rPr>
              <a:t>'</a:t>
            </a:r>
            <a:r>
              <a:rPr lang="en-US" sz="1800" err="1">
                <a:solidFill>
                  <a:srgbClr val="CE9178"/>
                </a:solidFill>
                <a:ea typeface="+mn-lt"/>
                <a:cs typeface="+mn-lt"/>
              </a:rPr>
              <a:t>axios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</a:rPr>
              <a:t>'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);</a:t>
            </a:r>
            <a:endParaRPr lang="en-US" sz="1800"/>
          </a:p>
          <a:p>
            <a:r>
              <a:rPr lang="en-US" sz="1800">
                <a:solidFill>
                  <a:srgbClr val="DCDCAA"/>
                </a:solidFill>
                <a:ea typeface="+mn-lt"/>
                <a:cs typeface="+mn-lt"/>
              </a:rPr>
              <a:t>require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</a:rPr>
              <a:t>'</a:t>
            </a:r>
            <a:r>
              <a:rPr lang="en-US" sz="1800" err="1">
                <a:solidFill>
                  <a:srgbClr val="CE9178"/>
                </a:solidFill>
                <a:ea typeface="+mn-lt"/>
                <a:cs typeface="+mn-lt"/>
              </a:rPr>
              <a:t>dotenv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</a:rPr>
              <a:t>'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).</a:t>
            </a:r>
            <a:r>
              <a:rPr lang="en-US" sz="1800">
                <a:solidFill>
                  <a:srgbClr val="DCDCAA"/>
                </a:solidFill>
                <a:ea typeface="+mn-lt"/>
                <a:cs typeface="+mn-lt"/>
              </a:rPr>
              <a:t>config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();</a:t>
            </a:r>
            <a:endParaRPr lang="en-US" sz="1800"/>
          </a:p>
          <a:p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const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rgbClr val="4FC1FF"/>
                </a:solidFill>
                <a:ea typeface="+mn-lt"/>
                <a:cs typeface="+mn-lt"/>
              </a:rPr>
              <a:t>gatewayUrl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D4D4D4"/>
                </a:solidFill>
                <a:ea typeface="+mn-lt"/>
                <a:cs typeface="+mn-lt"/>
              </a:rPr>
              <a:t>=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rgbClr val="9CDCFE"/>
                </a:solidFill>
                <a:ea typeface="+mn-lt"/>
                <a:cs typeface="+mn-lt"/>
              </a:rPr>
              <a:t>process</a:t>
            </a:r>
            <a:r>
              <a:rPr lang="en-US" sz="1800" err="1">
                <a:solidFill>
                  <a:srgbClr val="CCCCCC"/>
                </a:solidFill>
                <a:ea typeface="+mn-lt"/>
                <a:cs typeface="+mn-lt"/>
              </a:rPr>
              <a:t>.</a:t>
            </a:r>
            <a:r>
              <a:rPr lang="en-US" sz="1800" err="1">
                <a:solidFill>
                  <a:srgbClr val="9CDCFE"/>
                </a:solidFill>
                <a:ea typeface="+mn-lt"/>
                <a:cs typeface="+mn-lt"/>
              </a:rPr>
              <a:t>env</a:t>
            </a:r>
            <a:r>
              <a:rPr lang="en-US" sz="1800" err="1">
                <a:solidFill>
                  <a:srgbClr val="CCCCCC"/>
                </a:solidFill>
                <a:ea typeface="+mn-lt"/>
                <a:cs typeface="+mn-lt"/>
              </a:rPr>
              <a:t>.</a:t>
            </a:r>
            <a:r>
              <a:rPr lang="en-US" sz="1800" err="1">
                <a:solidFill>
                  <a:srgbClr val="4FC1FF"/>
                </a:solidFill>
                <a:ea typeface="+mn-lt"/>
                <a:cs typeface="+mn-lt"/>
              </a:rPr>
              <a:t>GATEWAY_URL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D4D4D4"/>
                </a:solidFill>
                <a:ea typeface="+mn-lt"/>
                <a:cs typeface="+mn-lt"/>
              </a:rPr>
              <a:t>||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</a:rPr>
              <a:t>'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  <a:hlinkClick r:id="rId2"/>
              </a:rPr>
              <a:t>http://localhost:8080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</a:rPr>
              <a:t>'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;</a:t>
            </a:r>
            <a:endParaRPr lang="en-US" sz="1800"/>
          </a:p>
          <a:p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async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function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rgbClr val="DCDCAA"/>
                </a:solidFill>
                <a:ea typeface="+mn-lt"/>
                <a:cs typeface="+mn-lt"/>
              </a:rPr>
              <a:t>getAllAnimals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() {</a:t>
            </a:r>
            <a:endParaRPr lang="en-US" sz="1800"/>
          </a:p>
          <a:p>
            <a:r>
              <a:rPr lang="en-US" sz="1800">
                <a:solidFill>
                  <a:srgbClr val="C586C0"/>
                </a:solidFill>
                <a:ea typeface="+mn-lt"/>
                <a:cs typeface="+mn-lt"/>
              </a:rPr>
              <a:t>try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{</a:t>
            </a:r>
            <a:endParaRPr lang="en-US" sz="1800"/>
          </a:p>
          <a:p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 const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4FC1FF"/>
                </a:solidFill>
                <a:ea typeface="+mn-lt"/>
                <a:cs typeface="+mn-lt"/>
              </a:rPr>
              <a:t>response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D4D4D4"/>
                </a:solidFill>
                <a:ea typeface="+mn-lt"/>
                <a:cs typeface="+mn-lt"/>
              </a:rPr>
              <a:t>=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C586C0"/>
                </a:solidFill>
                <a:ea typeface="+mn-lt"/>
                <a:cs typeface="+mn-lt"/>
              </a:rPr>
              <a:t>await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rgbClr val="4FC1FF"/>
                </a:solidFill>
                <a:ea typeface="+mn-lt"/>
                <a:cs typeface="+mn-lt"/>
              </a:rPr>
              <a:t>axios</a:t>
            </a:r>
            <a:r>
              <a:rPr lang="en-US" sz="1800" err="1">
                <a:solidFill>
                  <a:srgbClr val="CCCCCC"/>
                </a:solidFill>
                <a:ea typeface="+mn-lt"/>
                <a:cs typeface="+mn-lt"/>
              </a:rPr>
              <a:t>.</a:t>
            </a:r>
            <a:r>
              <a:rPr lang="en-US" sz="1800" err="1">
                <a:solidFill>
                  <a:srgbClr val="DCDCAA"/>
                </a:solidFill>
                <a:ea typeface="+mn-lt"/>
                <a:cs typeface="+mn-lt"/>
              </a:rPr>
              <a:t>get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</a:rPr>
              <a:t>`</a:t>
            </a:r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${</a:t>
            </a:r>
            <a:r>
              <a:rPr lang="en-US" sz="1800" err="1">
                <a:solidFill>
                  <a:srgbClr val="4FC1FF"/>
                </a:solidFill>
                <a:ea typeface="+mn-lt"/>
                <a:cs typeface="+mn-lt"/>
              </a:rPr>
              <a:t>gatewayUrl</a:t>
            </a:r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}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</a:rPr>
              <a:t>/pets`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);</a:t>
            </a:r>
            <a:endParaRPr lang="en-US" sz="1800"/>
          </a:p>
          <a:p>
            <a:r>
              <a:rPr lang="en-US" sz="1800">
                <a:solidFill>
                  <a:srgbClr val="C586C0"/>
                </a:solidFill>
                <a:ea typeface="+mn-lt"/>
                <a:cs typeface="+mn-lt"/>
              </a:rPr>
              <a:t> return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rgbClr val="4FC1FF"/>
                </a:solidFill>
                <a:ea typeface="+mn-lt"/>
                <a:cs typeface="+mn-lt"/>
              </a:rPr>
              <a:t>response</a:t>
            </a:r>
            <a:r>
              <a:rPr lang="en-US" sz="1800" err="1">
                <a:solidFill>
                  <a:srgbClr val="CCCCCC"/>
                </a:solidFill>
                <a:ea typeface="+mn-lt"/>
                <a:cs typeface="+mn-lt"/>
              </a:rPr>
              <a:t>.</a:t>
            </a:r>
            <a:r>
              <a:rPr lang="en-US" sz="1800" err="1">
                <a:solidFill>
                  <a:srgbClr val="9CDCFE"/>
                </a:solidFill>
                <a:ea typeface="+mn-lt"/>
                <a:cs typeface="+mn-lt"/>
              </a:rPr>
              <a:t>data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;</a:t>
            </a:r>
            <a:endParaRPr lang="en-US" sz="1800"/>
          </a:p>
          <a:p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} </a:t>
            </a:r>
            <a:r>
              <a:rPr lang="en-US" sz="1800">
                <a:solidFill>
                  <a:srgbClr val="C586C0"/>
                </a:solidFill>
                <a:ea typeface="+mn-lt"/>
                <a:cs typeface="+mn-lt"/>
              </a:rPr>
              <a:t>catch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(</a:t>
            </a:r>
            <a:r>
              <a:rPr lang="en-US" sz="1800">
                <a:solidFill>
                  <a:srgbClr val="9CDCFE"/>
                </a:solidFill>
                <a:ea typeface="+mn-lt"/>
                <a:cs typeface="+mn-lt"/>
              </a:rPr>
              <a:t>error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) {</a:t>
            </a:r>
            <a:endParaRPr lang="en-US" sz="1800"/>
          </a:p>
          <a:p>
            <a:r>
              <a:rPr lang="en-US" sz="1800">
                <a:solidFill>
                  <a:srgbClr val="9CDCFE"/>
                </a:solidFill>
                <a:ea typeface="+mn-lt"/>
                <a:cs typeface="+mn-lt"/>
              </a:rPr>
              <a:t>….</a:t>
            </a:r>
            <a:endParaRPr lang="en-US" sz="1800">
              <a:solidFill>
                <a:srgbClr val="9CDCFE"/>
              </a:solidFill>
            </a:endParaRPr>
          </a:p>
          <a:p>
            <a:endParaRPr lang="en-US" sz="1800">
              <a:solidFill>
                <a:srgbClr val="9CDCFE"/>
              </a:solidFill>
              <a:ea typeface="+mn-lt"/>
              <a:cs typeface="+mn-lt"/>
            </a:endParaRPr>
          </a:p>
          <a:p>
            <a:r>
              <a:rPr lang="en-US" sz="1800" err="1">
                <a:solidFill>
                  <a:srgbClr val="4EC9B0"/>
                </a:solidFill>
                <a:ea typeface="+mn-lt"/>
                <a:cs typeface="+mn-lt"/>
              </a:rPr>
              <a:t>module</a:t>
            </a:r>
            <a:r>
              <a:rPr lang="en-US" sz="1800" err="1">
                <a:solidFill>
                  <a:srgbClr val="CCCCCC"/>
                </a:solidFill>
                <a:ea typeface="+mn-lt"/>
                <a:cs typeface="+mn-lt"/>
              </a:rPr>
              <a:t>.</a:t>
            </a:r>
            <a:r>
              <a:rPr lang="en-US" sz="1800" err="1">
                <a:solidFill>
                  <a:srgbClr val="4EC9B0"/>
                </a:solidFill>
                <a:ea typeface="+mn-lt"/>
                <a:cs typeface="+mn-lt"/>
              </a:rPr>
              <a:t>exports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D4D4D4"/>
                </a:solidFill>
                <a:ea typeface="+mn-lt"/>
                <a:cs typeface="+mn-lt"/>
              </a:rPr>
              <a:t>=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{ </a:t>
            </a:r>
            <a:r>
              <a:rPr lang="en-US" sz="1800" err="1">
                <a:solidFill>
                  <a:srgbClr val="DCDCAA"/>
                </a:solidFill>
                <a:ea typeface="+mn-lt"/>
                <a:cs typeface="+mn-lt"/>
              </a:rPr>
              <a:t>getAllAnimals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};</a:t>
            </a:r>
            <a:endParaRPr lang="en-US" sz="18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89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34C38-3B21-E6EF-775E-C971E5446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88A37-5442-03EC-BE18-E9274433C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096" y="408354"/>
            <a:ext cx="10448313" cy="1023816"/>
          </a:xfrm>
        </p:spPr>
        <p:txBody>
          <a:bodyPr/>
          <a:lstStyle/>
          <a:p>
            <a:r>
              <a:rPr lang="en-US" sz="4400" dirty="0" err="1"/>
              <a:t>Création</a:t>
            </a:r>
            <a:r>
              <a:rPr lang="en-US" sz="4400" dirty="0"/>
              <a:t> micro-service Node.js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6D20A-FFB5-8473-D5B8-93A88B7D9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2096" y="1520092"/>
            <a:ext cx="10448313" cy="459312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Char char="•"/>
            </a:pPr>
            <a:r>
              <a:rPr lang="en-US" sz="2400">
                <a:ea typeface="+mn-lt"/>
                <a:cs typeface="+mn-lt"/>
              </a:rPr>
              <a:t>   index.js</a:t>
            </a:r>
            <a:endParaRPr lang="en-US"/>
          </a:p>
          <a:p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const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DCDCAA"/>
                </a:solidFill>
                <a:ea typeface="+mn-lt"/>
                <a:cs typeface="+mn-lt"/>
              </a:rPr>
              <a:t>express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D4D4D4"/>
                </a:solidFill>
                <a:ea typeface="+mn-lt"/>
                <a:cs typeface="+mn-lt"/>
              </a:rPr>
              <a:t>=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DCDCAA"/>
                </a:solidFill>
                <a:ea typeface="+mn-lt"/>
                <a:cs typeface="+mn-lt"/>
              </a:rPr>
              <a:t>require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</a:rPr>
              <a:t>'</a:t>
            </a:r>
            <a:r>
              <a:rPr lang="en-US" sz="1800" err="1">
                <a:solidFill>
                  <a:srgbClr val="CE9178"/>
                </a:solidFill>
                <a:ea typeface="+mn-lt"/>
                <a:cs typeface="+mn-lt"/>
              </a:rPr>
              <a:t>express'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);</a:t>
            </a:r>
            <a:endParaRPr lang="en-US" sz="1800"/>
          </a:p>
          <a:p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const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{ </a:t>
            </a:r>
            <a:r>
              <a:rPr lang="en-US" sz="1800" err="1">
                <a:solidFill>
                  <a:srgbClr val="DCDCAA"/>
                </a:solidFill>
                <a:ea typeface="+mn-lt"/>
                <a:cs typeface="+mn-lt"/>
              </a:rPr>
              <a:t>getAllAnimals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} </a:t>
            </a:r>
            <a:r>
              <a:rPr lang="en-US" sz="1800">
                <a:solidFill>
                  <a:srgbClr val="D4D4D4"/>
                </a:solidFill>
                <a:ea typeface="+mn-lt"/>
                <a:cs typeface="+mn-lt"/>
              </a:rPr>
              <a:t>=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DCDCAA"/>
                </a:solidFill>
                <a:ea typeface="+mn-lt"/>
                <a:cs typeface="+mn-lt"/>
              </a:rPr>
              <a:t>require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</a:rPr>
              <a:t>'./services/</a:t>
            </a:r>
            <a:r>
              <a:rPr lang="en-US" sz="1800" err="1">
                <a:solidFill>
                  <a:srgbClr val="CE9178"/>
                </a:solidFill>
                <a:ea typeface="+mn-lt"/>
                <a:cs typeface="+mn-lt"/>
              </a:rPr>
              <a:t>animalService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</a:rPr>
              <a:t>'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);</a:t>
            </a:r>
            <a:endParaRPr lang="en-US" sz="1800"/>
          </a:p>
          <a:p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const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4FC1FF"/>
                </a:solidFill>
                <a:ea typeface="+mn-lt"/>
                <a:cs typeface="+mn-lt"/>
              </a:rPr>
              <a:t>app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D4D4D4"/>
                </a:solidFill>
                <a:ea typeface="+mn-lt"/>
                <a:cs typeface="+mn-lt"/>
              </a:rPr>
              <a:t>=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DCDCAA"/>
                </a:solidFill>
                <a:ea typeface="+mn-lt"/>
                <a:cs typeface="+mn-lt"/>
              </a:rPr>
              <a:t>express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();</a:t>
            </a:r>
            <a:endParaRPr lang="en-US" sz="1800"/>
          </a:p>
          <a:p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const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4FC1FF"/>
                </a:solidFill>
                <a:ea typeface="+mn-lt"/>
                <a:cs typeface="+mn-lt"/>
              </a:rPr>
              <a:t>port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D4D4D4"/>
                </a:solidFill>
                <a:ea typeface="+mn-lt"/>
                <a:cs typeface="+mn-lt"/>
              </a:rPr>
              <a:t>=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B5CEA8"/>
                </a:solidFill>
                <a:ea typeface="+mn-lt"/>
                <a:cs typeface="+mn-lt"/>
              </a:rPr>
              <a:t>3000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;</a:t>
            </a:r>
            <a:endParaRPr lang="en-US" sz="1800"/>
          </a:p>
          <a:p>
            <a:r>
              <a:rPr lang="en-US" sz="1800" err="1">
                <a:solidFill>
                  <a:srgbClr val="4FC1FF"/>
                </a:solidFill>
                <a:ea typeface="+mn-lt"/>
                <a:cs typeface="+mn-lt"/>
              </a:rPr>
              <a:t>app</a:t>
            </a:r>
            <a:r>
              <a:rPr lang="en-US" sz="1800" err="1">
                <a:solidFill>
                  <a:srgbClr val="CCCCCC"/>
                </a:solidFill>
                <a:ea typeface="+mn-lt"/>
                <a:cs typeface="+mn-lt"/>
              </a:rPr>
              <a:t>.</a:t>
            </a:r>
            <a:r>
              <a:rPr lang="en-US" sz="1800" err="1">
                <a:solidFill>
                  <a:srgbClr val="DCDCAA"/>
                </a:solidFill>
                <a:ea typeface="+mn-lt"/>
                <a:cs typeface="+mn-lt"/>
              </a:rPr>
              <a:t>get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</a:rPr>
              <a:t>'/animals'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, </a:t>
            </a:r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async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(</a:t>
            </a:r>
            <a:r>
              <a:rPr lang="en-US" sz="1800">
                <a:solidFill>
                  <a:srgbClr val="9CDCFE"/>
                </a:solidFill>
                <a:ea typeface="+mn-lt"/>
                <a:cs typeface="+mn-lt"/>
              </a:rPr>
              <a:t>req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, </a:t>
            </a:r>
            <a:r>
              <a:rPr lang="en-US" sz="1800">
                <a:solidFill>
                  <a:srgbClr val="9CDCFE"/>
                </a:solidFill>
                <a:ea typeface="+mn-lt"/>
                <a:cs typeface="+mn-lt"/>
              </a:rPr>
              <a:t>res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) </a:t>
            </a:r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=&gt;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{</a:t>
            </a:r>
            <a:endParaRPr lang="en-US" sz="1800"/>
          </a:p>
          <a:p>
            <a:r>
              <a:rPr lang="en-US" sz="1800">
                <a:solidFill>
                  <a:srgbClr val="C586C0"/>
                </a:solidFill>
                <a:ea typeface="+mn-lt"/>
                <a:cs typeface="+mn-lt"/>
              </a:rPr>
              <a:t> try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{</a:t>
            </a:r>
            <a:endParaRPr lang="en-US" sz="1800"/>
          </a:p>
          <a:p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  const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4FC1FF"/>
                </a:solidFill>
                <a:ea typeface="+mn-lt"/>
                <a:cs typeface="+mn-lt"/>
              </a:rPr>
              <a:t>animals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D4D4D4"/>
                </a:solidFill>
                <a:ea typeface="+mn-lt"/>
                <a:cs typeface="+mn-lt"/>
              </a:rPr>
              <a:t>=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C586C0"/>
                </a:solidFill>
                <a:ea typeface="+mn-lt"/>
                <a:cs typeface="+mn-lt"/>
              </a:rPr>
              <a:t>await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rgbClr val="DCDCAA"/>
                </a:solidFill>
                <a:ea typeface="+mn-lt"/>
                <a:cs typeface="+mn-lt"/>
              </a:rPr>
              <a:t>getAllAnimals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();</a:t>
            </a:r>
            <a:endParaRPr lang="en-US" sz="1800"/>
          </a:p>
          <a:p>
            <a:r>
              <a:rPr lang="en-US" sz="1800">
                <a:solidFill>
                  <a:srgbClr val="9CDCFE"/>
                </a:solidFill>
                <a:ea typeface="+mn-lt"/>
                <a:cs typeface="+mn-lt"/>
              </a:rPr>
              <a:t>  res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.</a:t>
            </a:r>
            <a:r>
              <a:rPr lang="en-US" sz="1800">
                <a:solidFill>
                  <a:srgbClr val="DCDCAA"/>
                </a:solidFill>
                <a:ea typeface="+mn-lt"/>
                <a:cs typeface="+mn-lt"/>
              </a:rPr>
              <a:t>json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4FC1FF"/>
                </a:solidFill>
                <a:ea typeface="+mn-lt"/>
                <a:cs typeface="+mn-lt"/>
              </a:rPr>
              <a:t>animals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);</a:t>
            </a:r>
            <a:endParaRPr lang="en-US" sz="1800"/>
          </a:p>
          <a:p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 } </a:t>
            </a:r>
            <a:r>
              <a:rPr lang="en-US" sz="1800">
                <a:solidFill>
                  <a:srgbClr val="C586C0"/>
                </a:solidFill>
                <a:ea typeface="+mn-lt"/>
                <a:cs typeface="+mn-lt"/>
              </a:rPr>
              <a:t>catch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(</a:t>
            </a:r>
            <a:r>
              <a:rPr lang="en-US" sz="1800">
                <a:solidFill>
                  <a:srgbClr val="9CDCFE"/>
                </a:solidFill>
                <a:ea typeface="+mn-lt"/>
                <a:cs typeface="+mn-lt"/>
              </a:rPr>
              <a:t>error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) {</a:t>
            </a:r>
            <a:endParaRPr lang="en-US" sz="1800"/>
          </a:p>
          <a:p>
            <a:r>
              <a:rPr lang="en-US" sz="1800">
                <a:solidFill>
                  <a:srgbClr val="CCCCCC"/>
                </a:solidFill>
              </a:rPr>
              <a:t>...</a:t>
            </a:r>
          </a:p>
          <a:p>
            <a:r>
              <a:rPr lang="en-US" sz="1800" err="1">
                <a:solidFill>
                  <a:srgbClr val="4FC1FF"/>
                </a:solidFill>
                <a:ea typeface="+mn-lt"/>
                <a:cs typeface="+mn-lt"/>
              </a:rPr>
              <a:t>app</a:t>
            </a:r>
            <a:r>
              <a:rPr lang="en-US" sz="1800" err="1">
                <a:solidFill>
                  <a:srgbClr val="CCCCCC"/>
                </a:solidFill>
                <a:ea typeface="+mn-lt"/>
                <a:cs typeface="+mn-lt"/>
              </a:rPr>
              <a:t>.</a:t>
            </a:r>
            <a:r>
              <a:rPr lang="en-US" sz="1800" err="1">
                <a:solidFill>
                  <a:srgbClr val="DCDCAA"/>
                </a:solidFill>
                <a:ea typeface="+mn-lt"/>
                <a:cs typeface="+mn-lt"/>
              </a:rPr>
              <a:t>listen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4FC1FF"/>
                </a:solidFill>
                <a:ea typeface="+mn-lt"/>
                <a:cs typeface="+mn-lt"/>
              </a:rPr>
              <a:t>port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, () </a:t>
            </a:r>
            <a:r>
              <a:rPr lang="en-US" sz="1800">
                <a:solidFill>
                  <a:srgbClr val="569CD6"/>
                </a:solidFill>
                <a:ea typeface="+mn-lt"/>
                <a:cs typeface="+mn-lt"/>
              </a:rPr>
              <a:t>=&gt;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 {</a:t>
            </a:r>
            <a:endParaRPr lang="en-US" sz="1800"/>
          </a:p>
          <a:p>
            <a:r>
              <a:rPr lang="en-US" sz="1800">
                <a:solidFill>
                  <a:srgbClr val="9CDCFE"/>
                </a:solidFill>
                <a:ea typeface="+mn-lt"/>
                <a:cs typeface="+mn-lt"/>
              </a:rPr>
              <a:t>console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.</a:t>
            </a:r>
            <a:r>
              <a:rPr lang="en-US" sz="1800">
                <a:solidFill>
                  <a:srgbClr val="DCDCAA"/>
                </a:solidFill>
                <a:ea typeface="+mn-lt"/>
                <a:cs typeface="+mn-lt"/>
              </a:rPr>
              <a:t>log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</a:rPr>
              <a:t>`Microservice Node.js </a:t>
            </a:r>
            <a:r>
              <a:rPr lang="en-US" sz="1800" err="1">
                <a:solidFill>
                  <a:srgbClr val="CE9178"/>
                </a:solidFill>
                <a:ea typeface="+mn-lt"/>
                <a:cs typeface="+mn-lt"/>
              </a:rPr>
              <a:t>lancé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</a:rPr>
              <a:t> sur 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  <a:hlinkClick r:id="rId2"/>
              </a:rPr>
              <a:t>http://localhost:</a:t>
            </a:r>
            <a:r>
              <a:rPr lang="en-US" sz="1800">
                <a:solidFill>
                  <a:srgbClr val="569CD6"/>
                </a:solidFill>
                <a:ea typeface="+mn-lt"/>
                <a:cs typeface="+mn-lt"/>
                <a:hlinkClick r:id="rId2"/>
              </a:rPr>
              <a:t>${</a:t>
            </a:r>
            <a:r>
              <a:rPr lang="en-US" sz="1800">
                <a:solidFill>
                  <a:srgbClr val="4FC1FF"/>
                </a:solidFill>
                <a:ea typeface="+mn-lt"/>
                <a:cs typeface="+mn-lt"/>
                <a:hlinkClick r:id="rId2"/>
              </a:rPr>
              <a:t>port</a:t>
            </a:r>
            <a:r>
              <a:rPr lang="en-US" sz="1800">
                <a:solidFill>
                  <a:srgbClr val="569CD6"/>
                </a:solidFill>
                <a:ea typeface="+mn-lt"/>
                <a:cs typeface="+mn-lt"/>
                <a:hlinkClick r:id="rId2"/>
              </a:rPr>
              <a:t>}</a:t>
            </a:r>
            <a:r>
              <a:rPr lang="en-US" sz="1800">
                <a:solidFill>
                  <a:srgbClr val="CE9178"/>
                </a:solidFill>
                <a:ea typeface="+mn-lt"/>
                <a:cs typeface="+mn-lt"/>
                <a:hlinkClick r:id="rId2"/>
              </a:rPr>
              <a:t>`</a:t>
            </a:r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);</a:t>
            </a:r>
            <a:endParaRPr lang="en-US" sz="1800"/>
          </a:p>
          <a:p>
            <a:r>
              <a:rPr lang="en-US" sz="1800">
                <a:solidFill>
                  <a:srgbClr val="CCCCCC"/>
                </a:solidFill>
                <a:ea typeface="+mn-lt"/>
                <a:cs typeface="+mn-lt"/>
              </a:rPr>
              <a:t>});</a:t>
            </a:r>
            <a:endParaRPr lang="en-US" sz="1800"/>
          </a:p>
          <a:p>
            <a:endParaRPr lang="en-US" sz="1800">
              <a:solidFill>
                <a:srgbClr val="CCCCCC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92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08D67-0083-B9FC-F55A-B8C84FE70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E705D6-F69F-37F6-5966-55FEA9D0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/>
              <a:t>Exemples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7ABD7E-65F0-B7DF-7DFD-E53EE764F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fr-FR">
              <a:ea typeface="+mn-lt"/>
              <a:cs typeface="+mn-lt"/>
            </a:endParaRPr>
          </a:p>
          <a:p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18810B48-FC19-0B7D-40DF-0B778FB1A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9499" y="578738"/>
            <a:ext cx="3274716" cy="327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32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7E0E1C-6CD4-5537-70B2-D104B9C2A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F4D4352-6B09-C290-1C30-0B5C4825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fr-BE" sz="3400"/>
              <a:t>Exemple pets-service</a:t>
            </a:r>
            <a:endParaRPr lang="fr-FR" sz="3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AECC184-9E4B-B42D-3410-2E530175E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fr-FR" sz="1800" dirty="0">
                <a:ea typeface="+mn-lt"/>
                <a:cs typeface="+mn-lt"/>
                <a:hlinkClick r:id="rId2"/>
              </a:rPr>
              <a:t>https://github.com/olivierchoquet/pets-microservices</a:t>
            </a:r>
            <a:endParaRPr lang="fr-FR" sz="1800" dirty="0">
              <a:ea typeface="+mn-lt"/>
              <a:cs typeface="Calibri"/>
            </a:endParaRP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fr-FR" sz="1800" dirty="0">
                <a:ea typeface="+mn-lt"/>
                <a:cs typeface="+mn-lt"/>
                <a:hlinkClick r:id="rId3"/>
              </a:rPr>
              <a:t>https://github.com/olivierchoquet/pet-recommmandations-nodejs</a:t>
            </a:r>
            <a:endParaRPr lang="fr-FR" sz="1800" dirty="0">
              <a:cs typeface="Calibri"/>
            </a:endParaRP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endParaRPr lang="fr-FR" sz="1800" dirty="0">
              <a:cs typeface="Calibri"/>
            </a:endParaRP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endParaRPr lang="fr-FR" sz="1800">
              <a:cs typeface="Calibri"/>
            </a:endParaRPr>
          </a:p>
          <a:p>
            <a:pPr marL="0" indent="0">
              <a:spcAft>
                <a:spcPts val="500"/>
              </a:spcAft>
              <a:buNone/>
            </a:pPr>
            <a:endParaRPr lang="fr-FR" sz="1800"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CABB60-4719-0A0A-D86A-BB3624B92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826" y="625683"/>
            <a:ext cx="6290403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3563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574E2-25EB-0299-B0BA-7B834542A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00AC2E-20D8-DED4-A66A-6D72A6AA2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/>
              <a:t>Exercices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06B79C-1B16-CFAC-FCD1-45BE5C30A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B5A8755F-F134-9B3A-778F-5986D882C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9499" y="578738"/>
            <a:ext cx="3274716" cy="327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27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10E17-B9C1-8B81-B276-BB3EEB578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D141C3B-E304-2126-8A3C-68E8A25DE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</a:t>
            </a:r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2E4066C-5513-6622-A0C4-65AE3C445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779"/>
            <a:ext cx="10515600" cy="47811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just">
              <a:spcAft>
                <a:spcPts val="500"/>
              </a:spcAft>
              <a:buFont typeface="Arial"/>
              <a:buChar char="•"/>
            </a:pPr>
            <a:r>
              <a:rPr lang="fr-FR" sz="2400" dirty="0">
                <a:cs typeface="Calibri"/>
              </a:rPr>
              <a:t>Continuons l'application faite la semaine passée en micro-services</a:t>
            </a:r>
            <a:endParaRPr lang="en-US" dirty="0" err="1">
              <a:cs typeface="Calibri"/>
            </a:endParaRPr>
          </a:p>
          <a:p>
            <a:pPr marL="742950" lvl="1" indent="-285750" algn="just">
              <a:spcAft>
                <a:spcPts val="500"/>
              </a:spcAft>
              <a:buFont typeface="Arial"/>
              <a:buChar char="•"/>
            </a:pPr>
            <a:r>
              <a:rPr lang="fr-FR" sz="2000" dirty="0">
                <a:cs typeface="Calibri"/>
              </a:rPr>
              <a:t>Une application classique de commandes de produits</a:t>
            </a:r>
          </a:p>
          <a:p>
            <a:pPr marL="742950" lvl="1" indent="-285750" algn="just">
              <a:spcAft>
                <a:spcPts val="500"/>
              </a:spcAft>
              <a:buFont typeface="Arial"/>
              <a:buChar char="•"/>
            </a:pPr>
            <a:r>
              <a:rPr lang="fr-FR" sz="1800" dirty="0">
                <a:cs typeface="Calibri"/>
              </a:rPr>
              <a:t>Faites un schéma de découpe/ pensez aux liens entre les services et à leur frontières/ DB ?</a:t>
            </a:r>
            <a:endParaRPr lang="en-US" sz="1800" dirty="0"/>
          </a:p>
          <a:p>
            <a:pPr marL="742950" lvl="1" indent="-285750" algn="just">
              <a:spcAft>
                <a:spcPts val="500"/>
              </a:spcAft>
              <a:buFont typeface="Arial"/>
              <a:buChar char="•"/>
            </a:pPr>
            <a:r>
              <a:rPr lang="fr-FR" sz="1800" dirty="0">
                <a:cs typeface="Calibri"/>
              </a:rPr>
              <a:t>Votre application micro-services devra permettre </a:t>
            </a:r>
          </a:p>
          <a:p>
            <a:pPr lvl="2" algn="just">
              <a:spcAft>
                <a:spcPts val="500"/>
              </a:spcAft>
            </a:pPr>
            <a:r>
              <a:rPr lang="fr-FR" sz="1400" dirty="0">
                <a:cs typeface="Calibri"/>
              </a:rPr>
              <a:t>L'ajout et la consultation de produits (nom produit, prix, quantité en stock)</a:t>
            </a:r>
          </a:p>
          <a:p>
            <a:pPr lvl="2" algn="just">
              <a:spcAft>
                <a:spcPts val="500"/>
              </a:spcAft>
            </a:pPr>
            <a:r>
              <a:rPr lang="fr-FR" sz="1400" dirty="0">
                <a:cs typeface="Calibri"/>
              </a:rPr>
              <a:t>L'ajout et la consultation des clients (nom client, adresse)</a:t>
            </a:r>
          </a:p>
          <a:p>
            <a:pPr lvl="2" algn="just">
              <a:spcAft>
                <a:spcPts val="500"/>
              </a:spcAft>
            </a:pPr>
            <a:r>
              <a:rPr lang="fr-FR" sz="1400" dirty="0">
                <a:cs typeface="Calibri"/>
              </a:rPr>
              <a:t>Prendre/enregistrer une commande (pensez au stock disponible !!!)</a:t>
            </a:r>
            <a:endParaRPr lang="fr-FR" dirty="0"/>
          </a:p>
          <a:p>
            <a:pPr lvl="2" algn="just">
              <a:spcAft>
                <a:spcPts val="500"/>
              </a:spcAft>
            </a:pPr>
            <a:r>
              <a:rPr lang="fr-FR" sz="1400" dirty="0">
                <a:cs typeface="Calibri"/>
              </a:rPr>
              <a:t>Afficher l'historique des commandes du client</a:t>
            </a:r>
          </a:p>
          <a:p>
            <a:pPr marL="742950" lvl="1" algn="just">
              <a:spcAft>
                <a:spcPts val="500"/>
              </a:spcAft>
              <a:buFont typeface="Arial"/>
              <a:buChar char="•"/>
            </a:pPr>
            <a:r>
              <a:rPr lang="fr-FR" sz="1800" dirty="0">
                <a:cs typeface="Calibri"/>
              </a:rPr>
              <a:t>Implémentez ce schéma avec</a:t>
            </a:r>
          </a:p>
          <a:p>
            <a:pPr marL="1200150" lvl="2" algn="just">
              <a:spcAft>
                <a:spcPts val="500"/>
              </a:spcAft>
              <a:buFont typeface="Arial"/>
              <a:buChar char="•"/>
            </a:pPr>
            <a:r>
              <a:rPr lang="fr-FR" sz="1400" dirty="0">
                <a:cs typeface="Calibri"/>
              </a:rPr>
              <a:t>Une simple API </a:t>
            </a:r>
            <a:r>
              <a:rPr lang="fr-FR" sz="1400" err="1">
                <a:cs typeface="Calibri"/>
              </a:rPr>
              <a:t>gateway</a:t>
            </a:r>
            <a:r>
              <a:rPr lang="fr-FR" sz="1400" dirty="0">
                <a:cs typeface="Calibri"/>
              </a:rPr>
              <a:t> manuelle </a:t>
            </a:r>
          </a:p>
          <a:p>
            <a:pPr marL="1200150" lvl="2" algn="just">
              <a:spcAft>
                <a:spcPts val="500"/>
              </a:spcAft>
              <a:buFont typeface="Arial"/>
              <a:buChar char="•"/>
            </a:pPr>
            <a:r>
              <a:rPr lang="fr-FR" sz="1400" dirty="0">
                <a:cs typeface="Calibri"/>
              </a:rPr>
              <a:t>Les micro-services nécessaires en </a:t>
            </a:r>
            <a:r>
              <a:rPr lang="fr-FR" sz="1400" dirty="0" err="1">
                <a:cs typeface="Calibri"/>
              </a:rPr>
              <a:t>SpringBoot</a:t>
            </a:r>
            <a:endParaRPr lang="fr-FR" sz="1400">
              <a:cs typeface="Calibri"/>
            </a:endParaRPr>
          </a:p>
          <a:p>
            <a:pPr marL="1200150" lvl="2" algn="just">
              <a:spcAft>
                <a:spcPts val="500"/>
              </a:spcAft>
              <a:buFont typeface="Arial"/>
              <a:buChar char="•"/>
            </a:pPr>
            <a:r>
              <a:rPr lang="fr-FR" sz="1400" dirty="0">
                <a:cs typeface="Calibri"/>
              </a:rPr>
              <a:t>Implémentez un des micro-services en </a:t>
            </a:r>
            <a:r>
              <a:rPr lang="fr-FR" sz="1400" dirty="0" err="1">
                <a:cs typeface="Calibri"/>
              </a:rPr>
              <a:t>NodeJS</a:t>
            </a:r>
            <a:r>
              <a:rPr lang="fr-FR" sz="1400" dirty="0">
                <a:cs typeface="Calibri"/>
              </a:rPr>
              <a:t> ou autre technologie </a:t>
            </a:r>
          </a:p>
        </p:txBody>
      </p:sp>
    </p:spTree>
    <p:extLst>
      <p:ext uri="{BB962C8B-B14F-4D97-AF65-F5344CB8AC3E}">
        <p14:creationId xmlns:p14="http://schemas.microsoft.com/office/powerpoint/2010/main" val="827300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4FE00-13B1-E771-AF6E-7AB06A426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39B6F4-63A1-9EAE-4779-075402D3C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7467600" cy="2886354"/>
          </a:xfrm>
        </p:spPr>
        <p:txBody>
          <a:bodyPr/>
          <a:lstStyle/>
          <a:p>
            <a:r>
              <a:rPr lang="fr-FR"/>
              <a:t>Rappels – Spring Boot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E900B2-F198-E5A3-0AA1-79E936FBF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Si nécessaire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4A55FA8A-00CC-D37C-02EB-BE9CBB65F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9499" y="578738"/>
            <a:ext cx="3274716" cy="327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131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F1E2D1-9122-246B-E868-8CF86832F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000"/>
              <a:t>ORM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D3AA0E-690B-9DCD-0472-157F82EF2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sz="2400"/>
              <a:t>L’annotation </a:t>
            </a:r>
            <a:r>
              <a:rPr lang="fr-BE" sz="2400" b="1"/>
              <a:t>@</a:t>
            </a:r>
            <a:r>
              <a:rPr lang="fr-BE" sz="2400" b="1" err="1"/>
              <a:t>Entity</a:t>
            </a:r>
            <a:r>
              <a:rPr lang="fr-BE" sz="2400"/>
              <a:t> crée automatiquement la table correspondante dans la BD. </a:t>
            </a:r>
          </a:p>
          <a:p>
            <a:pPr marL="0" indent="0">
              <a:buNone/>
            </a:pPr>
            <a:endParaRPr lang="fr-BE" sz="2400"/>
          </a:p>
          <a:p>
            <a:pPr marL="0" indent="0">
              <a:buNone/>
            </a:pPr>
            <a:r>
              <a:rPr lang="fr-BE" sz="2400" b="1"/>
              <a:t>@Id </a:t>
            </a:r>
            <a:r>
              <a:rPr lang="fr-BE" sz="2400"/>
              <a:t>donne la clé primaire de la table, et </a:t>
            </a:r>
            <a:r>
              <a:rPr lang="fr-BE" sz="2400" b="1"/>
              <a:t>@</a:t>
            </a:r>
            <a:r>
              <a:rPr lang="fr-BE" sz="2400" b="1" err="1"/>
              <a:t>Column</a:t>
            </a:r>
            <a:r>
              <a:rPr lang="fr-BE" sz="2400"/>
              <a:t> permet de paramétrer une colonne (renommer, </a:t>
            </a:r>
            <a:r>
              <a:rPr lang="fr-BE" sz="2400" err="1"/>
              <a:t>nullable</a:t>
            </a:r>
            <a:r>
              <a:rPr lang="fr-BE" sz="2400"/>
              <a:t>, …). </a:t>
            </a:r>
          </a:p>
          <a:p>
            <a:pPr marL="0" indent="0">
              <a:buNone/>
            </a:pPr>
            <a:endParaRPr lang="fr-BE" sz="2400"/>
          </a:p>
          <a:p>
            <a:pPr marL="0" indent="0">
              <a:buNone/>
            </a:pPr>
            <a:r>
              <a:rPr lang="fr-BE" sz="2400"/>
              <a:t>JPA nécessite un constructeur vide </a:t>
            </a:r>
            <a:r>
              <a:rPr lang="fr-BE" sz="2400">
                <a:sym typeface="Wingdings" pitchFamily="2" charset="2"/>
              </a:rPr>
              <a:t> @</a:t>
            </a:r>
            <a:r>
              <a:rPr lang="fr-BE" sz="2400" err="1">
                <a:sym typeface="Wingdings" pitchFamily="2" charset="2"/>
              </a:rPr>
              <a:t>NoArgsConstructor</a:t>
            </a:r>
            <a:endParaRPr lang="fr-BE" sz="2400" b="1">
              <a:solidFill>
                <a:srgbClr val="7EBD4F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7F06FE9-922F-3931-288B-81B2BA063B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000" y="1194090"/>
            <a:ext cx="4591878" cy="489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59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447CE4-F5FD-1D90-21F5-CF74A5E00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000"/>
              <a:t>Repository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3014BF-94FB-B1FE-E446-F659AE9CD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800"/>
              <a:t>Annoté </a:t>
            </a:r>
            <a:r>
              <a:rPr lang="fr-BE" sz="1800" b="1"/>
              <a:t>@Repository</a:t>
            </a:r>
            <a:r>
              <a:rPr lang="fr-BE" sz="1800"/>
              <a:t> et étends </a:t>
            </a:r>
            <a:r>
              <a:rPr lang="fr-BE" sz="1800" b="1" err="1"/>
              <a:t>CrudRepository</a:t>
            </a:r>
            <a:r>
              <a:rPr lang="fr-BE" sz="1800" b="1"/>
              <a:t>&lt;</a:t>
            </a:r>
            <a:r>
              <a:rPr lang="fr-BE" sz="1800" b="1" err="1"/>
              <a:t>Entity</a:t>
            </a:r>
            <a:r>
              <a:rPr lang="fr-BE" sz="1800" b="1"/>
              <a:t>, ID&gt;</a:t>
            </a:r>
            <a:endParaRPr lang="fr-BE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800"/>
              <a:t>Méthodes auto-générées, sur base de l’entité et de sa clé primaire : </a:t>
            </a:r>
            <a:br>
              <a:rPr lang="fr-BE" sz="1800"/>
            </a:br>
            <a:r>
              <a:rPr lang="fr-BE" sz="1800" b="1" err="1"/>
              <a:t>save</a:t>
            </a:r>
            <a:r>
              <a:rPr lang="fr-BE" sz="1800"/>
              <a:t>, </a:t>
            </a:r>
            <a:r>
              <a:rPr lang="fr-BE" sz="1800" b="1" err="1"/>
              <a:t>findAll</a:t>
            </a:r>
            <a:r>
              <a:rPr lang="fr-BE" sz="1800"/>
              <a:t>, </a:t>
            </a:r>
            <a:r>
              <a:rPr lang="fr-BE" sz="1800" b="1" err="1"/>
              <a:t>findById</a:t>
            </a:r>
            <a:r>
              <a:rPr lang="fr-BE" sz="1800"/>
              <a:t>, </a:t>
            </a:r>
            <a:r>
              <a:rPr lang="fr-BE" sz="1800" b="1" err="1"/>
              <a:t>delete</a:t>
            </a:r>
            <a:endParaRPr lang="fr-BE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800"/>
              <a:t>Génération des requêtes supplémentaires selon le nom des méthodes.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800"/>
              <a:t>Requêtes complexes : </a:t>
            </a:r>
            <a:r>
              <a:rPr lang="fr-BE" sz="1800" b="1"/>
              <a:t>@</a:t>
            </a:r>
            <a:r>
              <a:rPr lang="fr-BE" sz="1800" b="1" err="1"/>
              <a:t>Query</a:t>
            </a:r>
            <a:endParaRPr lang="fr-BE" sz="18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800"/>
              <a:t>Plus d’infos : </a:t>
            </a:r>
            <a:r>
              <a:rPr lang="fr-BE" sz="1800">
                <a:hlinkClick r:id="rId2"/>
              </a:rPr>
              <a:t>https://docs.spring.io/spring-data/jpa/reference/repositories/core-concepts.html</a:t>
            </a:r>
            <a:endParaRPr lang="fr-BE" sz="1800"/>
          </a:p>
          <a:p>
            <a:endParaRPr lang="fr-FR" sz="1800"/>
          </a:p>
        </p:txBody>
      </p:sp>
      <p:pic>
        <p:nvPicPr>
          <p:cNvPr id="8" name="Image 7" descr="Une image contenant texte, capture d’écran, logiciel&#10;&#10;Description générée automatiquement">
            <a:extLst>
              <a:ext uri="{FF2B5EF4-FFF2-40B4-BE49-F238E27FC236}">
                <a16:creationId xmlns:a16="http://schemas.microsoft.com/office/drawing/2014/main" id="{40AF2DC3-2CFE-88ED-597C-A65C1CAFE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025" y="1742109"/>
            <a:ext cx="7416501" cy="337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08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F1E2D1-9122-246B-E868-8CF86832F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000"/>
              <a:t>POJO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D3AA0E-690B-9DCD-0472-157F82EF2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fr-BE" sz="2400"/>
              <a:t>Objet qui ne contient que des champs, des getters et des setters, et un constructeur.</a:t>
            </a:r>
          </a:p>
          <a:p>
            <a:endParaRPr lang="fr-BE" sz="2400"/>
          </a:p>
          <a:p>
            <a:r>
              <a:rPr lang="fr-BE" sz="2400"/>
              <a:t>Représentation des données de l’application</a:t>
            </a:r>
          </a:p>
          <a:p>
            <a:endParaRPr lang="fr-FR" sz="2400"/>
          </a:p>
        </p:txBody>
      </p:sp>
      <p:pic>
        <p:nvPicPr>
          <p:cNvPr id="6" name="Image 5" descr="Une image contenant texte, capture d’écran, logiciel, Logiciel multimédia&#10;&#10;Description générée automatiquement">
            <a:extLst>
              <a:ext uri="{FF2B5EF4-FFF2-40B4-BE49-F238E27FC236}">
                <a16:creationId xmlns:a16="http://schemas.microsoft.com/office/drawing/2014/main" id="{B7F06FE9-922F-3931-288B-81B2BA06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45918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083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719E99-3020-FEC8-ABF0-1D36712C6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/>
              <a:t>Lombok</a:t>
            </a:r>
          </a:p>
        </p:txBody>
      </p:sp>
      <p:pic>
        <p:nvPicPr>
          <p:cNvPr id="5" name="Image 4" descr="Une image contenant texte, capture d’écran, affichage, logiciel&#10;&#10;Description générée automatiquement">
            <a:extLst>
              <a:ext uri="{FF2B5EF4-FFF2-40B4-BE49-F238E27FC236}">
                <a16:creationId xmlns:a16="http://schemas.microsoft.com/office/drawing/2014/main" id="{1673AC9D-9ECD-EF6D-4A32-727D95DC3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342" y="177553"/>
            <a:ext cx="7259266" cy="685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8C02A6E-6F11-0B95-CA41-DCEB083591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51" y="2593328"/>
            <a:ext cx="5114309" cy="167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06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447CE4-F5FD-1D90-21F5-CF74A5E00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000"/>
              <a:t>Controller</a:t>
            </a:r>
            <a:endParaRPr lang="fr-FR"/>
          </a:p>
        </p:txBody>
      </p:sp>
      <p:pic>
        <p:nvPicPr>
          <p:cNvPr id="6" name="Espace réservé pour une image  5" descr="Une image contenant texte, capture d’écran, affichage, logiciel&#10;&#10;Description générée automatiquement">
            <a:extLst>
              <a:ext uri="{FF2B5EF4-FFF2-40B4-BE49-F238E27FC236}">
                <a16:creationId xmlns:a16="http://schemas.microsoft.com/office/drawing/2014/main" id="{F195E1C9-CC96-45A3-5975-23E5B7E4175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45" r="1545"/>
          <a:stretch>
            <a:fillRect/>
          </a:stretch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3014BF-94FB-B1FE-E446-F659AE9CD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BE" sz="2400"/>
              <a:t>Définit l’interface REST de l’application.</a:t>
            </a:r>
          </a:p>
          <a:p>
            <a:pPr marL="0" indent="0" algn="just">
              <a:buNone/>
            </a:pPr>
            <a:r>
              <a:rPr lang="fr-BE" sz="2400" err="1"/>
              <a:t>IoC</a:t>
            </a:r>
            <a:r>
              <a:rPr lang="fr-BE" sz="2400"/>
              <a:t> grâce à l’annotation </a:t>
            </a:r>
            <a:r>
              <a:rPr lang="fr-BE" sz="2400" b="1"/>
              <a:t>@</a:t>
            </a:r>
            <a:r>
              <a:rPr lang="fr-BE" sz="2400" b="1" err="1"/>
              <a:t>RestController</a:t>
            </a:r>
            <a:r>
              <a:rPr lang="fr-BE" sz="2400"/>
              <a:t> </a:t>
            </a:r>
            <a:endParaRPr lang="fr-BE" sz="2400">
              <a:solidFill>
                <a:srgbClr val="7EBD4F"/>
              </a:solidFill>
            </a:endParaRPr>
          </a:p>
          <a:p>
            <a:pPr algn="just"/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41347365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B237CC-550B-35FD-B27E-D7D31C8AC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/>
              <a:t>REST mapping</a:t>
            </a:r>
          </a:p>
        </p:txBody>
      </p:sp>
      <p:pic>
        <p:nvPicPr>
          <p:cNvPr id="6" name="Espace réservé pour une image  5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4BC86A38-CC36-86DE-FA81-A725C2C7014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462" r="1462"/>
          <a:stretch>
            <a:fillRect/>
          </a:stretch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848E146-79F7-DD98-F0DC-5BFF45F40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400"/>
              <a:t>Pour créer un </a:t>
            </a:r>
            <a:r>
              <a:rPr lang="fr-BE" sz="2400" err="1"/>
              <a:t>endpoint</a:t>
            </a:r>
            <a:r>
              <a:rPr lang="fr-BE" sz="2400"/>
              <a:t> REST, on utilise encore des annotations liées à des fonctions du </a:t>
            </a:r>
            <a:r>
              <a:rPr lang="fr-BE" sz="2400" err="1"/>
              <a:t>controller</a:t>
            </a:r>
            <a:r>
              <a:rPr lang="fr-BE" sz="2400"/>
              <a:t>.</a:t>
            </a:r>
          </a:p>
          <a:p>
            <a:pPr marL="0" indent="0">
              <a:buNone/>
            </a:pPr>
            <a:r>
              <a:rPr lang="fr-BE" sz="2400" b="1"/>
              <a:t>@</a:t>
            </a:r>
            <a:r>
              <a:rPr lang="fr-BE" sz="2400" b="1" err="1"/>
              <a:t>GetMapping</a:t>
            </a:r>
            <a:r>
              <a:rPr lang="fr-BE" sz="2400" b="1"/>
              <a:t>("/</a:t>
            </a:r>
            <a:r>
              <a:rPr lang="fr-BE" sz="2400" b="1" err="1"/>
              <a:t>videos</a:t>
            </a:r>
            <a:r>
              <a:rPr lang="fr-BE" sz="2400" b="1"/>
              <a:t>")</a:t>
            </a:r>
            <a:r>
              <a:rPr lang="fr-BE" sz="2400"/>
              <a:t> correspond à la requête GET /</a:t>
            </a:r>
            <a:r>
              <a:rPr lang="fr-BE" sz="2400" err="1"/>
              <a:t>videos</a:t>
            </a:r>
            <a:r>
              <a:rPr lang="fr-BE" sz="2400"/>
              <a:t>. </a:t>
            </a:r>
          </a:p>
          <a:p>
            <a:pPr marL="0" indent="0">
              <a:buNone/>
            </a:pPr>
            <a:r>
              <a:rPr lang="fr-BE" sz="2400"/>
              <a:t>Les </a:t>
            </a:r>
            <a:r>
              <a:rPr lang="fr-BE" sz="2400" err="1"/>
              <a:t>POJOs</a:t>
            </a:r>
            <a:r>
              <a:rPr lang="fr-BE" sz="2400"/>
              <a:t> retournés sont convertis au format JSON.</a:t>
            </a:r>
            <a:endParaRPr lang="fr-BE" sz="2400">
              <a:solidFill>
                <a:srgbClr val="7EBD4F"/>
              </a:solidFill>
            </a:endParaRPr>
          </a:p>
          <a:p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40391106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5F2E80-1D26-77FC-6583-E4D74A59F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/>
              <a:t>REST mapping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0B9189-E004-0D9B-C6C4-6C443CA78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fr-BE" sz="2400"/>
              <a:t>Un argument avec l’annotation </a:t>
            </a:r>
            <a:r>
              <a:rPr lang="fr-BE" sz="2400" b="1"/>
              <a:t>@</a:t>
            </a:r>
            <a:r>
              <a:rPr lang="fr-BE" sz="2400" b="1" err="1"/>
              <a:t>RequestBody</a:t>
            </a:r>
            <a:r>
              <a:rPr lang="fr-BE" sz="2400"/>
              <a:t> permet de récupérer le corps de la requête et de la transformer du format JSON vers un POJO.</a:t>
            </a:r>
          </a:p>
          <a:p>
            <a:endParaRPr lang="fr-FR" sz="2400"/>
          </a:p>
        </p:txBody>
      </p:sp>
      <p:pic>
        <p:nvPicPr>
          <p:cNvPr id="10" name="Image 9" descr="Une image contenant texte, capture d’écran, logiciel&#10;&#10;Description générée automatiquement">
            <a:extLst>
              <a:ext uri="{FF2B5EF4-FFF2-40B4-BE49-F238E27FC236}">
                <a16:creationId xmlns:a16="http://schemas.microsoft.com/office/drawing/2014/main" id="{6EE7A924-5144-940B-5BB9-55506E8D2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439736"/>
            <a:ext cx="7772400" cy="397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214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9D788-8AFC-D0A0-B91B-A424BF2AF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F0D9D6-A670-A4B0-600B-187F23A09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/>
              <a:t>REST mapping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C5E5F18-C0E3-F6B9-2075-E5997B9F2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400"/>
              <a:t>On lance des exceptions </a:t>
            </a:r>
            <a:r>
              <a:rPr lang="fr-BE" sz="2400" b="1" err="1"/>
              <a:t>ResponseStatusException</a:t>
            </a:r>
            <a:r>
              <a:rPr lang="fr-BE" sz="2400"/>
              <a:t> pour retourner des codes d’erreurs dans la réponse HTTP.</a:t>
            </a:r>
            <a:endParaRPr lang="fr-BE" sz="2400">
              <a:solidFill>
                <a:srgbClr val="7EBD4F"/>
              </a:solidFill>
            </a:endParaRPr>
          </a:p>
        </p:txBody>
      </p:sp>
      <p:pic>
        <p:nvPicPr>
          <p:cNvPr id="10" name="Image 9" descr="Une image contenant texte, capture d’écran, logiciel&#10;&#10;Description générée automatiquement">
            <a:extLst>
              <a:ext uri="{FF2B5EF4-FFF2-40B4-BE49-F238E27FC236}">
                <a16:creationId xmlns:a16="http://schemas.microsoft.com/office/drawing/2014/main" id="{DD1EA3CE-D8FE-8898-4770-24AD4F708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439736"/>
            <a:ext cx="7772400" cy="397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41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E9A9F-60F1-974A-A318-6D570B130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05D07D-F446-2F17-CE33-374C391BC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/>
              <a:t>REST mapping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F1D953-8163-F74F-7104-E1AE98BD8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400"/>
              <a:t>Un argument avec l’annotation </a:t>
            </a:r>
            <a:r>
              <a:rPr lang="fr-BE" sz="2400" b="1"/>
              <a:t>@</a:t>
            </a:r>
            <a:r>
              <a:rPr lang="fr-BE" sz="2400" b="1" err="1"/>
              <a:t>PathVariable</a:t>
            </a:r>
            <a:r>
              <a:rPr lang="fr-BE" sz="2400"/>
              <a:t> permet de récupérer un paramètre du chemin de la requête.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4176672-040A-1AF8-9CD1-DE410074AC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19600" y="1473740"/>
            <a:ext cx="7772400" cy="391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363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37879-897A-0C46-E1B8-D72068269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D3E059-334F-9AF2-5427-7AD479376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err="1"/>
              <a:t>Add</a:t>
            </a:r>
            <a:r>
              <a:rPr lang="fr-FR" sz="4000"/>
              <a:t> </a:t>
            </a:r>
            <a:r>
              <a:rPr lang="fr-FR" sz="4000" err="1"/>
              <a:t>dependency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2D2EE80-21F8-99C8-F9D4-981A8029C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BE" sz="2400"/>
              <a:t>Utiliser </a:t>
            </a:r>
            <a:r>
              <a:rPr lang="fr-BE" sz="2400" err="1"/>
              <a:t>add</a:t>
            </a:r>
            <a:r>
              <a:rPr lang="fr-BE" sz="2400"/>
              <a:t> starter dans pom.xml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B1DED-7888-D439-577F-9F4F18D4F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92" y="3741888"/>
            <a:ext cx="11063557" cy="85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71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7472d64-0d3a-484e-8dae-9877b44b21bc">
      <Terms xmlns="http://schemas.microsoft.com/office/infopath/2007/PartnerControls"/>
    </lcf76f155ced4ddcb4097134ff3c332f>
    <TaxCatchAll xmlns="3f185228-d0ce-4b0b-b59f-3a34cdc9a5e8" xsi:nil="true"/>
    <SharedWithUsers xmlns="3f185228-d0ce-4b0b-b59f-3a34cdc9a5e8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ED1306D512654B98E69FC24695A753" ma:contentTypeVersion="15" ma:contentTypeDescription="Crée un document." ma:contentTypeScope="" ma:versionID="28052f1bfc756513fdd0761c43ce7efd">
  <xsd:schema xmlns:xsd="http://www.w3.org/2001/XMLSchema" xmlns:xs="http://www.w3.org/2001/XMLSchema" xmlns:p="http://schemas.microsoft.com/office/2006/metadata/properties" xmlns:ns2="c7472d64-0d3a-484e-8dae-9877b44b21bc" xmlns:ns3="3f185228-d0ce-4b0b-b59f-3a34cdc9a5e8" targetNamespace="http://schemas.microsoft.com/office/2006/metadata/properties" ma:root="true" ma:fieldsID="4d768537006f52dd3f7fe37d41052ab4" ns2:_="" ns3:_="">
    <xsd:import namespace="c7472d64-0d3a-484e-8dae-9877b44b21bc"/>
    <xsd:import namespace="3f185228-d0ce-4b0b-b59f-3a34cdc9a5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472d64-0d3a-484e-8dae-9877b44b21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d99b3629-034e-40d8-81e2-b8c7a4d868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85228-d0ce-4b0b-b59f-3a34cdc9a5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68feede-4adb-4166-85fa-b177792af49a}" ma:internalName="TaxCatchAll" ma:showField="CatchAllData" ma:web="3f185228-d0ce-4b0b-b59f-3a34cdc9a5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48E1A7-97CF-485A-ABD4-0EF9F7BDF039}">
  <ds:schemaRefs>
    <ds:schemaRef ds:uri="3f185228-d0ce-4b0b-b59f-3a34cdc9a5e8"/>
    <ds:schemaRef ds:uri="c7472d64-0d3a-484e-8dae-9877b44b21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A6A60DD-0819-44A7-BCCB-22A76EDEC8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8FA1D9-11C4-4EE1-BA8E-FF23E671F42F}">
  <ds:schemaRefs>
    <ds:schemaRef ds:uri="3f185228-d0ce-4b0b-b59f-3a34cdc9a5e8"/>
    <ds:schemaRef ds:uri="c7472d64-0d3a-484e-8dae-9877b44b21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Thème Office</vt:lpstr>
      <vt:lpstr>BINV3140 Microservices</vt:lpstr>
      <vt:lpstr>Architecture microservices</vt:lpstr>
      <vt:lpstr>Architecture microservices</vt:lpstr>
      <vt:lpstr>Découpe d'une application en microservices</vt:lpstr>
      <vt:lpstr>Découpe d'une application en microservices</vt:lpstr>
      <vt:lpstr>Exemple découpe</vt:lpstr>
      <vt:lpstr>API Gateway</vt:lpstr>
      <vt:lpstr>API Gateway</vt:lpstr>
      <vt:lpstr>API Gateway</vt:lpstr>
      <vt:lpstr>API Gateway</vt:lpstr>
      <vt:lpstr>Liens entre services </vt:lpstr>
      <vt:lpstr>Liens entre services</vt:lpstr>
      <vt:lpstr>Liens entre services - DTO</vt:lpstr>
      <vt:lpstr>IntelliJ et microservices</vt:lpstr>
      <vt:lpstr>Configuration IntelliJ</vt:lpstr>
      <vt:lpstr>Spring Initializr</vt:lpstr>
      <vt:lpstr>Spring Initializr</vt:lpstr>
      <vt:lpstr>Dépendances utilisées - service classique</vt:lpstr>
      <vt:lpstr>Dépendances utilisées - service gateway</vt:lpstr>
      <vt:lpstr>Architecture microservice classique</vt:lpstr>
      <vt:lpstr>Properties</vt:lpstr>
      <vt:lpstr>Création micro-service Node.js</vt:lpstr>
      <vt:lpstr>Création micro-service Node.js</vt:lpstr>
      <vt:lpstr>Création micro-service Node.js</vt:lpstr>
      <vt:lpstr>Création micro-service Node.js</vt:lpstr>
      <vt:lpstr>Création micro-service Node.js</vt:lpstr>
      <vt:lpstr>Exemples</vt:lpstr>
      <vt:lpstr>Exemple pets-service</vt:lpstr>
      <vt:lpstr>Exercices</vt:lpstr>
      <vt:lpstr>Exercice</vt:lpstr>
      <vt:lpstr>Rappels – Spring Boot</vt:lpstr>
      <vt:lpstr>ORM</vt:lpstr>
      <vt:lpstr>Repository</vt:lpstr>
      <vt:lpstr>POJO</vt:lpstr>
      <vt:lpstr>Lombok</vt:lpstr>
      <vt:lpstr>Controller</vt:lpstr>
      <vt:lpstr>REST mapping</vt:lpstr>
      <vt:lpstr>REST mapping</vt:lpstr>
      <vt:lpstr>REST mapping</vt:lpstr>
      <vt:lpstr>REST mapping</vt:lpstr>
      <vt:lpstr>Add dependency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Sébastien STREBELLE</dc:creator>
  <cp:revision>115</cp:revision>
  <dcterms:created xsi:type="dcterms:W3CDTF">2024-09-17T08:11:48Z</dcterms:created>
  <dcterms:modified xsi:type="dcterms:W3CDTF">2025-09-24T07:27:01Z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Order">
    <vt:r8>1028800</vt:r8>
  </property>
  <property fmtid="{D5CDD505-2E9C-101B-9397-08002B2CF9AE}" pid="4" name="ContentTypeId">
    <vt:lpwstr>0x010100D3ED1306D512654B98E69FC24695A753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</Properties>
</file>